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379" r:id="rId2"/>
    <p:sldId id="433" r:id="rId3"/>
    <p:sldId id="437" r:id="rId4"/>
    <p:sldId id="439" r:id="rId5"/>
    <p:sldId id="440" r:id="rId6"/>
    <p:sldId id="441" r:id="rId7"/>
    <p:sldId id="44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D9B350-1676-0FAA-0A87-06C2D8CD1D93}" v="923" dt="2026-04-21T13:36:12.937"/>
    <p1510:client id="{1F2D4457-7F8C-1290-CF06-8145C4A08A0B}" v="3" dt="2026-04-21T18:04:40.669"/>
    <p1510:client id="{70DCE40F-A1B7-8DA6-E36E-560E718A88A6}" v="5" dt="2026-04-22T04:10:00.939"/>
    <p1510:client id="{7921CDDB-EDC3-82B3-58FE-214D0DD3301C}" v="75" dt="2026-04-21T13:43:13.10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E9C05E-2180-444F-8999-10E01444A4E4}" type="datetimeFigureOut">
              <a:t>4/22/2026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22469B-C4D8-4C2A-A12B-9733CB3FC95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107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3575CF-62AD-8041-932F-56D977C8CDA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8683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075991E-3D80-1093-0B9E-40DD452E6206}"/>
              </a:ext>
            </a:extLst>
          </p:cNvPr>
          <p:cNvSpPr/>
          <p:nvPr userDrawn="1"/>
        </p:nvSpPr>
        <p:spPr>
          <a:xfrm>
            <a:off x="0" y="-2875"/>
            <a:ext cx="12192000" cy="6857999"/>
          </a:xfrm>
          <a:prstGeom prst="rect">
            <a:avLst/>
          </a:prstGeom>
          <a:gradFill flip="none" rotWithShape="1">
            <a:gsLst>
              <a:gs pos="8000">
                <a:srgbClr val="263BD3"/>
              </a:gs>
              <a:gs pos="80000">
                <a:srgbClr val="1A2584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4B08F70-9A8A-1BA7-803F-99BBD0A32D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0113" y="3987800"/>
            <a:ext cx="7244861" cy="2201075"/>
          </a:xfrm>
        </p:spPr>
        <p:txBody>
          <a:bodyPr anchor="t"/>
          <a:lstStyle>
            <a:lvl1pPr algn="l">
              <a:lnSpc>
                <a:spcPts val="5614"/>
              </a:lnSpc>
              <a:defRPr sz="6534" b="0" i="0" cap="none">
                <a:solidFill>
                  <a:srgbClr val="FFFFFF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Main Subject Headline Click To Add Content</a:t>
            </a:r>
          </a:p>
        </p:txBody>
      </p:sp>
      <p:pic>
        <p:nvPicPr>
          <p:cNvPr id="9" name="Picture 8" descr="A green globe with blue and yellow lines&#10;&#10;Description automatically generated">
            <a:extLst>
              <a:ext uri="{FF2B5EF4-FFF2-40B4-BE49-F238E27FC236}">
                <a16:creationId xmlns:a16="http://schemas.microsoft.com/office/drawing/2014/main" id="{3ACEB540-D319-D15F-94E4-6EB8FA97CA5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75781" y="2150165"/>
            <a:ext cx="7734300" cy="4707835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3DC18C82-B48C-86A4-AE95-988D03A9D1B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62491" y="321778"/>
            <a:ext cx="673909" cy="673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6568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E4324800-CFC8-4CF1-B297-52EC07618FBA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624291" y="6315691"/>
            <a:ext cx="415309" cy="415309"/>
          </a:xfrm>
          <a:prstGeom prst="rect">
            <a:avLst/>
          </a:prstGeom>
        </p:spPr>
      </p:pic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50E63C18-4494-429D-C7BD-8F1E6789EF1E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558800" y="1548296"/>
            <a:ext cx="11065491" cy="4569002"/>
          </a:xfrm>
        </p:spPr>
        <p:txBody>
          <a:bodyPr anchor="t">
            <a:noAutofit/>
          </a:bodyPr>
          <a:lstStyle>
            <a:lvl1pPr marL="228611" indent="-228611">
              <a:buFont typeface="Arial" panose="020B0604020202020204" pitchFamily="34" charset="0"/>
              <a:buChar char="•"/>
              <a:defRPr sz="20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495325" indent="-190510">
              <a:buFont typeface="Arial" panose="020B0604020202020204" pitchFamily="34" charset="0"/>
              <a:buChar char="•"/>
              <a:defRPr sz="1867">
                <a:solidFill>
                  <a:schemeClr val="tx1"/>
                </a:solidFill>
              </a:defRPr>
            </a:lvl2pPr>
            <a:lvl3pPr marL="800140" indent="-190510">
              <a:buFont typeface="Arial" panose="020B0604020202020204" pitchFamily="34" charset="0"/>
              <a:buChar char="•"/>
              <a:defRPr sz="1867">
                <a:solidFill>
                  <a:schemeClr val="tx1"/>
                </a:solidFill>
              </a:defRPr>
            </a:lvl3pPr>
            <a:lvl4pPr marL="91444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4pPr>
            <a:lvl5pPr marL="121926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5pPr>
            <a:lvl6pPr marL="152407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6pPr>
            <a:lvl7pPr marL="182889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7pPr>
            <a:lvl8pPr marL="2133707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8pPr>
            <a:lvl9pPr marL="2438522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C4D061A-9182-0E47-58BB-139488971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387" y="370024"/>
            <a:ext cx="11048904" cy="610704"/>
          </a:xfrm>
        </p:spPr>
        <p:txBody>
          <a:bodyPr anchor="ctr"/>
          <a:lstStyle>
            <a:lvl1pPr>
              <a:lnSpc>
                <a:spcPts val="2733"/>
              </a:lnSpc>
              <a:defRPr sz="2800">
                <a:solidFill>
                  <a:srgbClr val="263BD3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DB5ECD6-ECF9-90A5-110C-BF2E6CC263AA}"/>
              </a:ext>
            </a:extLst>
          </p:cNvPr>
          <p:cNvSpPr/>
          <p:nvPr userDrawn="1"/>
        </p:nvSpPr>
        <p:spPr>
          <a:xfrm rot="16200000">
            <a:off x="-119022" y="381583"/>
            <a:ext cx="766174" cy="528129"/>
          </a:xfrm>
          <a:prstGeom prst="rect">
            <a:avLst/>
          </a:prstGeom>
          <a:solidFill>
            <a:srgbClr val="CAD3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42234724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2">
    <p:bg>
      <p:bgPr>
        <a:solidFill>
          <a:srgbClr val="1A258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31DD0F2-3B07-4CD9-C9D4-BD97590197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48682" y="0"/>
            <a:ext cx="12240682" cy="68580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9309EC5-8A84-9079-0A32-DD694DDB84E2}"/>
              </a:ext>
            </a:extLst>
          </p:cNvPr>
          <p:cNvSpPr/>
          <p:nvPr userDrawn="1"/>
        </p:nvSpPr>
        <p:spPr>
          <a:xfrm>
            <a:off x="508000" y="5562600"/>
            <a:ext cx="101600" cy="812800"/>
          </a:xfrm>
          <a:prstGeom prst="rect">
            <a:avLst/>
          </a:prstGeom>
          <a:solidFill>
            <a:srgbClr val="D6E8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70D2371B-9266-15FA-FC2A-1708C7327F2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1252" y="2819400"/>
            <a:ext cx="6350000" cy="1473200"/>
          </a:xfrm>
        </p:spPr>
        <p:txBody>
          <a:bodyPr anchor="ctr">
            <a:noAutofit/>
          </a:bodyPr>
          <a:lstStyle>
            <a:lvl1pPr marL="0" indent="0">
              <a:lnSpc>
                <a:spcPts val="4894"/>
              </a:lnSpc>
              <a:buNone/>
              <a:defRPr sz="50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GB"/>
              <a:t>OPEN GEOSPATIAL CONSORTIUM</a:t>
            </a:r>
            <a:endParaRPr lang="en-US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BD5B0C9-DE43-2451-ECE2-D1E27B88CEC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1252" y="2169141"/>
            <a:ext cx="3022601" cy="636736"/>
          </a:xfrm>
        </p:spPr>
        <p:txBody>
          <a:bodyPr anchor="t">
            <a:noAutofit/>
          </a:bodyPr>
          <a:lstStyle>
            <a:lvl1pPr marL="0" indent="0">
              <a:lnSpc>
                <a:spcPts val="4894"/>
              </a:lnSpc>
              <a:buNone/>
              <a:defRPr sz="8867" b="1" i="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GB"/>
              <a:t>OGC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D9D9D9-ACF1-FDFC-9EA3-26D0F3C221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400" y="5653088"/>
            <a:ext cx="3657600" cy="631825"/>
          </a:xfrm>
        </p:spPr>
        <p:txBody>
          <a:bodyPr anchor="b"/>
          <a:lstStyle>
            <a:lvl1pPr algn="l">
              <a:lnSpc>
                <a:spcPts val="2467"/>
              </a:lnSpc>
              <a:defRPr sz="1667" b="0">
                <a:solidFill>
                  <a:schemeClr val="bg1"/>
                </a:solidFill>
              </a:defRPr>
            </a:lvl1pPr>
          </a:lstStyle>
          <a:p>
            <a:r>
              <a:rPr lang="en-US"/>
              <a:t>NAME OF PERSON</a:t>
            </a:r>
            <a:br>
              <a:rPr lang="en-US"/>
            </a:br>
            <a:r>
              <a:rPr lang="en-US"/>
              <a:t>YYYY/MM/DD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ED6684FE-59EA-B16B-2A79-6A7F5F5A7AC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0885" y="364793"/>
            <a:ext cx="769915" cy="769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6952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CEBA7BB-BFCF-80E7-2506-1EE9332E6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5339684"/>
            <a:ext cx="3928820" cy="1332374"/>
          </a:xfrm>
        </p:spPr>
        <p:txBody>
          <a:bodyPr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1"/>
                </a:solidFill>
                <a:latin typeface="Aptos"/>
              </a:rPr>
              <a:t>Sean Lilley (Cesium / Bentley)</a:t>
            </a:r>
            <a:br>
              <a:rPr lang="en-US">
                <a:solidFill>
                  <a:schemeClr val="bg1"/>
                </a:solidFill>
                <a:latin typeface="Aptos"/>
              </a:rPr>
            </a:br>
            <a:r>
              <a:rPr lang="en-US">
                <a:solidFill>
                  <a:schemeClr val="bg1"/>
                </a:solidFill>
                <a:latin typeface="Aptos"/>
              </a:rPr>
              <a:t>Tamrat Belayneh (ESRI)</a:t>
            </a:r>
            <a:br>
              <a:rPr lang="en-US">
                <a:solidFill>
                  <a:schemeClr val="bg1"/>
                </a:solidFill>
                <a:latin typeface="Aptos"/>
              </a:rPr>
            </a:br>
            <a:r>
              <a:rPr lang="en-US">
                <a:solidFill>
                  <a:schemeClr val="bg1"/>
                </a:solidFill>
                <a:latin typeface="Aptos"/>
              </a:rPr>
              <a:t>21 April 2026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A04C5659-F089-BE9E-C7F7-FBEDD19FB92D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481354" y="2985108"/>
            <a:ext cx="10825992" cy="1649415"/>
          </a:xfrm>
        </p:spPr>
        <p:txBody>
          <a:bodyPr>
            <a:no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IN" sz="4800" b="0" baseline="30000">
                <a:solidFill>
                  <a:srgbClr val="FFFFFF"/>
                </a:solidFill>
              </a:rPr>
              <a:t>OGC Code Sprint — London, May 2026</a:t>
            </a:r>
            <a:endParaRPr lang="en-IN" sz="4800"/>
          </a:p>
        </p:txBody>
      </p:sp>
      <p:pic>
        <p:nvPicPr>
          <p:cNvPr id="4" name="Picture 2" descr="CESIUM (Part of Bentley Systems)">
            <a:extLst>
              <a:ext uri="{FF2B5EF4-FFF2-40B4-BE49-F238E27FC236}">
                <a16:creationId xmlns:a16="http://schemas.microsoft.com/office/drawing/2014/main" id="{13F20F85-DE0F-6008-52A3-299F1A6614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782949" y="5613400"/>
            <a:ext cx="4060687" cy="1061478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8" name="Picture 4" descr="Esri">
            <a:extLst>
              <a:ext uri="{FF2B5EF4-FFF2-40B4-BE49-F238E27FC236}">
                <a16:creationId xmlns:a16="http://schemas.microsoft.com/office/drawing/2014/main" id="{9641BAC2-9DE2-291C-049E-CAB3C07279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7558" b="11735"/>
          <a:stretch>
            <a:fillRect/>
          </a:stretch>
        </p:blipFill>
        <p:spPr bwMode="auto">
          <a:xfrm>
            <a:off x="9451523" y="5765800"/>
            <a:ext cx="1938729" cy="909078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9059ED9-6E3B-887E-6E84-D2EDCDDFDCE4}"/>
              </a:ext>
            </a:extLst>
          </p:cNvPr>
          <p:cNvSpPr txBox="1"/>
          <p:nvPr/>
        </p:nvSpPr>
        <p:spPr>
          <a:xfrm>
            <a:off x="484094" y="3429000"/>
            <a:ext cx="6096000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IN" sz="2400" b="0" i="0" u="none" strike="noStrike" baseline="30000">
                <a:solidFill>
                  <a:srgbClr val="FFFFFF"/>
                </a:solidFill>
                <a:latin typeface="Aptos"/>
              </a:rPr>
              <a:t>Pre-event webinar</a:t>
            </a:r>
            <a:r>
              <a:rPr sz="2400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​</a:t>
            </a:r>
            <a:endParaRPr lang="en-US"/>
          </a:p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838EE8-2ADC-4DC9-6FE3-706494599A4D}"/>
              </a:ext>
            </a:extLst>
          </p:cNvPr>
          <p:cNvSpPr txBox="1"/>
          <p:nvPr/>
        </p:nvSpPr>
        <p:spPr>
          <a:xfrm>
            <a:off x="484094" y="4011706"/>
            <a:ext cx="6096000" cy="8002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IN" sz="2800" b="0" i="0" u="none" strike="noStrike" baseline="30000">
                <a:solidFill>
                  <a:srgbClr val="FFFFFF"/>
                </a:solidFill>
                <a:latin typeface="Aptos"/>
              </a:rPr>
              <a:t>3D Tiles 2.0 + </a:t>
            </a:r>
            <a:r>
              <a:rPr lang="en-IN" sz="2800" b="0" i="0" u="none" strike="noStrike" baseline="30000" err="1">
                <a:solidFill>
                  <a:srgbClr val="FFFFFF"/>
                </a:solidFill>
                <a:latin typeface="Aptos"/>
              </a:rPr>
              <a:t>glTF</a:t>
            </a:r>
            <a:r>
              <a:rPr lang="en-IN" sz="2800" b="0" i="0" u="none" strike="noStrike" baseline="30000">
                <a:solidFill>
                  <a:srgbClr val="FFFFFF"/>
                </a:solidFill>
                <a:latin typeface="Aptos"/>
              </a:rPr>
              <a:t> 2.1 Integration Track</a:t>
            </a:r>
            <a:r>
              <a:rPr sz="2800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​</a:t>
            </a:r>
            <a:endParaRPr lang="en-US" sz="2800"/>
          </a:p>
          <a:p>
            <a:pPr algn="ctr"/>
            <a:endParaRPr lang="en-US"/>
          </a:p>
        </p:txBody>
      </p:sp>
      <p:pic>
        <p:nvPicPr>
          <p:cNvPr id="11" name="Picture 10" descr="A red circle with a white background&#10;&#10;AI-generated content may be incorrect.">
            <a:extLst>
              <a:ext uri="{FF2B5EF4-FFF2-40B4-BE49-F238E27FC236}">
                <a16:creationId xmlns:a16="http://schemas.microsoft.com/office/drawing/2014/main" id="{32E93FE2-0EEA-7A83-5ECB-269824B397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97865" y="4876799"/>
            <a:ext cx="2554654" cy="455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17869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52E5A9-58C5-ABA3-BCEC-3CBDDDD2D8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diagram of a diagram of a diagram&#10;&#10;AI-generated content may be incorrect.">
            <a:extLst>
              <a:ext uri="{FF2B5EF4-FFF2-40B4-BE49-F238E27FC236}">
                <a16:creationId xmlns:a16="http://schemas.microsoft.com/office/drawing/2014/main" id="{EBE779D2-CA52-80DB-C194-4E4872C55C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1555" y="3026963"/>
            <a:ext cx="5020201" cy="3270981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F90A7F2-BEC7-DFA6-13A9-CC699DC85288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569764" y="1548296"/>
            <a:ext cx="11054527" cy="4941779"/>
          </a:xfrm>
        </p:spPr>
        <p:txBody>
          <a:bodyPr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>
                <a:latin typeface="Aptos"/>
              </a:rPr>
              <a:t>3D Tiles has co-evolved with </a:t>
            </a:r>
            <a:r>
              <a:rPr lang="en-US" sz="2400" err="1">
                <a:latin typeface="Aptos"/>
              </a:rPr>
              <a:t>glTF</a:t>
            </a:r>
            <a:endParaRPr lang="en-US" sz="2400">
              <a:latin typeface="Aptos"/>
            </a:endParaRPr>
          </a:p>
          <a:p>
            <a:pPr marL="304165" lvl="1" indent="-190500"/>
            <a:r>
              <a:rPr lang="en-US" sz="2100" b="1">
                <a:latin typeface="Aptos"/>
              </a:rPr>
              <a:t>3D Tiles 1.0</a:t>
            </a:r>
            <a:r>
              <a:rPr lang="en-US" sz="2100">
                <a:latin typeface="Aptos"/>
              </a:rPr>
              <a:t> - b3dm and i3dm formats wrapped binary </a:t>
            </a:r>
            <a:r>
              <a:rPr lang="en-US" sz="2100" err="1">
                <a:latin typeface="Aptos"/>
              </a:rPr>
              <a:t>glTF</a:t>
            </a:r>
            <a:endParaRPr lang="en-US" sz="2100">
              <a:latin typeface="Aptos"/>
            </a:endParaRPr>
          </a:p>
          <a:p>
            <a:pPr marL="304165" lvl="1" indent="-190500"/>
            <a:r>
              <a:rPr lang="en-US" sz="2100" b="1">
                <a:latin typeface="Aptos"/>
              </a:rPr>
              <a:t>3D Tiles 1.1</a:t>
            </a:r>
            <a:r>
              <a:rPr lang="en-US" sz="2100">
                <a:latin typeface="Aptos"/>
              </a:rPr>
              <a:t> - </a:t>
            </a:r>
            <a:r>
              <a:rPr lang="en-US" sz="2100" err="1">
                <a:latin typeface="Aptos"/>
              </a:rPr>
              <a:t>glTF</a:t>
            </a:r>
            <a:r>
              <a:rPr lang="en-US" sz="2100">
                <a:latin typeface="Aptos"/>
              </a:rPr>
              <a:t> referenced directly as tile content</a:t>
            </a:r>
          </a:p>
          <a:p>
            <a:pPr marL="304815" lvl="1" indent="0">
              <a:buNone/>
            </a:pPr>
            <a:endParaRPr lang="en-US" sz="2133">
              <a:latin typeface="Aptos"/>
            </a:endParaRPr>
          </a:p>
          <a:p>
            <a:pPr marL="0" indent="0">
              <a:buNone/>
            </a:pPr>
            <a:r>
              <a:rPr lang="en-US" sz="2133">
                <a:latin typeface="Aptos"/>
              </a:rPr>
              <a:t>Many of the same concepts and goals</a:t>
            </a:r>
          </a:p>
          <a:p>
            <a:pPr marL="304165" lvl="1" indent="-190500"/>
            <a:r>
              <a:rPr lang="en-US" sz="2133">
                <a:latin typeface="Aptos"/>
              </a:rPr>
              <a:t>Designed for efficient transmission of 3D content</a:t>
            </a:r>
            <a:endParaRPr lang="en-US" sz="2133"/>
          </a:p>
          <a:p>
            <a:pPr marL="304165" lvl="1" indent="-190500"/>
            <a:r>
              <a:rPr lang="en-US" sz="2133">
                <a:latin typeface="Aptos"/>
              </a:rPr>
              <a:t>Scene graph and cartesian coordinate system</a:t>
            </a:r>
            <a:endParaRPr lang="en-US" sz="2133"/>
          </a:p>
          <a:p>
            <a:pPr lvl="1"/>
            <a:endParaRPr lang="en-US" sz="2133"/>
          </a:p>
          <a:p>
            <a:pPr marL="38100" indent="0">
              <a:buNone/>
            </a:pPr>
            <a:r>
              <a:rPr lang="en-US" sz="2400">
                <a:latin typeface="Aptos"/>
              </a:rPr>
              <a:t>Trends</a:t>
            </a:r>
          </a:p>
          <a:p>
            <a:pPr marL="304165" lvl="1" indent="-190500"/>
            <a:r>
              <a:rPr lang="en-US" sz="2133">
                <a:latin typeface="Aptos"/>
              </a:rPr>
              <a:t>3D Tiles adoption outside geospatial</a:t>
            </a:r>
          </a:p>
          <a:p>
            <a:pPr marL="304165" lvl="1" indent="-190500"/>
            <a:r>
              <a:rPr lang="en-US" sz="2100">
                <a:latin typeface="Aptos"/>
              </a:rPr>
              <a:t>Desire to use </a:t>
            </a:r>
            <a:r>
              <a:rPr lang="en-US" sz="2100" err="1">
                <a:latin typeface="Aptos"/>
              </a:rPr>
              <a:t>glTF</a:t>
            </a:r>
            <a:r>
              <a:rPr lang="en-US" sz="2100">
                <a:latin typeface="Aptos"/>
              </a:rPr>
              <a:t> for complex scenes</a:t>
            </a:r>
            <a:endParaRPr lang="en-US" sz="210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48A0766-0C0C-8600-703F-D89C89CCE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>
                <a:solidFill>
                  <a:srgbClr val="263BD3"/>
                </a:solidFill>
              </a:rPr>
              <a:t>Background</a:t>
            </a:r>
          </a:p>
        </p:txBody>
      </p:sp>
    </p:spTree>
    <p:extLst>
      <p:ext uri="{BB962C8B-B14F-4D97-AF65-F5344CB8AC3E}">
        <p14:creationId xmlns:p14="http://schemas.microsoft.com/office/powerpoint/2010/main" val="41681795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C5634-9C38-33E8-1A0C-90A33EBB9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BCAE073-D61A-9050-00F0-F2340A74F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err="1">
                <a:solidFill>
                  <a:srgbClr val="263BD3"/>
                </a:solidFill>
              </a:rPr>
              <a:t>Rebaselining </a:t>
            </a:r>
            <a:r>
              <a:rPr lang="en-US" sz="3600">
                <a:solidFill>
                  <a:srgbClr val="263BD3"/>
                </a:solidFill>
              </a:rPr>
              <a:t>3D Tiles on g</a:t>
            </a:r>
            <a:r>
              <a:rPr lang="en-US" sz="3600" err="1">
                <a:solidFill>
                  <a:srgbClr val="263BD3"/>
                </a:solidFill>
              </a:rPr>
              <a:t>lTF</a:t>
            </a:r>
            <a:endParaRPr lang="en-US" sz="3600" err="1"/>
          </a:p>
        </p:txBody>
      </p:sp>
      <p:sp>
        <p:nvSpPr>
          <p:cNvPr id="8" name="Google Shape;170;p27">
            <a:extLst>
              <a:ext uri="{FF2B5EF4-FFF2-40B4-BE49-F238E27FC236}">
                <a16:creationId xmlns:a16="http://schemas.microsoft.com/office/drawing/2014/main" id="{102A34EC-A4CC-0ACC-125E-10072630E60E}"/>
              </a:ext>
            </a:extLst>
          </p:cNvPr>
          <p:cNvSpPr/>
          <p:nvPr/>
        </p:nvSpPr>
        <p:spPr>
          <a:xfrm>
            <a:off x="1643000" y="1382389"/>
            <a:ext cx="9048000" cy="4843600"/>
          </a:xfrm>
          <a:prstGeom prst="rect">
            <a:avLst/>
          </a:prstGeom>
          <a:solidFill>
            <a:srgbClr val="E7F2FF"/>
          </a:solidFill>
          <a:ln w="9525" cap="flat" cmpd="sng">
            <a:solidFill>
              <a:srgbClr val="08283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1467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" name="Google Shape;171;p27" descr="3D Tiles logo in a dark color on a light background">
            <a:extLst>
              <a:ext uri="{FF2B5EF4-FFF2-40B4-BE49-F238E27FC236}">
                <a16:creationId xmlns:a16="http://schemas.microsoft.com/office/drawing/2014/main" id="{8FB544A3-DF78-D293-4B1F-C375D0C2311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775138" y="1537981"/>
            <a:ext cx="2324425" cy="578236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72;p27">
            <a:extLst>
              <a:ext uri="{FF2B5EF4-FFF2-40B4-BE49-F238E27FC236}">
                <a16:creationId xmlns:a16="http://schemas.microsoft.com/office/drawing/2014/main" id="{E863E114-BB87-2C4F-43B1-B9984C1F1676}"/>
              </a:ext>
            </a:extLst>
          </p:cNvPr>
          <p:cNvSpPr/>
          <p:nvPr/>
        </p:nvSpPr>
        <p:spPr>
          <a:xfrm>
            <a:off x="5048033" y="2237655"/>
            <a:ext cx="5459200" cy="3828800"/>
          </a:xfrm>
          <a:prstGeom prst="rect">
            <a:avLst/>
          </a:prstGeom>
          <a:solidFill>
            <a:srgbClr val="FFFAFE"/>
          </a:solidFill>
          <a:ln w="9525" cap="flat" cmpd="sng">
            <a:solidFill>
              <a:srgbClr val="08283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1467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73;p27">
            <a:extLst>
              <a:ext uri="{FF2B5EF4-FFF2-40B4-BE49-F238E27FC236}">
                <a16:creationId xmlns:a16="http://schemas.microsoft.com/office/drawing/2014/main" id="{9E17FC20-92DA-86BA-041E-310F855D215B}"/>
              </a:ext>
            </a:extLst>
          </p:cNvPr>
          <p:cNvSpPr txBox="1"/>
          <p:nvPr/>
        </p:nvSpPr>
        <p:spPr>
          <a:xfrm>
            <a:off x="6365168" y="2422369"/>
            <a:ext cx="258319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" sz="2400" b="1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2.1</a:t>
            </a:r>
            <a:endParaRPr sz="2400" b="1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6" name="Google Shape;174;p27">
            <a:extLst>
              <a:ext uri="{FF2B5EF4-FFF2-40B4-BE49-F238E27FC236}">
                <a16:creationId xmlns:a16="http://schemas.microsoft.com/office/drawing/2014/main" id="{D789F24F-6A78-EBC7-3C58-E6E0FC1C8014}"/>
              </a:ext>
            </a:extLst>
          </p:cNvPr>
          <p:cNvSpPr/>
          <p:nvPr/>
        </p:nvSpPr>
        <p:spPr>
          <a:xfrm>
            <a:off x="7848600" y="2910455"/>
            <a:ext cx="2466800" cy="3010800"/>
          </a:xfrm>
          <a:prstGeom prst="rect">
            <a:avLst/>
          </a:prstGeom>
          <a:solidFill>
            <a:srgbClr val="F1FFEC"/>
          </a:solidFill>
          <a:ln w="9525" cap="flat" cmpd="sng">
            <a:solidFill>
              <a:srgbClr val="08283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1467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" name="Google Shape;175;p27">
            <a:extLst>
              <a:ext uri="{FF2B5EF4-FFF2-40B4-BE49-F238E27FC236}">
                <a16:creationId xmlns:a16="http://schemas.microsoft.com/office/drawing/2014/main" id="{2EEAE067-8B66-1FBC-AE63-21D020D3736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32953" y="3073969"/>
            <a:ext cx="1173480" cy="614121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176;p27">
            <a:extLst>
              <a:ext uri="{FF2B5EF4-FFF2-40B4-BE49-F238E27FC236}">
                <a16:creationId xmlns:a16="http://schemas.microsoft.com/office/drawing/2014/main" id="{D6BB3B48-1F55-5132-B9AB-0F92B2ABDF7A}"/>
              </a:ext>
            </a:extLst>
          </p:cNvPr>
          <p:cNvSpPr txBox="1"/>
          <p:nvPr/>
        </p:nvSpPr>
        <p:spPr>
          <a:xfrm>
            <a:off x="5192937" y="3010791"/>
            <a:ext cx="2583200" cy="1897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" sz="2400" b="1">
                <a:latin typeface="Trebuchet MS"/>
                <a:ea typeface="Trebuchet MS"/>
                <a:cs typeface="Trebuchet MS"/>
                <a:sym typeface="Trebuchet MS"/>
              </a:rPr>
              <a:t>Complex scenes</a:t>
            </a:r>
            <a:endParaRPr sz="2400" b="1">
              <a:latin typeface="Trebuchet MS"/>
              <a:ea typeface="Trebuchet MS"/>
              <a:cs typeface="Trebuchet MS"/>
              <a:sym typeface="Trebuchet MS"/>
            </a:endParaRPr>
          </a:p>
          <a:p>
            <a:pPr marL="287458" indent="-287458">
              <a:buClr>
                <a:srgbClr val="000000"/>
              </a:buClr>
              <a:buSzPts val="1400"/>
              <a:buFont typeface="Trebuchet MS"/>
              <a:buChar char="•"/>
            </a:pPr>
            <a:r>
              <a:rPr lang="en" sz="1867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Bounding volume hierarchy</a:t>
            </a:r>
          </a:p>
          <a:p>
            <a:pPr marL="287458" indent="-287458">
              <a:buClr>
                <a:srgbClr val="000000"/>
              </a:buClr>
              <a:buSzPts val="1400"/>
              <a:buFont typeface="Trebuchet MS"/>
              <a:buChar char="•"/>
            </a:pPr>
            <a:r>
              <a:rPr lang="en" sz="1867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Level of detail</a:t>
            </a:r>
            <a:endParaRPr sz="1867">
              <a:latin typeface="Trebuchet MS"/>
              <a:ea typeface="Trebuchet MS"/>
              <a:cs typeface="Trebuchet MS"/>
            </a:endParaRPr>
          </a:p>
          <a:p>
            <a:pPr marL="287458" indent="-287458">
              <a:buClr>
                <a:srgbClr val="000000"/>
              </a:buClr>
              <a:buSzPts val="1400"/>
              <a:buFont typeface="Trebuchet MS"/>
              <a:buChar char="•"/>
            </a:pPr>
            <a:r>
              <a:rPr lang="en" sz="1867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External </a:t>
            </a:r>
            <a:r>
              <a:rPr lang="en" sz="1867" err="1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glTF</a:t>
            </a:r>
            <a:br>
              <a:rPr lang="en" sz="2400">
                <a:latin typeface="Trebuchet MS"/>
                <a:ea typeface="Trebuchet MS"/>
                <a:cs typeface="Trebuchet MS"/>
              </a:rPr>
            </a:br>
            <a:r>
              <a:rPr lang="en" sz="1867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references</a:t>
            </a:r>
            <a:endParaRPr sz="1867">
              <a:latin typeface="Trebuchet MS"/>
              <a:ea typeface="Trebuchet MS"/>
              <a:cs typeface="Trebuchet MS"/>
            </a:endParaRPr>
          </a:p>
        </p:txBody>
      </p:sp>
      <p:sp>
        <p:nvSpPr>
          <p:cNvPr id="22" name="Google Shape;177;p27">
            <a:extLst>
              <a:ext uri="{FF2B5EF4-FFF2-40B4-BE49-F238E27FC236}">
                <a16:creationId xmlns:a16="http://schemas.microsoft.com/office/drawing/2014/main" id="{94EC0D0B-127D-C9B3-AE22-9BF1112FC66B}"/>
              </a:ext>
            </a:extLst>
          </p:cNvPr>
          <p:cNvSpPr txBox="1"/>
          <p:nvPr/>
        </p:nvSpPr>
        <p:spPr>
          <a:xfrm>
            <a:off x="8011200" y="3896223"/>
            <a:ext cx="1904400" cy="1610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" sz="2400" b="1">
                <a:latin typeface="Trebuchet MS"/>
                <a:ea typeface="Trebuchet MS"/>
                <a:cs typeface="Trebuchet MS"/>
                <a:sym typeface="Trebuchet MS"/>
              </a:rPr>
              <a:t>Assets</a:t>
            </a:r>
            <a:endParaRPr sz="2400">
              <a:latin typeface="Trebuchet MS"/>
              <a:ea typeface="Trebuchet MS"/>
              <a:cs typeface="Trebuchet MS"/>
              <a:sym typeface="Trebuchet MS"/>
            </a:endParaRPr>
          </a:p>
          <a:p>
            <a:pPr marL="287458" indent="-287458">
              <a:buClr>
                <a:srgbClr val="000000"/>
              </a:buClr>
              <a:buSzPts val="1400"/>
              <a:buFont typeface="Trebuchet MS"/>
              <a:buChar char="•"/>
            </a:pPr>
            <a:r>
              <a:rPr lang="en" sz="1867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Geometry</a:t>
            </a:r>
            <a:endParaRPr sz="1467">
              <a:latin typeface="Trebuchet MS"/>
              <a:ea typeface="Trebuchet MS"/>
              <a:cs typeface="Trebuchet MS"/>
            </a:endParaRPr>
          </a:p>
          <a:p>
            <a:pPr marL="287458" indent="-287458">
              <a:buClr>
                <a:srgbClr val="000000"/>
              </a:buClr>
              <a:buSzPts val="1400"/>
              <a:buFont typeface="Trebuchet MS"/>
              <a:buChar char="•"/>
            </a:pPr>
            <a:r>
              <a:rPr lang="en" sz="1867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Materials</a:t>
            </a:r>
            <a:endParaRPr sz="1467">
              <a:latin typeface="Trebuchet MS"/>
              <a:ea typeface="Trebuchet MS"/>
              <a:cs typeface="Trebuchet MS"/>
            </a:endParaRPr>
          </a:p>
          <a:p>
            <a:pPr marL="287458" indent="-287458">
              <a:buClr>
                <a:srgbClr val="000000"/>
              </a:buClr>
              <a:buSzPts val="1400"/>
              <a:buFont typeface="Trebuchet MS"/>
              <a:buChar char="•"/>
            </a:pPr>
            <a:r>
              <a:rPr lang="en" sz="1867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Textures</a:t>
            </a:r>
            <a:endParaRPr sz="1467">
              <a:latin typeface="Trebuchet MS"/>
              <a:ea typeface="Trebuchet MS"/>
              <a:cs typeface="Trebuchet MS"/>
            </a:endParaRPr>
          </a:p>
          <a:p>
            <a:pPr marL="287458" indent="-287458">
              <a:buClr>
                <a:srgbClr val="000000"/>
              </a:buClr>
              <a:buSzPts val="1400"/>
              <a:buFont typeface="Trebuchet MS"/>
              <a:buChar char="•"/>
            </a:pPr>
            <a:r>
              <a:rPr lang="en" sz="1867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Metadata</a:t>
            </a:r>
            <a:endParaRPr sz="1467">
              <a:latin typeface="Trebuchet MS"/>
              <a:ea typeface="Trebuchet MS"/>
              <a:cs typeface="Trebuchet MS"/>
            </a:endParaRPr>
          </a:p>
        </p:txBody>
      </p:sp>
      <p:sp>
        <p:nvSpPr>
          <p:cNvPr id="24" name="Google Shape;178;p27">
            <a:extLst>
              <a:ext uri="{FF2B5EF4-FFF2-40B4-BE49-F238E27FC236}">
                <a16:creationId xmlns:a16="http://schemas.microsoft.com/office/drawing/2014/main" id="{11A4F72C-0857-BE35-AA4B-B3E0080A3DA6}"/>
              </a:ext>
            </a:extLst>
          </p:cNvPr>
          <p:cNvSpPr txBox="1"/>
          <p:nvPr/>
        </p:nvSpPr>
        <p:spPr>
          <a:xfrm>
            <a:off x="1861823" y="2437595"/>
            <a:ext cx="3394377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" sz="2000" b="1">
                <a:latin typeface="Trebuchet MS"/>
                <a:ea typeface="Trebuchet MS"/>
                <a:cs typeface="Trebuchet MS"/>
                <a:sym typeface="Trebuchet MS"/>
              </a:rPr>
              <a:t>Geospatial extensions</a:t>
            </a:r>
            <a:endParaRPr sz="2000">
              <a:latin typeface="Trebuchet MS"/>
              <a:ea typeface="Trebuchet MS"/>
              <a:cs typeface="Trebuchet MS"/>
              <a:sym typeface="Trebuchet MS"/>
            </a:endParaRPr>
          </a:p>
          <a:p>
            <a:pPr marL="287874" indent="-287874">
              <a:buClr>
                <a:srgbClr val="000000"/>
              </a:buClr>
              <a:buSzPts val="1400"/>
              <a:buFont typeface="Trebuchet MS"/>
              <a:buChar char="•"/>
            </a:pPr>
            <a:r>
              <a:rPr lang="en" sz="1867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Region bounding volume</a:t>
            </a:r>
            <a:endParaRPr sz="1467">
              <a:latin typeface="Trebuchet MS"/>
              <a:ea typeface="Trebuchet MS"/>
              <a:cs typeface="Trebuchet MS"/>
              <a:sym typeface="Trebuchet MS"/>
            </a:endParaRPr>
          </a:p>
          <a:p>
            <a:pPr marL="287874" indent="-287874">
              <a:buClr>
                <a:srgbClr val="000000"/>
              </a:buClr>
              <a:buSzPts val="1400"/>
              <a:buFont typeface="Trebuchet MS"/>
              <a:buChar char="•"/>
            </a:pPr>
            <a:r>
              <a:rPr lang="en" sz="1867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S2 tiling scheme</a:t>
            </a:r>
            <a:endParaRPr sz="1467">
              <a:latin typeface="Trebuchet MS"/>
              <a:ea typeface="Trebuchet MS"/>
              <a:cs typeface="Trebuchet MS"/>
              <a:sym typeface="Trebuchet MS"/>
            </a:endParaRPr>
          </a:p>
          <a:p>
            <a:pPr marL="287458" indent="-287458">
              <a:buClr>
                <a:srgbClr val="000000"/>
              </a:buClr>
              <a:buSzPts val="1400"/>
              <a:buFont typeface="Trebuchet MS"/>
              <a:buChar char="•"/>
            </a:pPr>
            <a:r>
              <a:rPr lang="en" sz="1867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CRS / ellipsoid</a:t>
            </a:r>
            <a:endParaRPr sz="1867">
              <a:solidFill>
                <a:srgbClr val="000000"/>
              </a:solidFill>
              <a:latin typeface="Trebuchet MS"/>
              <a:ea typeface="Trebuchet MS"/>
              <a:cs typeface="Trebuchet MS"/>
            </a:endParaRPr>
          </a:p>
        </p:txBody>
      </p:sp>
      <p:pic>
        <p:nvPicPr>
          <p:cNvPr id="26" name="Google Shape;175;p27" descr="A green logo with a black background&#10;&#10;AI-generated content may be incorrect.">
            <a:extLst>
              <a:ext uri="{FF2B5EF4-FFF2-40B4-BE49-F238E27FC236}">
                <a16:creationId xmlns:a16="http://schemas.microsoft.com/office/drawing/2014/main" id="{CD5A69EE-1D4C-C57B-2111-5AB5D44309B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62321" y="2358908"/>
            <a:ext cx="1173480" cy="614121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173;p27">
            <a:extLst>
              <a:ext uri="{FF2B5EF4-FFF2-40B4-BE49-F238E27FC236}">
                <a16:creationId xmlns:a16="http://schemas.microsoft.com/office/drawing/2014/main" id="{9CFF63C6-6313-C3B9-1FC1-185C3EF9B215}"/>
              </a:ext>
            </a:extLst>
          </p:cNvPr>
          <p:cNvSpPr txBox="1"/>
          <p:nvPr/>
        </p:nvSpPr>
        <p:spPr>
          <a:xfrm>
            <a:off x="9222515" y="3113191"/>
            <a:ext cx="258319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" sz="2400" b="1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2.0</a:t>
            </a:r>
            <a:endParaRPr sz="2400" b="1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27609155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C1EE3C-3306-94B9-F658-22DD16870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95E35D3-2774-6DF0-8DA1-460ED6A7AFD3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569764" y="1548296"/>
            <a:ext cx="11054527" cy="4941779"/>
          </a:xfrm>
        </p:spPr>
        <p:txBody>
          <a:bodyPr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sz="2400" dirty="0"/>
              <a:t>Bring together OGC and Khronos communities to advance the integration of 3DTiles 2.0 with </a:t>
            </a:r>
            <a:r>
              <a:rPr lang="en-US" sz="2400" dirty="0" err="1"/>
              <a:t>glTF</a:t>
            </a:r>
            <a:r>
              <a:rPr lang="en-US" sz="2400" dirty="0"/>
              <a:t> 2.1</a:t>
            </a:r>
            <a:endParaRPr lang="en-US" dirty="0"/>
          </a:p>
          <a:p>
            <a:pPr marL="342900" indent="-342900"/>
            <a:r>
              <a:rPr lang="en-US" sz="2400" dirty="0"/>
              <a:t>Identify gaps in the current </a:t>
            </a:r>
            <a:r>
              <a:rPr lang="en-US" sz="2400" dirty="0" err="1"/>
              <a:t>glTF</a:t>
            </a:r>
            <a:r>
              <a:rPr lang="en-US" sz="2400" dirty="0"/>
              <a:t> 2.1 spec</a:t>
            </a:r>
          </a:p>
          <a:p>
            <a:pPr marL="342900" indent="-342900"/>
            <a:r>
              <a:rPr lang="en-US" sz="2400"/>
              <a:t>Test compatibility with existing 3D Tiles and I3S implementations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6864D1F-5FFD-BEE5-34E3-B1059437B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>
                <a:solidFill>
                  <a:srgbClr val="263BD3"/>
                </a:solidFill>
              </a:rPr>
              <a:t>Sprint Goals</a:t>
            </a:r>
            <a:endParaRPr lang="en-US" sz="3600"/>
          </a:p>
        </p:txBody>
      </p:sp>
    </p:spTree>
    <p:extLst>
      <p:ext uri="{BB962C8B-B14F-4D97-AF65-F5344CB8AC3E}">
        <p14:creationId xmlns:p14="http://schemas.microsoft.com/office/powerpoint/2010/main" val="35815040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B9FFAEF-5E10-2F00-8435-11D8CF5785F1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pPr marL="457200" indent="-457200">
              <a:buAutoNum type="arabicPeriod"/>
            </a:pPr>
            <a:r>
              <a:rPr lang="en-US" sz="1600" b="1">
                <a:latin typeface="Aptos"/>
              </a:rPr>
              <a:t>Coordinate Reference Systems</a:t>
            </a:r>
            <a:r>
              <a:rPr lang="en-US" sz="1600">
                <a:latin typeface="Aptos"/>
              </a:rPr>
              <a:t> — </a:t>
            </a:r>
            <a:r>
              <a:rPr lang="en-US" sz="1600" err="1">
                <a:latin typeface="Aptos"/>
              </a:rPr>
              <a:t>glTF</a:t>
            </a:r>
            <a:r>
              <a:rPr lang="en-US" sz="1600">
                <a:latin typeface="Aptos"/>
              </a:rPr>
              <a:t> 2.1 currently has no CRS support. Geospatial workflows require explicit spatial referencing (WGS 84, UTM, local CRS) for reprojection, multi-dataset composition, and GIS integration.</a:t>
            </a:r>
            <a:endParaRPr lang="en-US" sz="1600"/>
          </a:p>
          <a:p>
            <a:pPr marL="457200" indent="-457200">
              <a:buAutoNum type="arabicPeriod"/>
            </a:pPr>
            <a:r>
              <a:rPr lang="en-US" sz="1600" b="1">
                <a:latin typeface="Aptos"/>
              </a:rPr>
              <a:t>Level of Detail</a:t>
            </a:r>
            <a:r>
              <a:rPr lang="en-US" sz="1600">
                <a:latin typeface="Aptos"/>
              </a:rPr>
              <a:t> — The proposed LOD mechanism needs validation against real-world geospatial datasets to ensure it can express the refinement semantics (additive, replacement, screen-space error) that both 3D Tiles and I3S rely on.</a:t>
            </a:r>
            <a:endParaRPr lang="en-US" sz="1600"/>
          </a:p>
          <a:p>
            <a:pPr marL="457200" indent="-457200">
              <a:buAutoNum type="arabicPeriod"/>
            </a:pPr>
            <a:r>
              <a:rPr lang="en-US" sz="1600" b="1">
                <a:latin typeface="Aptos"/>
              </a:rPr>
              <a:t>Bounding Volume Hierarchies</a:t>
            </a:r>
            <a:r>
              <a:rPr lang="en-US" sz="1600">
                <a:latin typeface="Aptos"/>
              </a:rPr>
              <a:t> — Spatial indexing for frustum culling and intersection testing is foundational for geospatial streaming. The current BVH proposal needs schema development informed by production tiling implementations.</a:t>
            </a:r>
          </a:p>
          <a:p>
            <a:pPr marL="457200" indent="-457200">
              <a:buAutoNum type="arabicPeriod"/>
            </a:pPr>
            <a:r>
              <a:rPr lang="en-US" sz="1600" b="1">
                <a:latin typeface="Aptos"/>
              </a:rPr>
              <a:t>Structural Metadata</a:t>
            </a:r>
            <a:r>
              <a:rPr lang="en-US" sz="1600">
                <a:latin typeface="Aptos"/>
              </a:rPr>
              <a:t> — Per-feature attributes, typed schemas, and </a:t>
            </a:r>
            <a:r>
              <a:rPr lang="en-US" sz="1600" err="1">
                <a:latin typeface="Aptos"/>
              </a:rPr>
              <a:t>queryable</a:t>
            </a:r>
            <a:r>
              <a:rPr lang="en-US" sz="1600">
                <a:latin typeface="Aptos"/>
              </a:rPr>
              <a:t> statistics are essential for geospatial clients. The sprint will validate how existing metadata extensions map into </a:t>
            </a:r>
            <a:r>
              <a:rPr lang="en-US" sz="1600" err="1">
                <a:latin typeface="Aptos"/>
              </a:rPr>
              <a:t>glTF</a:t>
            </a:r>
            <a:r>
              <a:rPr lang="en-US" sz="1600">
                <a:latin typeface="Aptos"/>
              </a:rPr>
              <a:t> 2.1's new scene model.</a:t>
            </a:r>
          </a:p>
          <a:p>
            <a:pPr marL="457200" indent="-457200">
              <a:buAutoNum type="arabicPeriod"/>
            </a:pPr>
            <a:r>
              <a:rPr lang="en-US" sz="1600" b="1">
                <a:latin typeface="Aptos"/>
              </a:rPr>
              <a:t>Streaming Scalability</a:t>
            </a:r>
            <a:r>
              <a:rPr lang="en-US" sz="1600">
                <a:latin typeface="Aptos"/>
              </a:rPr>
              <a:t> — Production geospatial datasets contain hundreds of thousands to billions of nodes. The sprint will stress-test </a:t>
            </a:r>
            <a:r>
              <a:rPr lang="en-US" sz="1600" err="1">
                <a:latin typeface="Aptos"/>
              </a:rPr>
              <a:t>glTF</a:t>
            </a:r>
            <a:r>
              <a:rPr lang="en-US" sz="1600">
                <a:latin typeface="Aptos"/>
              </a:rPr>
              <a:t> 2.1's complex scene references at scale and billions of nodes. The sprint will stress-test </a:t>
            </a:r>
            <a:r>
              <a:rPr lang="en-US" sz="1600" err="1">
                <a:latin typeface="Aptos"/>
              </a:rPr>
              <a:t>glTF</a:t>
            </a:r>
            <a:r>
              <a:rPr lang="en-US" sz="1600">
                <a:latin typeface="Aptos"/>
              </a:rPr>
              <a:t> 2.1's complex scene references at scale and </a:t>
            </a:r>
            <a:endParaRPr lang="en-US" sz="1600"/>
          </a:p>
          <a:p>
            <a:pPr marL="457200" indent="-457200">
              <a:buAutoNum type="arabicPeriod"/>
            </a:pPr>
            <a:r>
              <a:rPr lang="en-US" sz="1600" b="1">
                <a:latin typeface="Aptos"/>
              </a:rPr>
              <a:t>Resource Bundling</a:t>
            </a:r>
            <a:r>
              <a:rPr lang="en-US" sz="1600">
                <a:latin typeface="Aptos"/>
              </a:rPr>
              <a:t> — There is a gap between single-file archives and loose file directories for efficient deployment. The sprint will prototype </a:t>
            </a:r>
            <a:r>
              <a:rPr lang="en-US" sz="1600" err="1">
                <a:latin typeface="Aptos"/>
              </a:rPr>
              <a:t>streamable</a:t>
            </a:r>
            <a:r>
              <a:rPr lang="en-US" sz="1600">
                <a:latin typeface="Aptos"/>
              </a:rPr>
              <a:t> binary bundles using </a:t>
            </a:r>
            <a:r>
              <a:rPr lang="en-US" sz="1600" err="1">
                <a:latin typeface="Aptos"/>
              </a:rPr>
              <a:t>glTF</a:t>
            </a:r>
            <a:r>
              <a:rPr lang="en-US" sz="1600">
                <a:latin typeface="Aptos"/>
              </a:rPr>
              <a:t> 2.1's new binary format and byte-range addressing primitives.</a:t>
            </a:r>
          </a:p>
          <a:p>
            <a:pPr marL="457200" indent="-457200">
              <a:buAutoNum type="arabicPeriod"/>
            </a:pPr>
            <a:r>
              <a:rPr lang="en-US" sz="1600" b="1">
                <a:latin typeface="Aptos"/>
              </a:rPr>
              <a:t>Domain Semantics</a:t>
            </a:r>
            <a:r>
              <a:rPr lang="en-US" sz="1600">
                <a:latin typeface="Aptos"/>
              </a:rPr>
              <a:t> — Typed scene layers (3D objects, buildings, point clouds, voxels) carry domain-specific meaning critical for AEC, urban planning, and infrastructure workflows. The sprint will evaluate how these semantics can be expressed in </a:t>
            </a:r>
            <a:r>
              <a:rPr lang="en-US" sz="1600" err="1">
                <a:latin typeface="Aptos"/>
              </a:rPr>
              <a:t>glTF</a:t>
            </a:r>
            <a:r>
              <a:rPr lang="en-US" sz="1600">
                <a:latin typeface="Aptos"/>
              </a:rPr>
              <a:t> 2.1.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7EE87B3-4D2E-9CD8-F5E2-221E55816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>
                <a:latin typeface="Aptos"/>
              </a:rPr>
              <a:t>Focus Areas</a:t>
            </a:r>
            <a:endParaRPr lang="en-US" sz="3600"/>
          </a:p>
        </p:txBody>
      </p:sp>
    </p:spTree>
    <p:extLst>
      <p:ext uri="{BB962C8B-B14F-4D97-AF65-F5344CB8AC3E}">
        <p14:creationId xmlns:p14="http://schemas.microsoft.com/office/powerpoint/2010/main" val="25841683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6"/>
          </p:nvPr>
        </p:nvSpPr>
        <p:spPr>
          <a:xfrm>
            <a:off x="558800" y="980728"/>
            <a:ext cx="11353114" cy="5136570"/>
          </a:xfrm>
        </p:spPr>
        <p:txBody>
          <a:bodyPr>
            <a:normAutofit fontScale="92500" lnSpcReduction="10000"/>
          </a:bodyPr>
          <a:lstStyle/>
          <a:p>
            <a:pPr>
              <a:spcAft>
                <a:spcPts val="200"/>
              </a:spcAft>
            </a:pPr>
            <a:r>
              <a:rPr sz="1800" b="0" dirty="0"/>
              <a:t>The geospatial and 3D graphics ecosystems are converging — a once-in-a-decade alignment opportunity</a:t>
            </a:r>
            <a:endParaRPr lang="en-US" sz="1800" b="0" dirty="0"/>
          </a:p>
          <a:p>
            <a:pPr>
              <a:spcAft>
                <a:spcPts val="200"/>
              </a:spcAft>
            </a:pPr>
            <a:endParaRPr lang="en-US" sz="1800" b="0" dirty="0"/>
          </a:p>
          <a:p>
            <a:pPr>
              <a:spcAft>
                <a:spcPts val="200"/>
              </a:spcAft>
            </a:pPr>
            <a:r>
              <a:rPr sz="1800" b="1" dirty="0"/>
              <a:t>Early engagement shapes specs before they harden</a:t>
            </a:r>
          </a:p>
          <a:p>
            <a:pPr>
              <a:spcAft>
                <a:spcPts val="200"/>
              </a:spcAft>
            </a:pPr>
            <a:r>
              <a:rPr sz="1500" b="0" dirty="0" err="1"/>
              <a:t>glTF</a:t>
            </a:r>
            <a:r>
              <a:rPr sz="1500" b="0" dirty="0"/>
              <a:t> 2.1 scope was locked January 2026. CRS, LOD, and BVH are still open for input. OGC members who engage now contribute as co-authors, not reviewers of a finished spec.</a:t>
            </a:r>
            <a:endParaRPr lang="en-US" sz="1500" b="0" dirty="0"/>
          </a:p>
          <a:p>
            <a:pPr>
              <a:spcAft>
                <a:spcPts val="200"/>
              </a:spcAft>
            </a:pPr>
            <a:endParaRPr lang="en-US" sz="1500" b="0" dirty="0"/>
          </a:p>
          <a:p>
            <a:pPr>
              <a:spcAft>
                <a:spcPts val="200"/>
              </a:spcAft>
            </a:pPr>
            <a:r>
              <a:rPr sz="1800" b="1" dirty="0"/>
              <a:t>Production experience from both ecosystems makes better standards</a:t>
            </a:r>
          </a:p>
          <a:p>
            <a:pPr>
              <a:spcAft>
                <a:spcPts val="200"/>
              </a:spcAft>
            </a:pPr>
            <a:r>
              <a:rPr sz="1500" b="0" dirty="0"/>
              <a:t>3D Tiles and I3S have independently solved streaming, LOD, and metadata at scale. Bringing both perspectives into </a:t>
            </a:r>
            <a:r>
              <a:rPr sz="1500" b="0" dirty="0" err="1"/>
              <a:t>glTF</a:t>
            </a:r>
            <a:r>
              <a:rPr sz="1500" b="0" dirty="0"/>
              <a:t> 2.1 avoids re-learning hard lessons and reduces fragmentation.</a:t>
            </a:r>
          </a:p>
          <a:p>
            <a:pPr>
              <a:spcAft>
                <a:spcPts val="200"/>
              </a:spcAft>
            </a:pPr>
            <a:endParaRPr sz="1500" b="0" dirty="0"/>
          </a:p>
          <a:p>
            <a:pPr>
              <a:spcAft>
                <a:spcPts val="200"/>
              </a:spcAft>
            </a:pPr>
            <a:r>
              <a:rPr sz="1800" b="1" dirty="0"/>
              <a:t>Open standards lower barriers for the entire community</a:t>
            </a:r>
          </a:p>
          <a:p>
            <a:pPr>
              <a:spcAft>
                <a:spcPts val="200"/>
              </a:spcAft>
            </a:pPr>
            <a:r>
              <a:rPr sz="1500" b="0" dirty="0"/>
              <a:t>When geospatial semantics (CRS, attributes, domain types) become part of </a:t>
            </a:r>
            <a:r>
              <a:rPr sz="1500" b="0" dirty="0" err="1"/>
              <a:t>glTF</a:t>
            </a:r>
            <a:r>
              <a:rPr sz="1500" b="0" dirty="0"/>
              <a:t> core, every engine, tool, and platform benefits — not just geospatial vendors.</a:t>
            </a:r>
            <a:endParaRPr lang="en-US" sz="1500" b="0" dirty="0"/>
          </a:p>
          <a:p>
            <a:pPr>
              <a:spcAft>
                <a:spcPts val="200"/>
              </a:spcAft>
            </a:pPr>
            <a:endParaRPr lang="en-US" sz="1500" b="0" dirty="0"/>
          </a:p>
          <a:p>
            <a:pPr>
              <a:spcAft>
                <a:spcPts val="200"/>
              </a:spcAft>
            </a:pPr>
            <a:r>
              <a:rPr sz="1800" b="1" dirty="0"/>
              <a:t>Cross-consortium alignment prevents duplication</a:t>
            </a:r>
          </a:p>
          <a:p>
            <a:pPr>
              <a:spcAft>
                <a:spcPts val="200"/>
              </a:spcAft>
            </a:pPr>
            <a:r>
              <a:rPr sz="1500" b="0" dirty="0"/>
              <a:t>Coordinated work across OGC, Khronos, and AOUSD ensures CRS, metadata, and scene composition are solved once and adopted everywhere — </a:t>
            </a:r>
            <a:r>
              <a:rPr sz="1500" b="0" dirty="0" err="1"/>
              <a:t>glTF</a:t>
            </a:r>
            <a:r>
              <a:rPr sz="1500" b="0" dirty="0"/>
              <a:t>, </a:t>
            </a:r>
            <a:r>
              <a:rPr sz="1500" b="0" dirty="0" err="1"/>
              <a:t>OpenUSD</a:t>
            </a:r>
            <a:r>
              <a:rPr sz="1500" b="0" dirty="0"/>
              <a:t>, and </a:t>
            </a:r>
            <a:r>
              <a:rPr sz="1500" b="0" dirty="0" err="1"/>
              <a:t>OpenXR</a:t>
            </a:r>
            <a:r>
              <a:rPr sz="1500" b="0" dirty="0"/>
              <a:t>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Why Open Standards Participation Matters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6"/>
          </p:nvPr>
        </p:nvSpPr>
        <p:spPr>
          <a:xfrm>
            <a:off x="558800" y="1099751"/>
            <a:ext cx="11065491" cy="5017547"/>
          </a:xfrm>
        </p:spPr>
        <p:txBody>
          <a:bodyPr>
            <a:normAutofit/>
          </a:bodyPr>
          <a:lstStyle/>
          <a:p>
            <a:pPr>
              <a:spcAft>
                <a:spcPts val="200"/>
              </a:spcAft>
            </a:pPr>
            <a:r>
              <a:rPr sz="2000" b="1" dirty="0"/>
              <a:t>From the sprint:</a:t>
            </a:r>
          </a:p>
          <a:p>
            <a:pPr>
              <a:spcAft>
                <a:spcPts val="200"/>
              </a:spcAft>
            </a:pPr>
            <a:r>
              <a:rPr sz="1600" b="0" dirty="0"/>
              <a:t>Validated </a:t>
            </a:r>
            <a:r>
              <a:rPr sz="1600" b="0" dirty="0" err="1"/>
              <a:t>glTF</a:t>
            </a:r>
            <a:r>
              <a:rPr sz="1600" b="0" dirty="0"/>
              <a:t> 2.1 schemas for CRS, LOD, BVH, and structural metadata — tested against real-world geospatial datasets</a:t>
            </a:r>
          </a:p>
          <a:p>
            <a:pPr>
              <a:spcAft>
                <a:spcPts val="200"/>
              </a:spcAft>
            </a:pPr>
            <a:r>
              <a:rPr sz="1600" b="0" dirty="0"/>
              <a:t>Implementation feedback that directly informs 3D Tiles 2.0 before OGC vote </a:t>
            </a:r>
            <a:endParaRPr lang="en-US" sz="1600" dirty="0"/>
          </a:p>
          <a:p>
            <a:pPr>
              <a:spcAft>
                <a:spcPts val="200"/>
              </a:spcAft>
            </a:pPr>
            <a:r>
              <a:rPr sz="1600" b="0" dirty="0"/>
              <a:t>Documented </a:t>
            </a:r>
            <a:r>
              <a:rPr sz="1600" b="0" dirty="0" err="1"/>
              <a:t>rebaselining</a:t>
            </a:r>
            <a:r>
              <a:rPr sz="1600" b="0" dirty="0"/>
              <a:t> path for 3D Tiles 2.0 onto </a:t>
            </a:r>
            <a:r>
              <a:rPr sz="1600" b="0" dirty="0" err="1"/>
              <a:t>glTF</a:t>
            </a:r>
            <a:r>
              <a:rPr sz="1600" b="0" dirty="0"/>
              <a:t> 2.1 with compatibility considerations resolved or scoped</a:t>
            </a:r>
          </a:p>
          <a:p>
            <a:pPr>
              <a:spcAft>
                <a:spcPts val="200"/>
              </a:spcAft>
            </a:pPr>
            <a:endParaRPr sz="1600" b="0" dirty="0"/>
          </a:p>
          <a:p>
            <a:pPr>
              <a:spcAft>
                <a:spcPts val="200"/>
              </a:spcAft>
            </a:pPr>
            <a:r>
              <a:rPr sz="2000" b="1" dirty="0"/>
              <a:t>For the broader community:</a:t>
            </a:r>
          </a:p>
          <a:p>
            <a:pPr>
              <a:spcAft>
                <a:spcPts val="200"/>
              </a:spcAft>
            </a:pPr>
            <a:r>
              <a:rPr sz="1600" b="0" dirty="0"/>
              <a:t>Alignment between OGC and Khronos on how geospatial semantics map into </a:t>
            </a:r>
            <a:r>
              <a:rPr sz="1600" b="0" dirty="0" err="1"/>
              <a:t>glTF</a:t>
            </a:r>
            <a:r>
              <a:rPr sz="1600" b="0" dirty="0"/>
              <a:t> core</a:t>
            </a:r>
          </a:p>
          <a:p>
            <a:pPr>
              <a:spcAft>
                <a:spcPts val="200"/>
              </a:spcAft>
            </a:pPr>
            <a:r>
              <a:rPr sz="1600" b="0" dirty="0"/>
              <a:t>Harmonization with parallel efforts: AOUSD </a:t>
            </a:r>
            <a:r>
              <a:rPr sz="1600" b="0" dirty="0" err="1"/>
              <a:t>GeospatialAPI</a:t>
            </a:r>
            <a:r>
              <a:rPr sz="1600" b="0" dirty="0"/>
              <a:t> (CRS in </a:t>
            </a:r>
            <a:r>
              <a:rPr sz="1600" b="0" dirty="0" err="1"/>
              <a:t>OpenUSD</a:t>
            </a:r>
            <a:r>
              <a:rPr sz="1600" b="0" dirty="0"/>
              <a:t>), </a:t>
            </a:r>
            <a:r>
              <a:rPr sz="1600" b="0" dirty="0" err="1"/>
              <a:t>OpenXR</a:t>
            </a:r>
            <a:r>
              <a:rPr sz="1600" b="0" dirty="0"/>
              <a:t> spatial anchoring, cloud-native geospatial formats</a:t>
            </a:r>
          </a:p>
          <a:p>
            <a:pPr>
              <a:spcAft>
                <a:spcPts val="200"/>
              </a:spcAft>
            </a:pPr>
            <a:r>
              <a:rPr sz="1600" b="0" dirty="0"/>
              <a:t>Lowered barrier to early adoption — developers get hands-on experience with new schemas in a supported, collaborative environment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dirty="0"/>
              <a:t>Desired Outcomes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7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Sean Lilley (Cesium / Bentley) Tamrat Belayneh (ESRI) 21 April 2026</vt:lpstr>
      <vt:lpstr>Background</vt:lpstr>
      <vt:lpstr>Rebaselining 3D Tiles on glTF</vt:lpstr>
      <vt:lpstr>Sprint Goals</vt:lpstr>
      <vt:lpstr>Focus Areas</vt:lpstr>
      <vt:lpstr>Why Open Standards Participation Matters</vt:lpstr>
      <vt:lpstr>Desired Outcomes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7</cp:revision>
  <dcterms:created xsi:type="dcterms:W3CDTF">2026-04-21T12:47:36Z</dcterms:created>
  <dcterms:modified xsi:type="dcterms:W3CDTF">2026-04-22T12:29:59Z</dcterms:modified>
</cp:coreProperties>
</file>