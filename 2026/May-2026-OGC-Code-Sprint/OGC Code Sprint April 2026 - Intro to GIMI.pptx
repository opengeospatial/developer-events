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1560" r:id="rId2"/>
    <p:sldId id="3020" r:id="rId3"/>
    <p:sldId id="1504" r:id="rId4"/>
    <p:sldId id="654" r:id="rId5"/>
    <p:sldId id="1561" r:id="rId6"/>
    <p:sldId id="257" r:id="rId7"/>
    <p:sldId id="3018"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6" autoAdjust="0"/>
    <p:restoredTop sz="94660"/>
  </p:normalViewPr>
  <p:slideViewPr>
    <p:cSldViewPr snapToGrid="0">
      <p:cViewPr varScale="1">
        <p:scale>
          <a:sx n="91" d="100"/>
          <a:sy n="91" d="100"/>
        </p:scale>
        <p:origin x="84" y="6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97936C-6800-401C-9489-526B32D5160F}" type="datetimeFigureOut">
              <a:rPr lang="en-US" smtClean="0"/>
              <a:t>4/17/2026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51659-5CF1-410F-B428-0ED93789288E}" type="slidenum">
              <a:rPr lang="en-US" smtClean="0"/>
              <a:t>‹#›</a:t>
            </a:fld>
            <a:endParaRPr lang="en-US"/>
          </a:p>
        </p:txBody>
      </p:sp>
    </p:spTree>
    <p:extLst>
      <p:ext uri="{BB962C8B-B14F-4D97-AF65-F5344CB8AC3E}">
        <p14:creationId xmlns:p14="http://schemas.microsoft.com/office/powerpoint/2010/main" val="3129410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0166A-BF1A-4E43-A109-356669B6B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1549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9069" marR="0" lvl="0" indent="-257175" algn="l" defTabSz="1219139" rtl="0" eaLnBrk="1" fontAlgn="auto" latinLnBrk="0" hangingPunct="1">
              <a:lnSpc>
                <a:spcPct val="100000"/>
              </a:lnSpc>
              <a:spcBef>
                <a:spcPts val="0"/>
              </a:spcBef>
              <a:spcAft>
                <a:spcPts val="300"/>
              </a:spcAft>
              <a:buClr>
                <a:srgbClr val="414042">
                  <a:lumMod val="50000"/>
                </a:srgbClr>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NGIIS Contributions to MPEG/JPEG:</a:t>
            </a:r>
          </a:p>
          <a:p>
            <a:pPr marL="169069" marR="0" lvl="0" indent="-257175" algn="l" defTabSz="1219139" rtl="0" eaLnBrk="1" fontAlgn="auto" latinLnBrk="0" hangingPunct="1">
              <a:lnSpc>
                <a:spcPct val="100000"/>
              </a:lnSpc>
              <a:spcBef>
                <a:spcPts val="0"/>
              </a:spcBef>
              <a:spcAft>
                <a:spcPts val="300"/>
              </a:spcAft>
              <a:buClr>
                <a:srgbClr val="414042">
                  <a:lumMod val="50000"/>
                </a:srgbClr>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ISO/IEC 23001-17 [RAW] uncompressed video and images in ISOBMFF</a:t>
            </a:r>
          </a:p>
          <a:p>
            <a:pPr marL="603647" marR="0" lvl="1" indent="-257175" algn="l" defTabSz="1219139" rtl="0" eaLnBrk="1" fontAlgn="auto" latinLnBrk="0" hangingPunct="1">
              <a:lnSpc>
                <a:spcPct val="100000"/>
              </a:lnSpc>
              <a:spcBef>
                <a:spcPts val="0"/>
              </a:spcBef>
              <a:spcAft>
                <a:spcPts val="300"/>
              </a:spcAft>
              <a:buClrTx/>
              <a:buSzTx/>
              <a:buFont typeface="Courier New" panose="02070309020205020404" pitchFamily="49" charset="0"/>
              <a:buChar char="o"/>
              <a:tabLst/>
              <a:defRPr/>
            </a:pPr>
            <a:r>
              <a:rPr kumimoji="0" lang="en-US" sz="2000"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Supports the carriage of uncompressed Still and Motion Imagery in MP4 and HEIF files, including calibration frames</a:t>
            </a:r>
          </a:p>
          <a:p>
            <a:pPr marL="603647" marR="0" lvl="1" indent="-257175" algn="l" defTabSz="1219139" rtl="0" eaLnBrk="1" fontAlgn="auto" latinLnBrk="0" hangingPunct="1">
              <a:lnSpc>
                <a:spcPct val="100000"/>
              </a:lnSpc>
              <a:spcBef>
                <a:spcPts val="0"/>
              </a:spcBef>
              <a:spcAft>
                <a:spcPts val="300"/>
              </a:spcAft>
              <a:buClrTx/>
              <a:buSzTx/>
              <a:buFont typeface="Courier New" panose="02070309020205020404" pitchFamily="49" charset="0"/>
              <a:buChar char="o"/>
              <a:tabLst/>
              <a:defRPr/>
            </a:pPr>
            <a:r>
              <a:rPr kumimoji="0" lang="en-US" sz="2000"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Media content annotation with nanosecond TAI timestamps and clock metadata</a:t>
            </a:r>
          </a:p>
          <a:p>
            <a:pPr marL="603647" marR="0" lvl="1" indent="-257175" algn="l" defTabSz="1219139" rtl="0" eaLnBrk="1" fontAlgn="auto" latinLnBrk="0" hangingPunct="1">
              <a:lnSpc>
                <a:spcPct val="100000"/>
              </a:lnSpc>
              <a:spcBef>
                <a:spcPts val="0"/>
              </a:spcBef>
              <a:spcAft>
                <a:spcPts val="300"/>
              </a:spcAft>
              <a:buClrTx/>
              <a:buSzTx/>
              <a:buFont typeface="Courier New" panose="02070309020205020404" pitchFamily="49" charset="0"/>
              <a:buChar char="o"/>
              <a:tabLst/>
              <a:defRPr/>
            </a:pPr>
            <a:r>
              <a:rPr kumimoji="0" lang="en-US" sz="2000"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Numerically, bitwise lossless media compression (</a:t>
            </a:r>
            <a:r>
              <a:rPr kumimoji="0" lang="en-US" sz="2000" b="0" i="0" u="none" strike="noStrike" kern="1200" cap="none" spc="0" normalizeH="0" baseline="0" noProof="0" dirty="0" err="1">
                <a:ln>
                  <a:noFill/>
                </a:ln>
                <a:solidFill>
                  <a:srgbClr val="414042"/>
                </a:solidFill>
                <a:effectLst/>
                <a:uLnTx/>
                <a:uFillTx/>
                <a:latin typeface="Arial" panose="020B0604020202020204" pitchFamily="34" charset="0"/>
                <a:ea typeface="+mn-ea"/>
                <a:cs typeface="Arial" panose="020B0604020202020204" pitchFamily="34" charset="0"/>
              </a:rPr>
              <a:t>gzip</a:t>
            </a:r>
            <a:r>
              <a:rPr kumimoji="0" lang="en-US" sz="2000"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 etc.)</a:t>
            </a:r>
          </a:p>
          <a:p>
            <a:pPr marL="603647" marR="0" lvl="1" indent="-257175" algn="l" defTabSz="1219139" rtl="0" eaLnBrk="1" fontAlgn="auto" latinLnBrk="0" hangingPunct="1">
              <a:lnSpc>
                <a:spcPct val="100000"/>
              </a:lnSpc>
              <a:spcBef>
                <a:spcPts val="0"/>
              </a:spcBef>
              <a:spcAft>
                <a:spcPts val="300"/>
              </a:spcAft>
              <a:buClrTx/>
              <a:buSzTx/>
              <a:buFont typeface="Courier New" panose="02070309020205020404" pitchFamily="49" charset="0"/>
              <a:buChar char="o"/>
              <a:tabLst/>
              <a:defRPr/>
            </a:pPr>
            <a:r>
              <a:rPr kumimoji="0" lang="en-US" sz="2000"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Supports use cases where image content fidelity is of paramount importance: pixel level measurement accuracy, radiometry, event timing, time-space-position-information (TSPI), etc.</a:t>
            </a:r>
          </a:p>
          <a:p>
            <a:pPr marL="169069" marR="0" lvl="0" indent="-257175" algn="l" defTabSz="1219139" rtl="0" eaLnBrk="1" fontAlgn="auto" latinLnBrk="0" hangingPunct="1">
              <a:lnSpc>
                <a:spcPct val="100000"/>
              </a:lnSpc>
              <a:spcBef>
                <a:spcPts val="0"/>
              </a:spcBef>
              <a:spcAft>
                <a:spcPts val="300"/>
              </a:spcAft>
              <a:buClr>
                <a:srgbClr val="414042">
                  <a:lumMod val="50000"/>
                </a:srgbClr>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ISO/IEC 23008-12 [HEIF] </a:t>
            </a:r>
          </a:p>
          <a:p>
            <a:pPr marL="603647" marR="0" lvl="1" indent="-257175" algn="l" defTabSz="1219139" rtl="0" eaLnBrk="1" fontAlgn="auto" latinLnBrk="0" hangingPunct="1">
              <a:lnSpc>
                <a:spcPct val="100000"/>
              </a:lnSpc>
              <a:spcBef>
                <a:spcPts val="0"/>
              </a:spcBef>
              <a:spcAft>
                <a:spcPts val="300"/>
              </a:spcAft>
              <a:buClrTx/>
              <a:buSzTx/>
              <a:buFont typeface="Courier New" panose="02070309020205020404" pitchFamily="49" charset="0"/>
              <a:buChar char="o"/>
              <a:tabLst/>
              <a:defRPr/>
            </a:pPr>
            <a:r>
              <a:rPr kumimoji="0" lang="en-US" sz="2000"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Cloud optimization </a:t>
            </a:r>
          </a:p>
          <a:p>
            <a:pPr marL="603647" marR="0" lvl="1" indent="-257175" algn="l" defTabSz="1219139" rtl="0" eaLnBrk="1" fontAlgn="auto" latinLnBrk="0" hangingPunct="1">
              <a:lnSpc>
                <a:spcPct val="100000"/>
              </a:lnSpc>
              <a:spcBef>
                <a:spcPts val="0"/>
              </a:spcBef>
              <a:spcAft>
                <a:spcPts val="300"/>
              </a:spcAft>
              <a:buClrTx/>
              <a:buSzTx/>
              <a:buFont typeface="Courier New" panose="02070309020205020404" pitchFamily="49" charset="0"/>
              <a:buChar char="o"/>
              <a:tabLst/>
              <a:defRPr/>
            </a:pPr>
            <a:r>
              <a:rPr kumimoji="0" lang="en-US" sz="2000"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Supports use cases requiring fast access and retrieval of partial media content over a network</a:t>
            </a:r>
          </a:p>
          <a:p>
            <a:pPr marL="169069" marR="0" lvl="0" indent="-257175" algn="l" defTabSz="1219139" rtl="0" eaLnBrk="1" fontAlgn="auto" latinLnBrk="0" hangingPunct="1">
              <a:lnSpc>
                <a:spcPct val="100000"/>
              </a:lnSpc>
              <a:spcBef>
                <a:spcPts val="0"/>
              </a:spcBef>
              <a:spcAft>
                <a:spcPts val="300"/>
              </a:spcAft>
              <a:buClr>
                <a:srgbClr val="414042">
                  <a:lumMod val="50000"/>
                </a:srgbClr>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ISO/IEC 15444-16 [JPEG 2000 in ISOBMFF] </a:t>
            </a:r>
          </a:p>
          <a:p>
            <a:pPr marL="603647" marR="0" lvl="1" indent="-257175" algn="l" defTabSz="1219139" rtl="0" eaLnBrk="1" fontAlgn="auto" latinLnBrk="0" hangingPunct="1">
              <a:lnSpc>
                <a:spcPct val="100000"/>
              </a:lnSpc>
              <a:spcBef>
                <a:spcPts val="0"/>
              </a:spcBef>
              <a:spcAft>
                <a:spcPts val="300"/>
              </a:spcAft>
              <a:buClrTx/>
              <a:buSzTx/>
              <a:buFont typeface="Courier New" panose="02070309020205020404" pitchFamily="49" charset="0"/>
              <a:buChar char="o"/>
              <a:tabLst/>
              <a:defRPr/>
            </a:pPr>
            <a:r>
              <a:rPr kumimoji="0" lang="en-US" sz="2000"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JPEG 2000 encoding of Still and Motion Imagery content</a:t>
            </a:r>
          </a:p>
          <a:p>
            <a:pPr marL="603647" marR="0" lvl="1" indent="-257175" algn="l" defTabSz="1219139" rtl="0" eaLnBrk="1" fontAlgn="auto" latinLnBrk="0" hangingPunct="1">
              <a:lnSpc>
                <a:spcPct val="100000"/>
              </a:lnSpc>
              <a:spcBef>
                <a:spcPts val="0"/>
              </a:spcBef>
              <a:spcAft>
                <a:spcPts val="300"/>
              </a:spcAft>
              <a:buClrTx/>
              <a:buSzTx/>
              <a:buFont typeface="Courier New" panose="02070309020205020404" pitchFamily="49" charset="0"/>
              <a:buChar char="o"/>
              <a:tabLst/>
              <a:defRPr/>
            </a:pPr>
            <a:r>
              <a:rPr kumimoji="0" lang="en-US" sz="2000"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Supports use cases requiring compression of high dynamic range imagery, large array sizes, high speed imagery, etc.</a:t>
            </a:r>
          </a:p>
          <a:p>
            <a:pPr marL="169069" marR="0" lvl="0" indent="-257175" algn="l" defTabSz="1219139" rtl="0" eaLnBrk="1" fontAlgn="auto" latinLnBrk="0" hangingPunct="1">
              <a:lnSpc>
                <a:spcPct val="100000"/>
              </a:lnSpc>
              <a:spcBef>
                <a:spcPts val="0"/>
              </a:spcBef>
              <a:spcAft>
                <a:spcPts val="300"/>
              </a:spcAft>
              <a:buClr>
                <a:srgbClr val="414042">
                  <a:lumMod val="50000"/>
                </a:srgbClr>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ISO/IEC 14496-12 [ISOBMFF]</a:t>
            </a:r>
          </a:p>
          <a:p>
            <a:pPr marL="603647" marR="0" lvl="1" indent="-257175" algn="l" defTabSz="1219139" rtl="0" eaLnBrk="1" fontAlgn="auto" latinLnBrk="0" hangingPunct="1">
              <a:lnSpc>
                <a:spcPct val="100000"/>
              </a:lnSpc>
              <a:spcBef>
                <a:spcPts val="0"/>
              </a:spcBef>
              <a:spcAft>
                <a:spcPts val="300"/>
              </a:spcAft>
              <a:buClrTx/>
              <a:buSzTx/>
              <a:buFont typeface="Courier New" panose="02070309020205020404" pitchFamily="49" charset="0"/>
              <a:buChar char="o"/>
              <a:tabLst/>
              <a:defRPr/>
            </a:pPr>
            <a:r>
              <a:rPr kumimoji="0" lang="en-US" sz="2000"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Supports frame annotation of image sequences and videos including pixel level metadata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93A128-2B3A-44D9-B4DD-D38235781F2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75476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gradFill>
          <a:gsLst>
            <a:gs pos="56000">
              <a:srgbClr val="D2F0FF"/>
            </a:gs>
            <a:gs pos="85000">
              <a:srgbClr val="66ACCE"/>
            </a:gs>
            <a:gs pos="0">
              <a:schemeClr val="bg1"/>
            </a:gs>
            <a:gs pos="100000">
              <a:srgbClr val="006699"/>
            </a:gs>
          </a:gsLst>
          <a:lin ang="5400000" scaled="1"/>
        </a:gra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BA0FAD3-9A34-4CB0-9D81-85815BEB44A8}"/>
              </a:ext>
            </a:extLst>
          </p:cNvPr>
          <p:cNvSpPr>
            <a:spLocks noGrp="1"/>
          </p:cNvSpPr>
          <p:nvPr>
            <p:ph type="subTitle" idx="1" hasCustomPrompt="1"/>
          </p:nvPr>
        </p:nvSpPr>
        <p:spPr>
          <a:xfrm>
            <a:off x="556592" y="4485861"/>
            <a:ext cx="6725478" cy="1675548"/>
          </a:xfrm>
        </p:spPr>
        <p:txBody>
          <a:bodyPr>
            <a:normAutofit/>
          </a:bodyPr>
          <a:lstStyle>
            <a:lvl1pPr marL="0" indent="0" algn="l">
              <a:buNone/>
              <a:defRPr sz="3200">
                <a:solidFill>
                  <a:srgbClr val="00456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Name </a:t>
            </a:r>
          </a:p>
          <a:p>
            <a:r>
              <a:rPr lang="en-US" dirty="0"/>
              <a:t>NGA/TAES Contractor</a:t>
            </a:r>
          </a:p>
          <a:p>
            <a:r>
              <a:rPr lang="en-US" dirty="0"/>
              <a:t>Date</a:t>
            </a:r>
          </a:p>
        </p:txBody>
      </p:sp>
      <p:sp>
        <p:nvSpPr>
          <p:cNvPr id="2" name="Title 1">
            <a:extLst>
              <a:ext uri="{FF2B5EF4-FFF2-40B4-BE49-F238E27FC236}">
                <a16:creationId xmlns:a16="http://schemas.microsoft.com/office/drawing/2014/main" id="{2987555B-4872-4DB3-B44F-1E9D8CE3E51B}"/>
              </a:ext>
            </a:extLst>
          </p:cNvPr>
          <p:cNvSpPr>
            <a:spLocks noGrp="1"/>
          </p:cNvSpPr>
          <p:nvPr>
            <p:ph type="ctrTitle" hasCustomPrompt="1"/>
          </p:nvPr>
        </p:nvSpPr>
        <p:spPr>
          <a:xfrm>
            <a:off x="3955774" y="2094398"/>
            <a:ext cx="8097078" cy="1579176"/>
          </a:xfrm>
        </p:spPr>
        <p:txBody>
          <a:bodyPr anchor="b">
            <a:normAutofit/>
          </a:bodyPr>
          <a:lstStyle>
            <a:lvl1pPr algn="ctr">
              <a:defRPr sz="5400">
                <a:solidFill>
                  <a:srgbClr val="003B58"/>
                </a:solidFill>
              </a:defRPr>
            </a:lvl1pPr>
          </a:lstStyle>
          <a:p>
            <a:r>
              <a:rPr lang="en-US" dirty="0"/>
              <a:t>Click to edit title</a:t>
            </a:r>
          </a:p>
        </p:txBody>
      </p:sp>
      <p:sp>
        <p:nvSpPr>
          <p:cNvPr id="17" name="TextBox 16">
            <a:extLst>
              <a:ext uri="{FF2B5EF4-FFF2-40B4-BE49-F238E27FC236}">
                <a16:creationId xmlns:a16="http://schemas.microsoft.com/office/drawing/2014/main" id="{EF960FB7-9849-4601-B8CC-A0A9C90992D4}"/>
              </a:ext>
            </a:extLst>
          </p:cNvPr>
          <p:cNvSpPr txBox="1"/>
          <p:nvPr userDrawn="1"/>
        </p:nvSpPr>
        <p:spPr>
          <a:xfrm>
            <a:off x="504828" y="6548537"/>
            <a:ext cx="3517900" cy="338554"/>
          </a:xfrm>
          <a:prstGeom prst="rect">
            <a:avLst/>
          </a:prstGeom>
          <a:noFill/>
        </p:spPr>
        <p:txBody>
          <a:bodyPr wrap="square" rtlCol="0">
            <a:spAutoFit/>
          </a:bodyPr>
          <a:lstStyle/>
          <a:p>
            <a:r>
              <a:rPr lang="en-US" sz="1600" kern="1200" dirty="0">
                <a:solidFill>
                  <a:schemeClr val="bg1">
                    <a:lumMod val="95000"/>
                  </a:schemeClr>
                </a:solidFill>
                <a:effectLst>
                  <a:outerShdw blurRad="38100" dist="38100" dir="2700000" algn="tl">
                    <a:srgbClr val="000000">
                      <a:alpha val="43137"/>
                    </a:srgbClr>
                  </a:outerShdw>
                </a:effectLst>
                <a:latin typeface="+mn-lt"/>
                <a:ea typeface="+mn-ea"/>
                <a:cs typeface="+mn-cs"/>
              </a:rPr>
              <a:t>https://GWG.NGA.MIL</a:t>
            </a:r>
          </a:p>
        </p:txBody>
      </p:sp>
      <p:sp>
        <p:nvSpPr>
          <p:cNvPr id="8" name="TextBox 7">
            <a:extLst>
              <a:ext uri="{FF2B5EF4-FFF2-40B4-BE49-F238E27FC236}">
                <a16:creationId xmlns:a16="http://schemas.microsoft.com/office/drawing/2014/main" id="{3EE5F9BC-0E68-4DE4-9B26-35A37CF4D4BF}"/>
              </a:ext>
            </a:extLst>
          </p:cNvPr>
          <p:cNvSpPr txBox="1"/>
          <p:nvPr userDrawn="1"/>
        </p:nvSpPr>
        <p:spPr>
          <a:xfrm rot="16200000">
            <a:off x="-822806" y="4991590"/>
            <a:ext cx="2140924" cy="514344"/>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a:t>
            </a:r>
            <a:r>
              <a:rPr lang="en-US" sz="1600" dirty="0">
                <a:solidFill>
                  <a:schemeClr val="bg1"/>
                </a:solidFill>
                <a:effectLst>
                  <a:outerShdw blurRad="38100" dist="38100" dir="2700000" algn="tl">
                    <a:srgbClr val="000000">
                      <a:alpha val="43137"/>
                    </a:srgbClr>
                  </a:outerShdw>
                </a:effectLst>
              </a:rPr>
              <a:t>NGA</a:t>
            </a:r>
            <a:r>
              <a:rPr lang="en-US" sz="1400" dirty="0">
                <a:solidFill>
                  <a:schemeClr val="bg1"/>
                </a:solidFill>
                <a:effectLst>
                  <a:outerShdw blurRad="38100" dist="38100" dir="2700000" algn="tl">
                    <a:srgbClr val="000000">
                      <a:alpha val="43137"/>
                    </a:srgbClr>
                  </a:outerShdw>
                </a:effectLst>
              </a:rPr>
              <a:t>.MIL</a:t>
            </a:r>
          </a:p>
        </p:txBody>
      </p:sp>
      <p:grpSp>
        <p:nvGrpSpPr>
          <p:cNvPr id="14" name="Group 13">
            <a:extLst>
              <a:ext uri="{FF2B5EF4-FFF2-40B4-BE49-F238E27FC236}">
                <a16:creationId xmlns:a16="http://schemas.microsoft.com/office/drawing/2014/main" id="{589B17CA-FE90-46E4-A597-C439E37FA192}"/>
              </a:ext>
            </a:extLst>
          </p:cNvPr>
          <p:cNvGrpSpPr/>
          <p:nvPr userDrawn="1"/>
        </p:nvGrpSpPr>
        <p:grpSpPr>
          <a:xfrm>
            <a:off x="0" y="6307714"/>
            <a:ext cx="12196750" cy="296772"/>
            <a:chOff x="0" y="6307714"/>
            <a:chExt cx="12196750" cy="296772"/>
          </a:xfrm>
        </p:grpSpPr>
        <p:sp>
          <p:nvSpPr>
            <p:cNvPr id="15" name="Rectangle 14">
              <a:extLst>
                <a:ext uri="{FF2B5EF4-FFF2-40B4-BE49-F238E27FC236}">
                  <a16:creationId xmlns:a16="http://schemas.microsoft.com/office/drawing/2014/main" id="{3FC19CDA-DF24-43D6-A837-6F6E427B5174}"/>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62EE849-2340-4D67-B9FD-83C0C04C5EA3}"/>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B1F1B98-F9CA-46DB-9BAC-92FB62427B6B}"/>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Rectangle 19">
              <a:extLst>
                <a:ext uri="{FF2B5EF4-FFF2-40B4-BE49-F238E27FC236}">
                  <a16:creationId xmlns:a16="http://schemas.microsoft.com/office/drawing/2014/main" id="{33784CA2-AD03-44FF-8BF1-08C5DFB7A1C0}"/>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57FE73E4-16F0-4F5B-A00A-5A074CD3C5E0}"/>
              </a:ext>
            </a:extLst>
          </p:cNvPr>
          <p:cNvGrpSpPr/>
          <p:nvPr userDrawn="1"/>
        </p:nvGrpSpPr>
        <p:grpSpPr>
          <a:xfrm>
            <a:off x="3184" y="213128"/>
            <a:ext cx="12196750" cy="296772"/>
            <a:chOff x="0" y="6307714"/>
            <a:chExt cx="12196750" cy="296772"/>
          </a:xfrm>
        </p:grpSpPr>
        <p:sp>
          <p:nvSpPr>
            <p:cNvPr id="22" name="Rectangle 21">
              <a:extLst>
                <a:ext uri="{FF2B5EF4-FFF2-40B4-BE49-F238E27FC236}">
                  <a16:creationId xmlns:a16="http://schemas.microsoft.com/office/drawing/2014/main" id="{8744315B-B077-4E14-9832-C37CB8F0B02A}"/>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96D5AD5-7AE7-409C-80C2-BA5DB4EDD123}"/>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9FA76A95-0D1E-49AE-AD54-1EF2B0999C34}"/>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Rectangle 24">
              <a:extLst>
                <a:ext uri="{FF2B5EF4-FFF2-40B4-BE49-F238E27FC236}">
                  <a16:creationId xmlns:a16="http://schemas.microsoft.com/office/drawing/2014/main" id="{C5F60D4C-E24A-4DFE-964A-218995740818}"/>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BC60D321-429C-4608-AAB3-18026BF93AA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812" t="581" r="23021" b="581"/>
          <a:stretch/>
        </p:blipFill>
        <p:spPr>
          <a:xfrm>
            <a:off x="263528" y="139455"/>
            <a:ext cx="3587012" cy="3673799"/>
          </a:xfrm>
          <a:prstGeom prst="rect">
            <a:avLst/>
          </a:prstGeom>
        </p:spPr>
      </p:pic>
      <p:grpSp>
        <p:nvGrpSpPr>
          <p:cNvPr id="5" name="Group 4">
            <a:extLst>
              <a:ext uri="{FF2B5EF4-FFF2-40B4-BE49-F238E27FC236}">
                <a16:creationId xmlns:a16="http://schemas.microsoft.com/office/drawing/2014/main" id="{4A5EEDA6-440C-AA4F-F48B-EA483E95E9EC}"/>
              </a:ext>
            </a:extLst>
          </p:cNvPr>
          <p:cNvGrpSpPr/>
          <p:nvPr userDrawn="1"/>
        </p:nvGrpSpPr>
        <p:grpSpPr>
          <a:xfrm>
            <a:off x="6589930" y="464181"/>
            <a:ext cx="5598886" cy="797272"/>
            <a:chOff x="2339942" y="1330348"/>
            <a:chExt cx="7150724" cy="1018251"/>
          </a:xfrm>
        </p:grpSpPr>
        <p:pic>
          <p:nvPicPr>
            <p:cNvPr id="6" name="Picture 5">
              <a:extLst>
                <a:ext uri="{FF2B5EF4-FFF2-40B4-BE49-F238E27FC236}">
                  <a16:creationId xmlns:a16="http://schemas.microsoft.com/office/drawing/2014/main" id="{DA95D270-5590-2179-032D-81D25787720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9942" y="1330348"/>
              <a:ext cx="3180723" cy="1018251"/>
            </a:xfrm>
            <a:prstGeom prst="rect">
              <a:avLst/>
            </a:prstGeom>
          </p:spPr>
        </p:pic>
        <p:sp>
          <p:nvSpPr>
            <p:cNvPr id="7" name="TextBox 6">
              <a:extLst>
                <a:ext uri="{FF2B5EF4-FFF2-40B4-BE49-F238E27FC236}">
                  <a16:creationId xmlns:a16="http://schemas.microsoft.com/office/drawing/2014/main" id="{71E1C706-F365-7C49-0B01-BBB75B9569BE}"/>
                </a:ext>
              </a:extLst>
            </p:cNvPr>
            <p:cNvSpPr txBox="1"/>
            <p:nvPr/>
          </p:nvSpPr>
          <p:spPr>
            <a:xfrm>
              <a:off x="5395918" y="1514907"/>
              <a:ext cx="4094748" cy="668241"/>
            </a:xfrm>
            <a:prstGeom prst="rect">
              <a:avLst/>
            </a:prstGeom>
            <a:noFill/>
          </p:spPr>
          <p:txBody>
            <a:bodyPr wrap="square">
              <a:spAutoFit/>
            </a:bodyPr>
            <a:lstStyle/>
            <a:p>
              <a:pPr algn="ctr"/>
              <a:r>
                <a:rPr lang="en-US" sz="1400" b="1" dirty="0">
                  <a:solidFill>
                    <a:srgbClr val="0033CC"/>
                  </a:solidFill>
                  <a:latin typeface="Arial Black" panose="020B0A04020102020204" pitchFamily="34" charset="0"/>
                  <a:cs typeface="Aldhabi" panose="020F0502020204030204" pitchFamily="2" charset="-78"/>
                </a:rPr>
                <a:t>G</a:t>
              </a:r>
              <a:r>
                <a:rPr lang="en-US" sz="1400" b="1" dirty="0">
                  <a:latin typeface="Arial Black" panose="020B0A04020102020204" pitchFamily="34" charset="0"/>
                  <a:cs typeface="Aldhabi" panose="020F0502020204030204" pitchFamily="2" charset="-78"/>
                </a:rPr>
                <a:t>eospatial-Intelligence </a:t>
              </a:r>
              <a:r>
                <a:rPr lang="en-US" sz="1400" b="1" dirty="0">
                  <a:solidFill>
                    <a:srgbClr val="0033CC"/>
                  </a:solidFill>
                  <a:latin typeface="Arial Black" panose="020B0A04020102020204" pitchFamily="34" charset="0"/>
                  <a:cs typeface="Aldhabi" panose="020F0502020204030204" pitchFamily="2" charset="-78"/>
                </a:rPr>
                <a:t>M</a:t>
              </a:r>
              <a:r>
                <a:rPr lang="en-US" sz="1400" b="1" dirty="0">
                  <a:latin typeface="Arial Black" panose="020B0A04020102020204" pitchFamily="34" charset="0"/>
                  <a:cs typeface="Aldhabi" panose="020F0502020204030204" pitchFamily="2" charset="-78"/>
                </a:rPr>
                <a:t>edia</a:t>
              </a:r>
            </a:p>
            <a:p>
              <a:pPr algn="ctr"/>
              <a:r>
                <a:rPr lang="en-US" sz="1400" b="1" dirty="0">
                  <a:solidFill>
                    <a:srgbClr val="0033CC"/>
                  </a:solidFill>
                  <a:latin typeface="Arial Black" panose="020B0A04020102020204" pitchFamily="34" charset="0"/>
                  <a:cs typeface="Aldhabi" panose="020F0502020204030204" pitchFamily="2" charset="-78"/>
                </a:rPr>
                <a:t>S</a:t>
              </a:r>
              <a:r>
                <a:rPr lang="en-US" sz="1400" b="1" dirty="0">
                  <a:latin typeface="Arial Black" panose="020B0A04020102020204" pitchFamily="34" charset="0"/>
                  <a:cs typeface="Aldhabi" panose="020F0502020204030204" pitchFamily="2" charset="-78"/>
                </a:rPr>
                <a:t>tandards </a:t>
              </a:r>
              <a:r>
                <a:rPr lang="en-US" sz="1400" b="1" dirty="0">
                  <a:solidFill>
                    <a:srgbClr val="0033CC"/>
                  </a:solidFill>
                  <a:latin typeface="Arial Black" panose="020B0A04020102020204" pitchFamily="34" charset="0"/>
                  <a:cs typeface="Aldhabi" panose="020F0502020204030204" pitchFamily="2" charset="-78"/>
                </a:rPr>
                <a:t>B</a:t>
              </a:r>
              <a:r>
                <a:rPr lang="en-US" sz="1400" b="1" dirty="0">
                  <a:latin typeface="Arial Black" panose="020B0A04020102020204" pitchFamily="34" charset="0"/>
                  <a:cs typeface="Aldhabi" panose="020F0502020204030204" pitchFamily="2" charset="-78"/>
                </a:rPr>
                <a:t>oard</a:t>
              </a:r>
              <a:endParaRPr lang="en-US" sz="4400" b="1" dirty="0">
                <a:latin typeface="Arial Black" panose="020B0A04020102020204" pitchFamily="34" charset="0"/>
                <a:cs typeface="Aldhabi" panose="020F0502020204030204" pitchFamily="2" charset="-78"/>
              </a:endParaRPr>
            </a:p>
          </p:txBody>
        </p:sp>
      </p:grpSp>
    </p:spTree>
    <p:extLst>
      <p:ext uri="{BB962C8B-B14F-4D97-AF65-F5344CB8AC3E}">
        <p14:creationId xmlns:p14="http://schemas.microsoft.com/office/powerpoint/2010/main" val="106322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93D78-DC8C-4E22-835E-A6F8C3BDC612}"/>
              </a:ext>
            </a:extLst>
          </p:cNvPr>
          <p:cNvSpPr>
            <a:spLocks noGrp="1"/>
          </p:cNvSpPr>
          <p:nvPr>
            <p:ph type="title" hasCustomPrompt="1"/>
          </p:nvPr>
        </p:nvSpPr>
        <p:spPr>
          <a:xfrm>
            <a:off x="1549905" y="477767"/>
            <a:ext cx="10019243" cy="879475"/>
          </a:xfrm>
        </p:spPr>
        <p:txBody>
          <a:bodyPr>
            <a:normAutofit/>
          </a:bodyPr>
          <a:lstStyle>
            <a:lvl1pPr>
              <a:defRPr sz="3200" b="1">
                <a:solidFill>
                  <a:srgbClr val="004568"/>
                </a:solidFill>
              </a:defRPr>
            </a:lvl1pPr>
          </a:lstStyle>
          <a:p>
            <a:r>
              <a:rPr lang="en-US" dirty="0"/>
              <a:t>Click to edit title</a:t>
            </a:r>
          </a:p>
        </p:txBody>
      </p:sp>
      <p:sp>
        <p:nvSpPr>
          <p:cNvPr id="3" name="Content Placeholder 2">
            <a:extLst>
              <a:ext uri="{FF2B5EF4-FFF2-40B4-BE49-F238E27FC236}">
                <a16:creationId xmlns:a16="http://schemas.microsoft.com/office/drawing/2014/main" id="{33E8A24C-6CFD-41F9-B51F-E89A184E3F30}"/>
              </a:ext>
            </a:extLst>
          </p:cNvPr>
          <p:cNvSpPr>
            <a:spLocks noGrp="1"/>
          </p:cNvSpPr>
          <p:nvPr>
            <p:ph idx="1"/>
          </p:nvPr>
        </p:nvSpPr>
        <p:spPr>
          <a:xfrm>
            <a:off x="609600" y="1646238"/>
            <a:ext cx="10959548" cy="4530725"/>
          </a:xfrm>
        </p:spPr>
        <p:txBody>
          <a:bodyPr/>
          <a:lstStyle>
            <a:lvl1pPr>
              <a:defRPr sz="2400" b="1">
                <a:solidFill>
                  <a:srgbClr val="004568"/>
                </a:solidFill>
              </a:defRPr>
            </a:lvl1pPr>
            <a:lvl2pPr>
              <a:defRPr sz="2000">
                <a:solidFill>
                  <a:srgbClr val="004568"/>
                </a:solidFill>
              </a:defRPr>
            </a:lvl2pPr>
            <a:lvl3pPr>
              <a:defRPr sz="1800" b="0">
                <a:solidFill>
                  <a:srgbClr val="004568"/>
                </a:solidFill>
              </a:defRPr>
            </a:lvl3pPr>
            <a:lvl4pPr>
              <a:defRPr sz="1600">
                <a:solidFill>
                  <a:srgbClr val="004568"/>
                </a:solidFill>
              </a:defRPr>
            </a:lvl4pPr>
            <a:lvl5pPr>
              <a:defRPr sz="1600">
                <a:solidFill>
                  <a:srgbClr val="00456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Slide Number Placeholder 6">
            <a:extLst>
              <a:ext uri="{FF2B5EF4-FFF2-40B4-BE49-F238E27FC236}">
                <a16:creationId xmlns:a16="http://schemas.microsoft.com/office/drawing/2014/main" id="{3D57DA96-4AD1-4F8B-8C12-B6B272FB79FD}"/>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sp>
        <p:nvSpPr>
          <p:cNvPr id="34" name="TextBox 33">
            <a:extLst>
              <a:ext uri="{FF2B5EF4-FFF2-40B4-BE49-F238E27FC236}">
                <a16:creationId xmlns:a16="http://schemas.microsoft.com/office/drawing/2014/main" id="{4F63C806-8B40-42A7-95AA-4E30ABCCC815}"/>
              </a:ext>
            </a:extLst>
          </p:cNvPr>
          <p:cNvSpPr txBox="1"/>
          <p:nvPr userDrawn="1"/>
        </p:nvSpPr>
        <p:spPr>
          <a:xfrm rot="16200000">
            <a:off x="-846620" y="4913804"/>
            <a:ext cx="2140924" cy="466716"/>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35" name="TextBox 34">
            <a:extLst>
              <a:ext uri="{FF2B5EF4-FFF2-40B4-BE49-F238E27FC236}">
                <a16:creationId xmlns:a16="http://schemas.microsoft.com/office/drawing/2014/main" id="{5E2E6800-C9CE-465F-8B72-3FA1216033B7}"/>
              </a:ext>
            </a:extLst>
          </p:cNvPr>
          <p:cNvSpPr txBox="1"/>
          <p:nvPr userDrawn="1"/>
        </p:nvSpPr>
        <p:spPr>
          <a:xfrm>
            <a:off x="771528" y="6531937"/>
            <a:ext cx="1946272" cy="307777"/>
          </a:xfrm>
          <a:prstGeom prst="rect">
            <a:avLst/>
          </a:prstGeom>
          <a:noFill/>
        </p:spPr>
        <p:txBody>
          <a:bodyPr wrap="square" rtlCol="0">
            <a:spAutoFit/>
          </a:bodyPr>
          <a:lstStyle/>
          <a:p>
            <a:r>
              <a:rPr lang="en-US" sz="1400" kern="1200" dirty="0">
                <a:solidFill>
                  <a:schemeClr val="bg1"/>
                </a:solidFill>
                <a:effectLst>
                  <a:outerShdw blurRad="38100" dist="38100" dir="2700000" algn="tl">
                    <a:srgbClr val="000000">
                      <a:alpha val="43137"/>
                    </a:srgbClr>
                  </a:outerShdw>
                </a:effectLst>
                <a:latin typeface="+mn-lt"/>
                <a:ea typeface="+mn-ea"/>
                <a:cs typeface="+mn-cs"/>
              </a:rPr>
              <a:t>https://GWG.NGA.MIL</a:t>
            </a:r>
          </a:p>
        </p:txBody>
      </p:sp>
      <p:grpSp>
        <p:nvGrpSpPr>
          <p:cNvPr id="45" name="Group 44">
            <a:extLst>
              <a:ext uri="{FF2B5EF4-FFF2-40B4-BE49-F238E27FC236}">
                <a16:creationId xmlns:a16="http://schemas.microsoft.com/office/drawing/2014/main" id="{422832F5-CD39-4AE3-8974-44926088A79C}"/>
              </a:ext>
            </a:extLst>
          </p:cNvPr>
          <p:cNvGrpSpPr/>
          <p:nvPr userDrawn="1"/>
        </p:nvGrpSpPr>
        <p:grpSpPr>
          <a:xfrm>
            <a:off x="0" y="6307714"/>
            <a:ext cx="12196750" cy="296772"/>
            <a:chOff x="0" y="6307714"/>
            <a:chExt cx="12196750" cy="296772"/>
          </a:xfrm>
        </p:grpSpPr>
        <p:sp>
          <p:nvSpPr>
            <p:cNvPr id="46" name="Rectangle 45">
              <a:extLst>
                <a:ext uri="{FF2B5EF4-FFF2-40B4-BE49-F238E27FC236}">
                  <a16:creationId xmlns:a16="http://schemas.microsoft.com/office/drawing/2014/main" id="{9171387D-A996-4A04-886D-A1ADD844A114}"/>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BB617C64-210E-46E0-A9A5-9036A31C2030}"/>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490E7990-E7AD-4678-A07E-8684A6B236B1}"/>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9" name="Rectangle 48">
              <a:extLst>
                <a:ext uri="{FF2B5EF4-FFF2-40B4-BE49-F238E27FC236}">
                  <a16:creationId xmlns:a16="http://schemas.microsoft.com/office/drawing/2014/main" id="{F340906E-E31B-401B-9CC9-DD71427C3767}"/>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E97D5B7D-DE60-458F-853F-ABEFC0302A86}"/>
              </a:ext>
            </a:extLst>
          </p:cNvPr>
          <p:cNvGrpSpPr/>
          <p:nvPr userDrawn="1"/>
        </p:nvGrpSpPr>
        <p:grpSpPr>
          <a:xfrm>
            <a:off x="3184" y="213128"/>
            <a:ext cx="12196750" cy="296772"/>
            <a:chOff x="0" y="6307714"/>
            <a:chExt cx="12196750" cy="296772"/>
          </a:xfrm>
        </p:grpSpPr>
        <p:sp>
          <p:nvSpPr>
            <p:cNvPr id="51" name="Rectangle 50">
              <a:extLst>
                <a:ext uri="{FF2B5EF4-FFF2-40B4-BE49-F238E27FC236}">
                  <a16:creationId xmlns:a16="http://schemas.microsoft.com/office/drawing/2014/main" id="{7FF2BEB4-1F95-4AD8-BBDA-356CBD11A67E}"/>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E31F962-E58F-49ED-8ADC-D2C4C0D1618F}"/>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E1829895-0BEC-41A8-8A12-344937273D1E}"/>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Rectangle 53">
              <a:extLst>
                <a:ext uri="{FF2B5EF4-FFF2-40B4-BE49-F238E27FC236}">
                  <a16:creationId xmlns:a16="http://schemas.microsoft.com/office/drawing/2014/main" id="{28FDDC99-CB52-4C54-A932-3BAF694D9D3D}"/>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4" name="Picture 43">
            <a:extLst>
              <a:ext uri="{FF2B5EF4-FFF2-40B4-BE49-F238E27FC236}">
                <a16:creationId xmlns:a16="http://schemas.microsoft.com/office/drawing/2014/main" id="{CCD77AEC-0119-4EE5-B54C-C8D28F78402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917" t="1141" r="22812" b="1459"/>
          <a:stretch/>
        </p:blipFill>
        <p:spPr>
          <a:xfrm>
            <a:off x="285568" y="152586"/>
            <a:ext cx="1105264" cy="1113376"/>
          </a:xfrm>
          <a:prstGeom prst="rect">
            <a:avLst/>
          </a:prstGeom>
        </p:spPr>
      </p:pic>
      <p:grpSp>
        <p:nvGrpSpPr>
          <p:cNvPr id="8" name="Group 7">
            <a:extLst>
              <a:ext uri="{FF2B5EF4-FFF2-40B4-BE49-F238E27FC236}">
                <a16:creationId xmlns:a16="http://schemas.microsoft.com/office/drawing/2014/main" id="{31CB9E79-E473-5812-92A9-2FF04D17C982}"/>
              </a:ext>
            </a:extLst>
          </p:cNvPr>
          <p:cNvGrpSpPr/>
          <p:nvPr userDrawn="1"/>
        </p:nvGrpSpPr>
        <p:grpSpPr>
          <a:xfrm>
            <a:off x="11049000" y="243918"/>
            <a:ext cx="894714" cy="225906"/>
            <a:chOff x="11049000" y="243918"/>
            <a:chExt cx="894714" cy="225906"/>
          </a:xfrm>
        </p:grpSpPr>
        <p:sp>
          <p:nvSpPr>
            <p:cNvPr id="7" name="Rectangle 6">
              <a:extLst>
                <a:ext uri="{FF2B5EF4-FFF2-40B4-BE49-F238E27FC236}">
                  <a16:creationId xmlns:a16="http://schemas.microsoft.com/office/drawing/2014/main" id="{C8968A1F-9DD1-6B50-4F75-5AD27769E206}"/>
                </a:ext>
              </a:extLst>
            </p:cNvPr>
            <p:cNvSpPr/>
            <p:nvPr userDrawn="1"/>
          </p:nvSpPr>
          <p:spPr>
            <a:xfrm>
              <a:off x="11049000" y="261332"/>
              <a:ext cx="894714" cy="195627"/>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F187485-97FF-2C0E-9AB0-03F1199D1DD1}"/>
                </a:ext>
              </a:extLst>
            </p:cNvPr>
            <p:cNvSpPr/>
            <p:nvPr userDrawn="1"/>
          </p:nvSpPr>
          <p:spPr>
            <a:xfrm>
              <a:off x="11110161" y="271713"/>
              <a:ext cx="792461" cy="1745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FEEF9F5-C6CE-00B6-9D01-938FF0D694B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54054" y="243918"/>
              <a:ext cx="705665" cy="225906"/>
            </a:xfrm>
            <a:prstGeom prst="rect">
              <a:avLst/>
            </a:prstGeom>
          </p:spPr>
        </p:pic>
      </p:grpSp>
    </p:spTree>
    <p:extLst>
      <p:ext uri="{BB962C8B-B14F-4D97-AF65-F5344CB8AC3E}">
        <p14:creationId xmlns:p14="http://schemas.microsoft.com/office/powerpoint/2010/main" val="2320041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93D78-DC8C-4E22-835E-A6F8C3BDC612}"/>
              </a:ext>
            </a:extLst>
          </p:cNvPr>
          <p:cNvSpPr>
            <a:spLocks noGrp="1"/>
          </p:cNvSpPr>
          <p:nvPr>
            <p:ph type="title" hasCustomPrompt="1"/>
          </p:nvPr>
        </p:nvSpPr>
        <p:spPr>
          <a:xfrm>
            <a:off x="1549906" y="484393"/>
            <a:ext cx="10019242" cy="879475"/>
          </a:xfrm>
        </p:spPr>
        <p:txBody>
          <a:bodyPr>
            <a:normAutofit/>
          </a:bodyPr>
          <a:lstStyle>
            <a:lvl1pPr>
              <a:defRPr sz="3200" b="1">
                <a:solidFill>
                  <a:srgbClr val="004568"/>
                </a:solidFill>
              </a:defRPr>
            </a:lvl1pPr>
          </a:lstStyle>
          <a:p>
            <a:r>
              <a:rPr lang="en-US" dirty="0"/>
              <a:t>Click to edit title</a:t>
            </a:r>
          </a:p>
        </p:txBody>
      </p:sp>
      <p:sp>
        <p:nvSpPr>
          <p:cNvPr id="3" name="Content Placeholder 2">
            <a:extLst>
              <a:ext uri="{FF2B5EF4-FFF2-40B4-BE49-F238E27FC236}">
                <a16:creationId xmlns:a16="http://schemas.microsoft.com/office/drawing/2014/main" id="{33E8A24C-6CFD-41F9-B51F-E89A184E3F30}"/>
              </a:ext>
            </a:extLst>
          </p:cNvPr>
          <p:cNvSpPr>
            <a:spLocks noGrp="1"/>
          </p:cNvSpPr>
          <p:nvPr>
            <p:ph idx="1"/>
          </p:nvPr>
        </p:nvSpPr>
        <p:spPr>
          <a:xfrm>
            <a:off x="609600" y="1415686"/>
            <a:ext cx="10959548" cy="4820911"/>
          </a:xfrm>
        </p:spPr>
        <p:txBody>
          <a:bodyPr/>
          <a:lstStyle>
            <a:lvl1pPr>
              <a:defRPr sz="2400" b="1">
                <a:solidFill>
                  <a:srgbClr val="004568"/>
                </a:solidFill>
              </a:defRPr>
            </a:lvl1pPr>
            <a:lvl2pPr>
              <a:defRPr sz="2000">
                <a:solidFill>
                  <a:srgbClr val="004568"/>
                </a:solidFill>
              </a:defRPr>
            </a:lvl2pPr>
            <a:lvl3pPr>
              <a:defRPr sz="1800" b="0">
                <a:solidFill>
                  <a:srgbClr val="004568"/>
                </a:solidFill>
              </a:defRPr>
            </a:lvl3pPr>
            <a:lvl4pPr>
              <a:defRPr sz="1600">
                <a:solidFill>
                  <a:srgbClr val="004568"/>
                </a:solidFill>
              </a:defRPr>
            </a:lvl4pPr>
            <a:lvl5pPr>
              <a:defRPr sz="1600">
                <a:solidFill>
                  <a:srgbClr val="00456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Slide Number Placeholder 6">
            <a:extLst>
              <a:ext uri="{FF2B5EF4-FFF2-40B4-BE49-F238E27FC236}">
                <a16:creationId xmlns:a16="http://schemas.microsoft.com/office/drawing/2014/main" id="{3D57DA96-4AD1-4F8B-8C12-B6B272FB79FD}"/>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sp>
        <p:nvSpPr>
          <p:cNvPr id="34" name="TextBox 33">
            <a:extLst>
              <a:ext uri="{FF2B5EF4-FFF2-40B4-BE49-F238E27FC236}">
                <a16:creationId xmlns:a16="http://schemas.microsoft.com/office/drawing/2014/main" id="{4F63C806-8B40-42A7-95AA-4E30ABCCC815}"/>
              </a:ext>
            </a:extLst>
          </p:cNvPr>
          <p:cNvSpPr txBox="1"/>
          <p:nvPr userDrawn="1"/>
        </p:nvSpPr>
        <p:spPr>
          <a:xfrm rot="16200000">
            <a:off x="-846620" y="4913804"/>
            <a:ext cx="2140924" cy="466716"/>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35" name="TextBox 34">
            <a:extLst>
              <a:ext uri="{FF2B5EF4-FFF2-40B4-BE49-F238E27FC236}">
                <a16:creationId xmlns:a16="http://schemas.microsoft.com/office/drawing/2014/main" id="{5E2E6800-C9CE-465F-8B72-3FA1216033B7}"/>
              </a:ext>
            </a:extLst>
          </p:cNvPr>
          <p:cNvSpPr txBox="1"/>
          <p:nvPr userDrawn="1"/>
        </p:nvSpPr>
        <p:spPr>
          <a:xfrm>
            <a:off x="771528" y="6531937"/>
            <a:ext cx="1946272" cy="307777"/>
          </a:xfrm>
          <a:prstGeom prst="rect">
            <a:avLst/>
          </a:prstGeom>
          <a:noFill/>
        </p:spPr>
        <p:txBody>
          <a:bodyPr wrap="square" rtlCol="0">
            <a:spAutoFit/>
          </a:bodyPr>
          <a:lstStyle/>
          <a:p>
            <a:r>
              <a:rPr lang="en-US" sz="1400" kern="1200" dirty="0">
                <a:solidFill>
                  <a:schemeClr val="bg1"/>
                </a:solidFill>
                <a:effectLst>
                  <a:outerShdw blurRad="38100" dist="38100" dir="2700000" algn="tl">
                    <a:srgbClr val="000000">
                      <a:alpha val="43137"/>
                    </a:srgbClr>
                  </a:outerShdw>
                </a:effectLst>
                <a:latin typeface="+mn-lt"/>
                <a:ea typeface="+mn-ea"/>
                <a:cs typeface="+mn-cs"/>
              </a:rPr>
              <a:t>https://GWG.NGA.MIL</a:t>
            </a:r>
          </a:p>
        </p:txBody>
      </p:sp>
      <p:grpSp>
        <p:nvGrpSpPr>
          <p:cNvPr id="45" name="Group 44">
            <a:extLst>
              <a:ext uri="{FF2B5EF4-FFF2-40B4-BE49-F238E27FC236}">
                <a16:creationId xmlns:a16="http://schemas.microsoft.com/office/drawing/2014/main" id="{422832F5-CD39-4AE3-8974-44926088A79C}"/>
              </a:ext>
            </a:extLst>
          </p:cNvPr>
          <p:cNvGrpSpPr/>
          <p:nvPr userDrawn="1"/>
        </p:nvGrpSpPr>
        <p:grpSpPr>
          <a:xfrm>
            <a:off x="0" y="6307714"/>
            <a:ext cx="12196750" cy="296772"/>
            <a:chOff x="0" y="6307714"/>
            <a:chExt cx="12196750" cy="296772"/>
          </a:xfrm>
        </p:grpSpPr>
        <p:sp>
          <p:nvSpPr>
            <p:cNvPr id="46" name="Rectangle 45">
              <a:extLst>
                <a:ext uri="{FF2B5EF4-FFF2-40B4-BE49-F238E27FC236}">
                  <a16:creationId xmlns:a16="http://schemas.microsoft.com/office/drawing/2014/main" id="{9171387D-A996-4A04-886D-A1ADD844A114}"/>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BB617C64-210E-46E0-A9A5-9036A31C2030}"/>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490E7990-E7AD-4678-A07E-8684A6B236B1}"/>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9" name="Rectangle 48">
              <a:extLst>
                <a:ext uri="{FF2B5EF4-FFF2-40B4-BE49-F238E27FC236}">
                  <a16:creationId xmlns:a16="http://schemas.microsoft.com/office/drawing/2014/main" id="{F340906E-E31B-401B-9CC9-DD71427C3767}"/>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E97D5B7D-DE60-458F-853F-ABEFC0302A86}"/>
              </a:ext>
            </a:extLst>
          </p:cNvPr>
          <p:cNvGrpSpPr/>
          <p:nvPr userDrawn="1"/>
        </p:nvGrpSpPr>
        <p:grpSpPr>
          <a:xfrm>
            <a:off x="3184" y="213128"/>
            <a:ext cx="12196750" cy="296772"/>
            <a:chOff x="0" y="6307714"/>
            <a:chExt cx="12196750" cy="296772"/>
          </a:xfrm>
        </p:grpSpPr>
        <p:sp>
          <p:nvSpPr>
            <p:cNvPr id="51" name="Rectangle 50">
              <a:extLst>
                <a:ext uri="{FF2B5EF4-FFF2-40B4-BE49-F238E27FC236}">
                  <a16:creationId xmlns:a16="http://schemas.microsoft.com/office/drawing/2014/main" id="{7FF2BEB4-1F95-4AD8-BBDA-356CBD11A67E}"/>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E31F962-E58F-49ED-8ADC-D2C4C0D1618F}"/>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E1829895-0BEC-41A8-8A12-344937273D1E}"/>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Rectangle 53">
              <a:extLst>
                <a:ext uri="{FF2B5EF4-FFF2-40B4-BE49-F238E27FC236}">
                  <a16:creationId xmlns:a16="http://schemas.microsoft.com/office/drawing/2014/main" id="{28FDDC99-CB52-4C54-A932-3BAF694D9D3D}"/>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4" name="Picture 43">
            <a:extLst>
              <a:ext uri="{FF2B5EF4-FFF2-40B4-BE49-F238E27FC236}">
                <a16:creationId xmlns:a16="http://schemas.microsoft.com/office/drawing/2014/main" id="{CCD77AEC-0119-4EE5-B54C-C8D28F78402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917" t="1141" r="22812" b="1459"/>
          <a:stretch/>
        </p:blipFill>
        <p:spPr>
          <a:xfrm>
            <a:off x="285568" y="152586"/>
            <a:ext cx="1105264" cy="1113376"/>
          </a:xfrm>
          <a:prstGeom prst="rect">
            <a:avLst/>
          </a:prstGeom>
        </p:spPr>
      </p:pic>
      <p:grpSp>
        <p:nvGrpSpPr>
          <p:cNvPr id="7" name="Group 6">
            <a:extLst>
              <a:ext uri="{FF2B5EF4-FFF2-40B4-BE49-F238E27FC236}">
                <a16:creationId xmlns:a16="http://schemas.microsoft.com/office/drawing/2014/main" id="{3BC3D2E6-D03A-DB87-A095-5070908376E7}"/>
              </a:ext>
            </a:extLst>
          </p:cNvPr>
          <p:cNvGrpSpPr/>
          <p:nvPr userDrawn="1"/>
        </p:nvGrpSpPr>
        <p:grpSpPr>
          <a:xfrm>
            <a:off x="11049000" y="243918"/>
            <a:ext cx="894714" cy="225906"/>
            <a:chOff x="11049000" y="243918"/>
            <a:chExt cx="894714" cy="225906"/>
          </a:xfrm>
        </p:grpSpPr>
        <p:sp>
          <p:nvSpPr>
            <p:cNvPr id="8" name="Rectangle 7">
              <a:extLst>
                <a:ext uri="{FF2B5EF4-FFF2-40B4-BE49-F238E27FC236}">
                  <a16:creationId xmlns:a16="http://schemas.microsoft.com/office/drawing/2014/main" id="{D7629ECB-7AC4-CF10-6C04-89E38B4428CB}"/>
                </a:ext>
              </a:extLst>
            </p:cNvPr>
            <p:cNvSpPr/>
            <p:nvPr userDrawn="1"/>
          </p:nvSpPr>
          <p:spPr>
            <a:xfrm>
              <a:off x="11049000" y="261332"/>
              <a:ext cx="894714" cy="195627"/>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4CAC05F-DC25-0F58-BDBE-EAB54609EE08}"/>
                </a:ext>
              </a:extLst>
            </p:cNvPr>
            <p:cNvSpPr/>
            <p:nvPr userDrawn="1"/>
          </p:nvSpPr>
          <p:spPr>
            <a:xfrm>
              <a:off x="11110161" y="271713"/>
              <a:ext cx="792461" cy="1745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D36248D3-C9F9-2E48-343A-538FF200D90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54054" y="243918"/>
              <a:ext cx="705665" cy="225906"/>
            </a:xfrm>
            <a:prstGeom prst="rect">
              <a:avLst/>
            </a:prstGeom>
          </p:spPr>
        </p:pic>
      </p:grpSp>
    </p:spTree>
    <p:extLst>
      <p:ext uri="{BB962C8B-B14F-4D97-AF65-F5344CB8AC3E}">
        <p14:creationId xmlns:p14="http://schemas.microsoft.com/office/powerpoint/2010/main" val="1994410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93D78-DC8C-4E22-835E-A6F8C3BDC612}"/>
              </a:ext>
            </a:extLst>
          </p:cNvPr>
          <p:cNvSpPr>
            <a:spLocks noGrp="1"/>
          </p:cNvSpPr>
          <p:nvPr>
            <p:ph type="title" hasCustomPrompt="1"/>
          </p:nvPr>
        </p:nvSpPr>
        <p:spPr>
          <a:xfrm>
            <a:off x="609600" y="471141"/>
            <a:ext cx="10972800" cy="847449"/>
          </a:xfrm>
        </p:spPr>
        <p:txBody>
          <a:bodyPr>
            <a:normAutofit/>
          </a:bodyPr>
          <a:lstStyle>
            <a:lvl1pPr>
              <a:defRPr sz="3200" b="1">
                <a:solidFill>
                  <a:srgbClr val="004568"/>
                </a:solidFill>
              </a:defRPr>
            </a:lvl1pPr>
          </a:lstStyle>
          <a:p>
            <a:r>
              <a:rPr lang="en-US" dirty="0"/>
              <a:t>Click to edit title</a:t>
            </a:r>
          </a:p>
        </p:txBody>
      </p:sp>
      <p:sp>
        <p:nvSpPr>
          <p:cNvPr id="3" name="Content Placeholder 2">
            <a:extLst>
              <a:ext uri="{FF2B5EF4-FFF2-40B4-BE49-F238E27FC236}">
                <a16:creationId xmlns:a16="http://schemas.microsoft.com/office/drawing/2014/main" id="{33E8A24C-6CFD-41F9-B51F-E89A184E3F30}"/>
              </a:ext>
            </a:extLst>
          </p:cNvPr>
          <p:cNvSpPr>
            <a:spLocks noGrp="1"/>
          </p:cNvSpPr>
          <p:nvPr>
            <p:ph idx="1"/>
          </p:nvPr>
        </p:nvSpPr>
        <p:spPr>
          <a:xfrm>
            <a:off x="609599" y="1408680"/>
            <a:ext cx="10972801" cy="4913949"/>
          </a:xfrm>
        </p:spPr>
        <p:txBody>
          <a:bodyPr/>
          <a:lstStyle>
            <a:lvl1pPr>
              <a:defRPr sz="2400" b="1">
                <a:solidFill>
                  <a:srgbClr val="004568"/>
                </a:solidFill>
              </a:defRPr>
            </a:lvl1pPr>
            <a:lvl2pPr>
              <a:defRPr sz="2000">
                <a:solidFill>
                  <a:srgbClr val="004568"/>
                </a:solidFill>
              </a:defRPr>
            </a:lvl2pPr>
            <a:lvl3pPr>
              <a:defRPr sz="1800" b="0">
                <a:solidFill>
                  <a:srgbClr val="004568"/>
                </a:solidFill>
              </a:defRPr>
            </a:lvl3pPr>
            <a:lvl4pPr>
              <a:defRPr sz="1600">
                <a:solidFill>
                  <a:srgbClr val="004568"/>
                </a:solidFill>
              </a:defRPr>
            </a:lvl4pPr>
            <a:lvl5pPr>
              <a:defRPr sz="1600">
                <a:solidFill>
                  <a:srgbClr val="00456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Slide Number Placeholder 6">
            <a:extLst>
              <a:ext uri="{FF2B5EF4-FFF2-40B4-BE49-F238E27FC236}">
                <a16:creationId xmlns:a16="http://schemas.microsoft.com/office/drawing/2014/main" id="{3D57DA96-4AD1-4F8B-8C12-B6B272FB79FD}"/>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sp>
        <p:nvSpPr>
          <p:cNvPr id="34" name="TextBox 33">
            <a:extLst>
              <a:ext uri="{FF2B5EF4-FFF2-40B4-BE49-F238E27FC236}">
                <a16:creationId xmlns:a16="http://schemas.microsoft.com/office/drawing/2014/main" id="{4F63C806-8B40-42A7-95AA-4E30ABCCC815}"/>
              </a:ext>
            </a:extLst>
          </p:cNvPr>
          <p:cNvSpPr txBox="1"/>
          <p:nvPr userDrawn="1"/>
        </p:nvSpPr>
        <p:spPr>
          <a:xfrm rot="16200000">
            <a:off x="-846620" y="4913804"/>
            <a:ext cx="2140924" cy="466716"/>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35" name="TextBox 34">
            <a:extLst>
              <a:ext uri="{FF2B5EF4-FFF2-40B4-BE49-F238E27FC236}">
                <a16:creationId xmlns:a16="http://schemas.microsoft.com/office/drawing/2014/main" id="{5E2E6800-C9CE-465F-8B72-3FA1216033B7}"/>
              </a:ext>
            </a:extLst>
          </p:cNvPr>
          <p:cNvSpPr txBox="1"/>
          <p:nvPr userDrawn="1"/>
        </p:nvSpPr>
        <p:spPr>
          <a:xfrm>
            <a:off x="771528" y="6531937"/>
            <a:ext cx="1946272" cy="307777"/>
          </a:xfrm>
          <a:prstGeom prst="rect">
            <a:avLst/>
          </a:prstGeom>
          <a:noFill/>
        </p:spPr>
        <p:txBody>
          <a:bodyPr wrap="square" rtlCol="0">
            <a:spAutoFit/>
          </a:bodyPr>
          <a:lstStyle/>
          <a:p>
            <a:r>
              <a:rPr lang="en-US" sz="1400" kern="1200" dirty="0">
                <a:solidFill>
                  <a:schemeClr val="bg1"/>
                </a:solidFill>
                <a:effectLst>
                  <a:outerShdw blurRad="38100" dist="38100" dir="2700000" algn="tl">
                    <a:srgbClr val="000000">
                      <a:alpha val="43137"/>
                    </a:srgbClr>
                  </a:outerShdw>
                </a:effectLst>
                <a:latin typeface="+mn-lt"/>
                <a:ea typeface="+mn-ea"/>
                <a:cs typeface="+mn-cs"/>
              </a:rPr>
              <a:t>https://GWG.NGA.MIL</a:t>
            </a:r>
          </a:p>
        </p:txBody>
      </p:sp>
      <p:grpSp>
        <p:nvGrpSpPr>
          <p:cNvPr id="45" name="Group 44">
            <a:extLst>
              <a:ext uri="{FF2B5EF4-FFF2-40B4-BE49-F238E27FC236}">
                <a16:creationId xmlns:a16="http://schemas.microsoft.com/office/drawing/2014/main" id="{422832F5-CD39-4AE3-8974-44926088A79C}"/>
              </a:ext>
            </a:extLst>
          </p:cNvPr>
          <p:cNvGrpSpPr/>
          <p:nvPr userDrawn="1"/>
        </p:nvGrpSpPr>
        <p:grpSpPr>
          <a:xfrm>
            <a:off x="0" y="6307714"/>
            <a:ext cx="12196750" cy="296772"/>
            <a:chOff x="0" y="6307714"/>
            <a:chExt cx="12196750" cy="296772"/>
          </a:xfrm>
        </p:grpSpPr>
        <p:sp>
          <p:nvSpPr>
            <p:cNvPr id="46" name="Rectangle 45">
              <a:extLst>
                <a:ext uri="{FF2B5EF4-FFF2-40B4-BE49-F238E27FC236}">
                  <a16:creationId xmlns:a16="http://schemas.microsoft.com/office/drawing/2014/main" id="{9171387D-A996-4A04-886D-A1ADD844A114}"/>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BB617C64-210E-46E0-A9A5-9036A31C2030}"/>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490E7990-E7AD-4678-A07E-8684A6B236B1}"/>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9" name="Rectangle 48">
              <a:extLst>
                <a:ext uri="{FF2B5EF4-FFF2-40B4-BE49-F238E27FC236}">
                  <a16:creationId xmlns:a16="http://schemas.microsoft.com/office/drawing/2014/main" id="{F340906E-E31B-401B-9CC9-DD71427C3767}"/>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E97D5B7D-DE60-458F-853F-ABEFC0302A86}"/>
              </a:ext>
            </a:extLst>
          </p:cNvPr>
          <p:cNvGrpSpPr/>
          <p:nvPr userDrawn="1"/>
        </p:nvGrpSpPr>
        <p:grpSpPr>
          <a:xfrm>
            <a:off x="3184" y="213128"/>
            <a:ext cx="12196750" cy="296772"/>
            <a:chOff x="0" y="6307714"/>
            <a:chExt cx="12196750" cy="296772"/>
          </a:xfrm>
        </p:grpSpPr>
        <p:sp>
          <p:nvSpPr>
            <p:cNvPr id="51" name="Rectangle 50">
              <a:extLst>
                <a:ext uri="{FF2B5EF4-FFF2-40B4-BE49-F238E27FC236}">
                  <a16:creationId xmlns:a16="http://schemas.microsoft.com/office/drawing/2014/main" id="{7FF2BEB4-1F95-4AD8-BBDA-356CBD11A67E}"/>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E31F962-E58F-49ED-8ADC-D2C4C0D1618F}"/>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E1829895-0BEC-41A8-8A12-344937273D1E}"/>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Rectangle 53">
              <a:extLst>
                <a:ext uri="{FF2B5EF4-FFF2-40B4-BE49-F238E27FC236}">
                  <a16:creationId xmlns:a16="http://schemas.microsoft.com/office/drawing/2014/main" id="{28FDDC99-CB52-4C54-A932-3BAF694D9D3D}"/>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0003CF40-250E-CF80-5E94-92BEF49C48ED}"/>
              </a:ext>
            </a:extLst>
          </p:cNvPr>
          <p:cNvGrpSpPr/>
          <p:nvPr userDrawn="1"/>
        </p:nvGrpSpPr>
        <p:grpSpPr>
          <a:xfrm>
            <a:off x="11049000" y="243918"/>
            <a:ext cx="894714" cy="225906"/>
            <a:chOff x="11049000" y="243918"/>
            <a:chExt cx="894714" cy="225906"/>
          </a:xfrm>
        </p:grpSpPr>
        <p:sp>
          <p:nvSpPr>
            <p:cNvPr id="6" name="Rectangle 5">
              <a:extLst>
                <a:ext uri="{FF2B5EF4-FFF2-40B4-BE49-F238E27FC236}">
                  <a16:creationId xmlns:a16="http://schemas.microsoft.com/office/drawing/2014/main" id="{389F229F-B9AB-98B2-A9BB-9265C15C3EE4}"/>
                </a:ext>
              </a:extLst>
            </p:cNvPr>
            <p:cNvSpPr/>
            <p:nvPr userDrawn="1"/>
          </p:nvSpPr>
          <p:spPr>
            <a:xfrm>
              <a:off x="11049000" y="261332"/>
              <a:ext cx="894714" cy="195627"/>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7672493-69F4-8221-75FB-8064ACF6A0F1}"/>
                </a:ext>
              </a:extLst>
            </p:cNvPr>
            <p:cNvSpPr/>
            <p:nvPr userDrawn="1"/>
          </p:nvSpPr>
          <p:spPr>
            <a:xfrm>
              <a:off x="11110161" y="271713"/>
              <a:ext cx="792461" cy="1745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2CCCD170-9B25-3256-41A3-B5F1B90256C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54054" y="243918"/>
              <a:ext cx="705665" cy="225906"/>
            </a:xfrm>
            <a:prstGeom prst="rect">
              <a:avLst/>
            </a:prstGeom>
          </p:spPr>
        </p:pic>
      </p:grpSp>
    </p:spTree>
    <p:extLst>
      <p:ext uri="{BB962C8B-B14F-4D97-AF65-F5344CB8AC3E}">
        <p14:creationId xmlns:p14="http://schemas.microsoft.com/office/powerpoint/2010/main" val="4105275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93D78-DC8C-4E22-835E-A6F8C3BDC612}"/>
              </a:ext>
            </a:extLst>
          </p:cNvPr>
          <p:cNvSpPr>
            <a:spLocks noGrp="1"/>
          </p:cNvSpPr>
          <p:nvPr>
            <p:ph type="title" hasCustomPrompt="1"/>
          </p:nvPr>
        </p:nvSpPr>
        <p:spPr>
          <a:xfrm>
            <a:off x="609600" y="477767"/>
            <a:ext cx="10972800" cy="847449"/>
          </a:xfrm>
        </p:spPr>
        <p:txBody>
          <a:bodyPr>
            <a:normAutofit/>
          </a:bodyPr>
          <a:lstStyle>
            <a:lvl1pPr>
              <a:defRPr sz="3200" b="1">
                <a:solidFill>
                  <a:srgbClr val="004568"/>
                </a:solidFill>
              </a:defRPr>
            </a:lvl1pPr>
          </a:lstStyle>
          <a:p>
            <a:r>
              <a:rPr lang="en-US" dirty="0"/>
              <a:t>Click to edit title</a:t>
            </a:r>
          </a:p>
        </p:txBody>
      </p:sp>
      <p:sp>
        <p:nvSpPr>
          <p:cNvPr id="3" name="Content Placeholder 2">
            <a:extLst>
              <a:ext uri="{FF2B5EF4-FFF2-40B4-BE49-F238E27FC236}">
                <a16:creationId xmlns:a16="http://schemas.microsoft.com/office/drawing/2014/main" id="{33E8A24C-6CFD-41F9-B51F-E89A184E3F30}"/>
              </a:ext>
            </a:extLst>
          </p:cNvPr>
          <p:cNvSpPr>
            <a:spLocks noGrp="1"/>
          </p:cNvSpPr>
          <p:nvPr>
            <p:ph idx="1"/>
          </p:nvPr>
        </p:nvSpPr>
        <p:spPr>
          <a:xfrm>
            <a:off x="609599" y="1368923"/>
            <a:ext cx="10972801" cy="5190211"/>
          </a:xfrm>
        </p:spPr>
        <p:txBody>
          <a:bodyPr/>
          <a:lstStyle>
            <a:lvl1pPr>
              <a:defRPr sz="2400" b="1">
                <a:solidFill>
                  <a:srgbClr val="004568"/>
                </a:solidFill>
              </a:defRPr>
            </a:lvl1pPr>
            <a:lvl2pPr>
              <a:defRPr sz="2000">
                <a:solidFill>
                  <a:srgbClr val="004568"/>
                </a:solidFill>
              </a:defRPr>
            </a:lvl2pPr>
            <a:lvl3pPr>
              <a:defRPr sz="1800" b="0">
                <a:solidFill>
                  <a:srgbClr val="004568"/>
                </a:solidFill>
              </a:defRPr>
            </a:lvl3pPr>
            <a:lvl4pPr>
              <a:defRPr sz="1600">
                <a:solidFill>
                  <a:srgbClr val="004568"/>
                </a:solidFill>
              </a:defRPr>
            </a:lvl4pPr>
            <a:lvl5pPr>
              <a:defRPr sz="1600">
                <a:solidFill>
                  <a:srgbClr val="00456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Slide Number Placeholder 6">
            <a:extLst>
              <a:ext uri="{FF2B5EF4-FFF2-40B4-BE49-F238E27FC236}">
                <a16:creationId xmlns:a16="http://schemas.microsoft.com/office/drawing/2014/main" id="{3D57DA96-4AD1-4F8B-8C12-B6B272FB79FD}"/>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grpSp>
        <p:nvGrpSpPr>
          <p:cNvPr id="50" name="Group 49">
            <a:extLst>
              <a:ext uri="{FF2B5EF4-FFF2-40B4-BE49-F238E27FC236}">
                <a16:creationId xmlns:a16="http://schemas.microsoft.com/office/drawing/2014/main" id="{E97D5B7D-DE60-458F-853F-ABEFC0302A86}"/>
              </a:ext>
            </a:extLst>
          </p:cNvPr>
          <p:cNvGrpSpPr/>
          <p:nvPr userDrawn="1"/>
        </p:nvGrpSpPr>
        <p:grpSpPr>
          <a:xfrm>
            <a:off x="3184" y="213128"/>
            <a:ext cx="12196750" cy="296772"/>
            <a:chOff x="0" y="6307714"/>
            <a:chExt cx="12196750" cy="296772"/>
          </a:xfrm>
        </p:grpSpPr>
        <p:sp>
          <p:nvSpPr>
            <p:cNvPr id="51" name="Rectangle 50">
              <a:extLst>
                <a:ext uri="{FF2B5EF4-FFF2-40B4-BE49-F238E27FC236}">
                  <a16:creationId xmlns:a16="http://schemas.microsoft.com/office/drawing/2014/main" id="{7FF2BEB4-1F95-4AD8-BBDA-356CBD11A67E}"/>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E31F962-E58F-49ED-8ADC-D2C4C0D1618F}"/>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E1829895-0BEC-41A8-8A12-344937273D1E}"/>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Rectangle 53">
              <a:extLst>
                <a:ext uri="{FF2B5EF4-FFF2-40B4-BE49-F238E27FC236}">
                  <a16:creationId xmlns:a16="http://schemas.microsoft.com/office/drawing/2014/main" id="{28FDDC99-CB52-4C54-A932-3BAF694D9D3D}"/>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48D56813-97F5-4C3C-4C73-4BAB72CE114A}"/>
              </a:ext>
            </a:extLst>
          </p:cNvPr>
          <p:cNvGrpSpPr/>
          <p:nvPr userDrawn="1"/>
        </p:nvGrpSpPr>
        <p:grpSpPr>
          <a:xfrm>
            <a:off x="11049000" y="243918"/>
            <a:ext cx="894714" cy="225906"/>
            <a:chOff x="11049000" y="243918"/>
            <a:chExt cx="894714" cy="225906"/>
          </a:xfrm>
        </p:grpSpPr>
        <p:sp>
          <p:nvSpPr>
            <p:cNvPr id="6" name="Rectangle 5">
              <a:extLst>
                <a:ext uri="{FF2B5EF4-FFF2-40B4-BE49-F238E27FC236}">
                  <a16:creationId xmlns:a16="http://schemas.microsoft.com/office/drawing/2014/main" id="{B44C3A7B-E64E-621F-A62C-141920CEF420}"/>
                </a:ext>
              </a:extLst>
            </p:cNvPr>
            <p:cNvSpPr/>
            <p:nvPr userDrawn="1"/>
          </p:nvSpPr>
          <p:spPr>
            <a:xfrm>
              <a:off x="11049000" y="261332"/>
              <a:ext cx="894714" cy="195627"/>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EBAC983-821B-F173-7107-833A3AE6B7D3}"/>
                </a:ext>
              </a:extLst>
            </p:cNvPr>
            <p:cNvSpPr/>
            <p:nvPr userDrawn="1"/>
          </p:nvSpPr>
          <p:spPr>
            <a:xfrm>
              <a:off x="11110161" y="271713"/>
              <a:ext cx="792461" cy="1745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46AC90E-874E-1A27-25D4-7152554E2DB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54054" y="243918"/>
              <a:ext cx="705665" cy="225906"/>
            </a:xfrm>
            <a:prstGeom prst="rect">
              <a:avLst/>
            </a:prstGeom>
          </p:spPr>
        </p:pic>
      </p:grpSp>
    </p:spTree>
    <p:extLst>
      <p:ext uri="{BB962C8B-B14F-4D97-AF65-F5344CB8AC3E}">
        <p14:creationId xmlns:p14="http://schemas.microsoft.com/office/powerpoint/2010/main" val="807697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93D78-DC8C-4E22-835E-A6F8C3BDC612}"/>
              </a:ext>
            </a:extLst>
          </p:cNvPr>
          <p:cNvSpPr>
            <a:spLocks noGrp="1"/>
          </p:cNvSpPr>
          <p:nvPr>
            <p:ph type="title" hasCustomPrompt="1"/>
          </p:nvPr>
        </p:nvSpPr>
        <p:spPr>
          <a:xfrm>
            <a:off x="609600" y="107583"/>
            <a:ext cx="10972800" cy="768718"/>
          </a:xfrm>
        </p:spPr>
        <p:txBody>
          <a:bodyPr>
            <a:normAutofit/>
          </a:bodyPr>
          <a:lstStyle>
            <a:lvl1pPr>
              <a:defRPr sz="3200" b="1">
                <a:solidFill>
                  <a:srgbClr val="004568"/>
                </a:solidFill>
              </a:defRPr>
            </a:lvl1pPr>
          </a:lstStyle>
          <a:p>
            <a:r>
              <a:rPr lang="en-US" dirty="0"/>
              <a:t>Click to edit title</a:t>
            </a:r>
          </a:p>
        </p:txBody>
      </p:sp>
      <p:sp>
        <p:nvSpPr>
          <p:cNvPr id="3" name="Content Placeholder 2">
            <a:extLst>
              <a:ext uri="{FF2B5EF4-FFF2-40B4-BE49-F238E27FC236}">
                <a16:creationId xmlns:a16="http://schemas.microsoft.com/office/drawing/2014/main" id="{33E8A24C-6CFD-41F9-B51F-E89A184E3F30}"/>
              </a:ext>
            </a:extLst>
          </p:cNvPr>
          <p:cNvSpPr>
            <a:spLocks noGrp="1"/>
          </p:cNvSpPr>
          <p:nvPr>
            <p:ph idx="1"/>
          </p:nvPr>
        </p:nvSpPr>
        <p:spPr>
          <a:xfrm>
            <a:off x="609599" y="1034555"/>
            <a:ext cx="10972801" cy="5458319"/>
          </a:xfrm>
        </p:spPr>
        <p:txBody>
          <a:bodyPr/>
          <a:lstStyle>
            <a:lvl1pPr>
              <a:defRPr sz="2400" b="1">
                <a:solidFill>
                  <a:srgbClr val="004568"/>
                </a:solidFill>
              </a:defRPr>
            </a:lvl1pPr>
            <a:lvl2pPr>
              <a:defRPr sz="2000">
                <a:solidFill>
                  <a:srgbClr val="004568"/>
                </a:solidFill>
              </a:defRPr>
            </a:lvl2pPr>
            <a:lvl3pPr>
              <a:defRPr sz="1800" b="0">
                <a:solidFill>
                  <a:srgbClr val="004568"/>
                </a:solidFill>
              </a:defRPr>
            </a:lvl3pPr>
            <a:lvl4pPr>
              <a:defRPr sz="1600">
                <a:solidFill>
                  <a:srgbClr val="004568"/>
                </a:solidFill>
              </a:defRPr>
            </a:lvl4pPr>
            <a:lvl5pPr>
              <a:defRPr sz="1600">
                <a:solidFill>
                  <a:srgbClr val="00456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Slide Number Placeholder 6">
            <a:extLst>
              <a:ext uri="{FF2B5EF4-FFF2-40B4-BE49-F238E27FC236}">
                <a16:creationId xmlns:a16="http://schemas.microsoft.com/office/drawing/2014/main" id="{3D57DA96-4AD1-4F8B-8C12-B6B272FB79FD}"/>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cxnSp>
        <p:nvCxnSpPr>
          <p:cNvPr id="9" name="Straight Connector 8">
            <a:extLst>
              <a:ext uri="{FF2B5EF4-FFF2-40B4-BE49-F238E27FC236}">
                <a16:creationId xmlns:a16="http://schemas.microsoft.com/office/drawing/2014/main" id="{7153B8C9-DBB9-3E32-50C5-A2CA06FDF4FC}"/>
              </a:ext>
            </a:extLst>
          </p:cNvPr>
          <p:cNvCxnSpPr/>
          <p:nvPr userDrawn="1"/>
        </p:nvCxnSpPr>
        <p:spPr>
          <a:xfrm>
            <a:off x="609600" y="944880"/>
            <a:ext cx="1097279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0908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93D78-DC8C-4E22-835E-A6F8C3BDC612}"/>
              </a:ext>
            </a:extLst>
          </p:cNvPr>
          <p:cNvSpPr>
            <a:spLocks noGrp="1"/>
          </p:cNvSpPr>
          <p:nvPr>
            <p:ph type="title" hasCustomPrompt="1"/>
          </p:nvPr>
        </p:nvSpPr>
        <p:spPr>
          <a:xfrm>
            <a:off x="609600" y="107582"/>
            <a:ext cx="10972800" cy="847449"/>
          </a:xfrm>
        </p:spPr>
        <p:txBody>
          <a:bodyPr>
            <a:normAutofit/>
          </a:bodyPr>
          <a:lstStyle>
            <a:lvl1pPr>
              <a:defRPr sz="3200" b="1">
                <a:solidFill>
                  <a:srgbClr val="004568"/>
                </a:solidFill>
              </a:defRPr>
            </a:lvl1pPr>
          </a:lstStyle>
          <a:p>
            <a:r>
              <a:rPr lang="en-US" dirty="0"/>
              <a:t>Click to edit title</a:t>
            </a:r>
          </a:p>
        </p:txBody>
      </p:sp>
      <p:sp>
        <p:nvSpPr>
          <p:cNvPr id="33" name="Slide Number Placeholder 6">
            <a:extLst>
              <a:ext uri="{FF2B5EF4-FFF2-40B4-BE49-F238E27FC236}">
                <a16:creationId xmlns:a16="http://schemas.microsoft.com/office/drawing/2014/main" id="{3D57DA96-4AD1-4F8B-8C12-B6B272FB79FD}"/>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spTree>
    <p:extLst>
      <p:ext uri="{BB962C8B-B14F-4D97-AF65-F5344CB8AC3E}">
        <p14:creationId xmlns:p14="http://schemas.microsoft.com/office/powerpoint/2010/main" val="3736754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3" name="Slide Number Placeholder 6">
            <a:extLst>
              <a:ext uri="{FF2B5EF4-FFF2-40B4-BE49-F238E27FC236}">
                <a16:creationId xmlns:a16="http://schemas.microsoft.com/office/drawing/2014/main" id="{3D57DA96-4AD1-4F8B-8C12-B6B272FB79FD}"/>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spTree>
    <p:extLst>
      <p:ext uri="{BB962C8B-B14F-4D97-AF65-F5344CB8AC3E}">
        <p14:creationId xmlns:p14="http://schemas.microsoft.com/office/powerpoint/2010/main" val="1900117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DD78C9D-7AC8-4C04-8DED-A62AED4BA4F2}"/>
              </a:ext>
            </a:extLst>
          </p:cNvPr>
          <p:cNvSpPr>
            <a:spLocks noGrp="1"/>
          </p:cNvSpPr>
          <p:nvPr>
            <p:ph type="title"/>
          </p:nvPr>
        </p:nvSpPr>
        <p:spPr>
          <a:xfrm>
            <a:off x="1524000" y="365125"/>
            <a:ext cx="9829800" cy="879475"/>
          </a:xfrm>
        </p:spPr>
        <p:txBody>
          <a:bodyPr>
            <a:normAutofit/>
          </a:bodyPr>
          <a:lstStyle>
            <a:lvl1pPr>
              <a:defRPr sz="3200" b="1">
                <a:solidFill>
                  <a:srgbClr val="004568"/>
                </a:solidFill>
              </a:defRPr>
            </a:lvl1pPr>
          </a:lstStyle>
          <a:p>
            <a:r>
              <a:rPr lang="en-US"/>
              <a:t>Click to edit Master title style</a:t>
            </a:r>
            <a:endParaRPr lang="en-US" dirty="0"/>
          </a:p>
        </p:txBody>
      </p:sp>
      <p:sp>
        <p:nvSpPr>
          <p:cNvPr id="20" name="Slide Number Placeholder 6">
            <a:extLst>
              <a:ext uri="{FF2B5EF4-FFF2-40B4-BE49-F238E27FC236}">
                <a16:creationId xmlns:a16="http://schemas.microsoft.com/office/drawing/2014/main" id="{A2E6E51E-D122-45BA-8F27-7E8A136C5F00}"/>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sp>
        <p:nvSpPr>
          <p:cNvPr id="21" name="TextBox 20">
            <a:extLst>
              <a:ext uri="{FF2B5EF4-FFF2-40B4-BE49-F238E27FC236}">
                <a16:creationId xmlns:a16="http://schemas.microsoft.com/office/drawing/2014/main" id="{C16F052F-39EB-4388-8CCB-54AADC8D3923}"/>
              </a:ext>
            </a:extLst>
          </p:cNvPr>
          <p:cNvSpPr txBox="1"/>
          <p:nvPr userDrawn="1"/>
        </p:nvSpPr>
        <p:spPr>
          <a:xfrm rot="16200000">
            <a:off x="-846620" y="4913804"/>
            <a:ext cx="2140924" cy="466716"/>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22" name="TextBox 21">
            <a:extLst>
              <a:ext uri="{FF2B5EF4-FFF2-40B4-BE49-F238E27FC236}">
                <a16:creationId xmlns:a16="http://schemas.microsoft.com/office/drawing/2014/main" id="{2CFD7819-F2B8-4411-B17D-09030A9734E2}"/>
              </a:ext>
            </a:extLst>
          </p:cNvPr>
          <p:cNvSpPr txBox="1"/>
          <p:nvPr userDrawn="1"/>
        </p:nvSpPr>
        <p:spPr>
          <a:xfrm>
            <a:off x="771528" y="6531937"/>
            <a:ext cx="1946272" cy="307777"/>
          </a:xfrm>
          <a:prstGeom prst="rect">
            <a:avLst/>
          </a:prstGeom>
          <a:noFill/>
        </p:spPr>
        <p:txBody>
          <a:bodyPr wrap="square" rtlCol="0">
            <a:spAutoFit/>
          </a:bodyPr>
          <a:lstStyle/>
          <a:p>
            <a:r>
              <a:rPr lang="en-US" sz="1400" kern="1200" dirty="0">
                <a:solidFill>
                  <a:schemeClr val="bg1"/>
                </a:solidFill>
                <a:effectLst>
                  <a:outerShdw blurRad="38100" dist="38100" dir="2700000" algn="tl">
                    <a:srgbClr val="000000">
                      <a:alpha val="43137"/>
                    </a:srgbClr>
                  </a:outerShdw>
                </a:effectLst>
                <a:latin typeface="+mn-lt"/>
                <a:ea typeface="+mn-ea"/>
                <a:cs typeface="+mn-cs"/>
              </a:rPr>
              <a:t>https://GWG.NGA.MIL</a:t>
            </a:r>
          </a:p>
        </p:txBody>
      </p:sp>
      <p:grpSp>
        <p:nvGrpSpPr>
          <p:cNvPr id="33" name="Group 32">
            <a:extLst>
              <a:ext uri="{FF2B5EF4-FFF2-40B4-BE49-F238E27FC236}">
                <a16:creationId xmlns:a16="http://schemas.microsoft.com/office/drawing/2014/main" id="{97A49CE0-2531-4AC3-A5CB-ACEE9635CC86}"/>
              </a:ext>
            </a:extLst>
          </p:cNvPr>
          <p:cNvGrpSpPr/>
          <p:nvPr userDrawn="1"/>
        </p:nvGrpSpPr>
        <p:grpSpPr>
          <a:xfrm>
            <a:off x="0" y="6307714"/>
            <a:ext cx="12196750" cy="296772"/>
            <a:chOff x="0" y="6307714"/>
            <a:chExt cx="12196750" cy="296772"/>
          </a:xfrm>
        </p:grpSpPr>
        <p:sp>
          <p:nvSpPr>
            <p:cNvPr id="34" name="Rectangle 33">
              <a:extLst>
                <a:ext uri="{FF2B5EF4-FFF2-40B4-BE49-F238E27FC236}">
                  <a16:creationId xmlns:a16="http://schemas.microsoft.com/office/drawing/2014/main" id="{CCA3E0CD-B941-4189-A964-0CCFBF1E584A}"/>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78189621-C979-4B48-814E-6DDF7C6E66A1}"/>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F1FA450E-9A04-4EF6-A2B0-6A86772E8894}"/>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 name="Rectangle 36">
              <a:extLst>
                <a:ext uri="{FF2B5EF4-FFF2-40B4-BE49-F238E27FC236}">
                  <a16:creationId xmlns:a16="http://schemas.microsoft.com/office/drawing/2014/main" id="{288B6065-3404-49F0-B746-7588CCD66C14}"/>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AC7F04CA-D683-4D39-B532-017ABAA9F610}"/>
              </a:ext>
            </a:extLst>
          </p:cNvPr>
          <p:cNvGrpSpPr/>
          <p:nvPr userDrawn="1"/>
        </p:nvGrpSpPr>
        <p:grpSpPr>
          <a:xfrm>
            <a:off x="3184" y="213128"/>
            <a:ext cx="12196750" cy="296772"/>
            <a:chOff x="0" y="6307714"/>
            <a:chExt cx="12196750" cy="296772"/>
          </a:xfrm>
        </p:grpSpPr>
        <p:sp>
          <p:nvSpPr>
            <p:cNvPr id="39" name="Rectangle 38">
              <a:extLst>
                <a:ext uri="{FF2B5EF4-FFF2-40B4-BE49-F238E27FC236}">
                  <a16:creationId xmlns:a16="http://schemas.microsoft.com/office/drawing/2014/main" id="{20BF02A9-3BF7-4A11-A2F9-EDAB6B169605}"/>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B79FF35-30EE-4E86-96DF-942A7F004534}"/>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0905BEAD-45D8-42BF-B488-177DE36738F7}"/>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Rectangle 41">
              <a:extLst>
                <a:ext uri="{FF2B5EF4-FFF2-40B4-BE49-F238E27FC236}">
                  <a16:creationId xmlns:a16="http://schemas.microsoft.com/office/drawing/2014/main" id="{FAE89B9A-877F-4B60-983B-D46B18BFBF3E}"/>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1" name="Picture 30">
            <a:extLst>
              <a:ext uri="{FF2B5EF4-FFF2-40B4-BE49-F238E27FC236}">
                <a16:creationId xmlns:a16="http://schemas.microsoft.com/office/drawing/2014/main" id="{EE99621A-CA80-426D-ACE4-AF819F18C9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917" t="1141" r="22812" b="1459"/>
          <a:stretch/>
        </p:blipFill>
        <p:spPr>
          <a:xfrm>
            <a:off x="285568" y="152586"/>
            <a:ext cx="1105264" cy="1113376"/>
          </a:xfrm>
          <a:prstGeom prst="rect">
            <a:avLst/>
          </a:prstGeom>
        </p:spPr>
      </p:pic>
      <p:grpSp>
        <p:nvGrpSpPr>
          <p:cNvPr id="2" name="Group 1">
            <a:extLst>
              <a:ext uri="{FF2B5EF4-FFF2-40B4-BE49-F238E27FC236}">
                <a16:creationId xmlns:a16="http://schemas.microsoft.com/office/drawing/2014/main" id="{4F7D631C-2572-E35D-BF3A-F05DD62E706D}"/>
              </a:ext>
            </a:extLst>
          </p:cNvPr>
          <p:cNvGrpSpPr/>
          <p:nvPr userDrawn="1"/>
        </p:nvGrpSpPr>
        <p:grpSpPr>
          <a:xfrm>
            <a:off x="11049000" y="243918"/>
            <a:ext cx="894714" cy="225906"/>
            <a:chOff x="11049000" y="243918"/>
            <a:chExt cx="894714" cy="225906"/>
          </a:xfrm>
        </p:grpSpPr>
        <p:sp>
          <p:nvSpPr>
            <p:cNvPr id="3" name="Rectangle 2">
              <a:extLst>
                <a:ext uri="{FF2B5EF4-FFF2-40B4-BE49-F238E27FC236}">
                  <a16:creationId xmlns:a16="http://schemas.microsoft.com/office/drawing/2014/main" id="{69DAD65F-DE74-0526-82FA-C3D73E5A81E1}"/>
                </a:ext>
              </a:extLst>
            </p:cNvPr>
            <p:cNvSpPr/>
            <p:nvPr userDrawn="1"/>
          </p:nvSpPr>
          <p:spPr>
            <a:xfrm>
              <a:off x="11049000" y="261332"/>
              <a:ext cx="894714" cy="195627"/>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2629354-31E0-8BF5-695D-51EDA649D31D}"/>
                </a:ext>
              </a:extLst>
            </p:cNvPr>
            <p:cNvSpPr/>
            <p:nvPr userDrawn="1"/>
          </p:nvSpPr>
          <p:spPr>
            <a:xfrm>
              <a:off x="11110161" y="271713"/>
              <a:ext cx="792461" cy="1745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1B563F4-1BA0-D73D-6CBE-1E3CEB11082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54054" y="243918"/>
              <a:ext cx="705665" cy="225906"/>
            </a:xfrm>
            <a:prstGeom prst="rect">
              <a:avLst/>
            </a:prstGeom>
          </p:spPr>
        </p:pic>
      </p:grpSp>
    </p:spTree>
    <p:extLst>
      <p:ext uri="{BB962C8B-B14F-4D97-AF65-F5344CB8AC3E}">
        <p14:creationId xmlns:p14="http://schemas.microsoft.com/office/powerpoint/2010/main" val="1217012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A79DA34-9356-43CB-B40B-12BD918141EA}"/>
              </a:ext>
            </a:extLst>
          </p:cNvPr>
          <p:cNvSpPr>
            <a:spLocks noGrp="1"/>
          </p:cNvSpPr>
          <p:nvPr>
            <p:ph sz="half" idx="2"/>
          </p:nvPr>
        </p:nvSpPr>
        <p:spPr>
          <a:xfrm>
            <a:off x="6172200" y="1825625"/>
            <a:ext cx="5181600" cy="4351338"/>
          </a:xfrm>
        </p:spPr>
        <p:txBody>
          <a:bodyPr/>
          <a:lstStyle>
            <a:lvl1pPr>
              <a:defRPr>
                <a:solidFill>
                  <a:srgbClr val="004568"/>
                </a:solidFill>
              </a:defRPr>
            </a:lvl1pPr>
            <a:lvl2pPr>
              <a:defRPr>
                <a:solidFill>
                  <a:srgbClr val="004568"/>
                </a:solidFill>
              </a:defRPr>
            </a:lvl2pPr>
            <a:lvl3pPr>
              <a:defRPr>
                <a:solidFill>
                  <a:srgbClr val="004568"/>
                </a:solidFill>
              </a:defRPr>
            </a:lvl3pPr>
            <a:lvl4pPr>
              <a:defRPr>
                <a:solidFill>
                  <a:srgbClr val="004568"/>
                </a:solidFill>
              </a:defRPr>
            </a:lvl4pPr>
            <a:lvl5pPr>
              <a:defRPr>
                <a:solidFill>
                  <a:srgbClr val="00456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3DA7A9-9DFA-434E-856B-05CF0041609A}"/>
              </a:ext>
            </a:extLst>
          </p:cNvPr>
          <p:cNvSpPr>
            <a:spLocks noGrp="1"/>
          </p:cNvSpPr>
          <p:nvPr>
            <p:ph type="sldNum" sz="quarter" idx="12"/>
          </p:nvPr>
        </p:nvSpPr>
        <p:spPr>
          <a:xfrm>
            <a:off x="10401300" y="6540053"/>
            <a:ext cx="952500" cy="307777"/>
          </a:xfrm>
        </p:spPr>
        <p:txBody>
          <a:bodyPr/>
          <a:lstStyle/>
          <a:p>
            <a:fld id="{04ED54F0-D36E-4641-8B3F-1547866DED2E}" type="slidenum">
              <a:rPr lang="en-US" smtClean="0"/>
              <a:t>‹#›</a:t>
            </a:fld>
            <a:endParaRPr lang="en-US"/>
          </a:p>
        </p:txBody>
      </p:sp>
      <p:sp>
        <p:nvSpPr>
          <p:cNvPr id="8" name="Title 1">
            <a:extLst>
              <a:ext uri="{FF2B5EF4-FFF2-40B4-BE49-F238E27FC236}">
                <a16:creationId xmlns:a16="http://schemas.microsoft.com/office/drawing/2014/main" id="{0810CBD2-9AEB-474E-B872-0BA178B05366}"/>
              </a:ext>
            </a:extLst>
          </p:cNvPr>
          <p:cNvSpPr>
            <a:spLocks noGrp="1"/>
          </p:cNvSpPr>
          <p:nvPr>
            <p:ph type="title"/>
          </p:nvPr>
        </p:nvSpPr>
        <p:spPr>
          <a:xfrm>
            <a:off x="1524000" y="360947"/>
            <a:ext cx="9829800" cy="879475"/>
          </a:xfrm>
        </p:spPr>
        <p:txBody>
          <a:bodyPr>
            <a:normAutofit/>
          </a:bodyPr>
          <a:lstStyle>
            <a:lvl1pPr>
              <a:defRPr sz="3200" b="1">
                <a:solidFill>
                  <a:srgbClr val="004568"/>
                </a:solidFill>
              </a:defRPr>
            </a:lvl1pPr>
          </a:lstStyle>
          <a:p>
            <a:r>
              <a:rPr lang="en-US"/>
              <a:t>Click to edit Master title style</a:t>
            </a:r>
            <a:endParaRPr lang="en-US" dirty="0"/>
          </a:p>
        </p:txBody>
      </p:sp>
      <p:sp>
        <p:nvSpPr>
          <p:cNvPr id="18" name="TextBox 17">
            <a:extLst>
              <a:ext uri="{FF2B5EF4-FFF2-40B4-BE49-F238E27FC236}">
                <a16:creationId xmlns:a16="http://schemas.microsoft.com/office/drawing/2014/main" id="{732EF416-7468-45AF-A20F-3266F9363843}"/>
              </a:ext>
            </a:extLst>
          </p:cNvPr>
          <p:cNvSpPr txBox="1"/>
          <p:nvPr userDrawn="1"/>
        </p:nvSpPr>
        <p:spPr>
          <a:xfrm rot="16200000">
            <a:off x="-846620" y="4913804"/>
            <a:ext cx="2140924" cy="466716"/>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19" name="TextBox 18">
            <a:extLst>
              <a:ext uri="{FF2B5EF4-FFF2-40B4-BE49-F238E27FC236}">
                <a16:creationId xmlns:a16="http://schemas.microsoft.com/office/drawing/2014/main" id="{D8DC3DD0-7303-4481-83AB-EE8364F7FA68}"/>
              </a:ext>
            </a:extLst>
          </p:cNvPr>
          <p:cNvSpPr txBox="1"/>
          <p:nvPr userDrawn="1"/>
        </p:nvSpPr>
        <p:spPr>
          <a:xfrm>
            <a:off x="771528" y="6531937"/>
            <a:ext cx="1946272" cy="307777"/>
          </a:xfrm>
          <a:prstGeom prst="rect">
            <a:avLst/>
          </a:prstGeom>
          <a:noFill/>
        </p:spPr>
        <p:txBody>
          <a:bodyPr wrap="square" rtlCol="0">
            <a:spAutoFit/>
          </a:bodyPr>
          <a:lstStyle/>
          <a:p>
            <a:r>
              <a:rPr lang="en-US" sz="1400" kern="1200" dirty="0">
                <a:solidFill>
                  <a:schemeClr val="bg1"/>
                </a:solidFill>
                <a:effectLst>
                  <a:outerShdw blurRad="38100" dist="38100" dir="2700000" algn="tl">
                    <a:srgbClr val="000000">
                      <a:alpha val="43137"/>
                    </a:srgbClr>
                  </a:outerShdw>
                </a:effectLst>
                <a:latin typeface="+mn-lt"/>
                <a:ea typeface="+mn-ea"/>
                <a:cs typeface="+mn-cs"/>
              </a:rPr>
              <a:t>https://GWG.NGA.MIL</a:t>
            </a:r>
          </a:p>
        </p:txBody>
      </p:sp>
      <p:grpSp>
        <p:nvGrpSpPr>
          <p:cNvPr id="22" name="Group 21">
            <a:extLst>
              <a:ext uri="{FF2B5EF4-FFF2-40B4-BE49-F238E27FC236}">
                <a16:creationId xmlns:a16="http://schemas.microsoft.com/office/drawing/2014/main" id="{2D0F6CCB-A185-469B-92DD-3DED1E3DD935}"/>
              </a:ext>
            </a:extLst>
          </p:cNvPr>
          <p:cNvGrpSpPr/>
          <p:nvPr userDrawn="1"/>
        </p:nvGrpSpPr>
        <p:grpSpPr>
          <a:xfrm>
            <a:off x="0" y="6307714"/>
            <a:ext cx="12192001" cy="296772"/>
            <a:chOff x="0" y="6310165"/>
            <a:chExt cx="12192001" cy="296772"/>
          </a:xfrm>
        </p:grpSpPr>
        <p:sp>
          <p:nvSpPr>
            <p:cNvPr id="23" name="Rectangle 22">
              <a:extLst>
                <a:ext uri="{FF2B5EF4-FFF2-40B4-BE49-F238E27FC236}">
                  <a16:creationId xmlns:a16="http://schemas.microsoft.com/office/drawing/2014/main" id="{DC2F2CDC-A5F3-47D5-AF84-CE32184F0B81}"/>
                </a:ext>
              </a:extLst>
            </p:cNvPr>
            <p:cNvSpPr/>
            <p:nvPr/>
          </p:nvSpPr>
          <p:spPr>
            <a:xfrm>
              <a:off x="1" y="6400800"/>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75E7DD0-FC61-4EFD-A412-B25680E36E3E}"/>
                </a:ext>
              </a:extLst>
            </p:cNvPr>
            <p:cNvSpPr/>
            <p:nvPr/>
          </p:nvSpPr>
          <p:spPr>
            <a:xfrm>
              <a:off x="0" y="6561218"/>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Rectangle 24">
              <a:extLst>
                <a:ext uri="{FF2B5EF4-FFF2-40B4-BE49-F238E27FC236}">
                  <a16:creationId xmlns:a16="http://schemas.microsoft.com/office/drawing/2014/main" id="{C6441969-A168-4B56-9988-5B02DC0B6041}"/>
                </a:ext>
              </a:extLst>
            </p:cNvPr>
            <p:cNvSpPr/>
            <p:nvPr/>
          </p:nvSpPr>
          <p:spPr>
            <a:xfrm>
              <a:off x="0" y="6310165"/>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84A0653-B6FF-4274-A61F-C72413DFEDEA}"/>
              </a:ext>
            </a:extLst>
          </p:cNvPr>
          <p:cNvGrpSpPr/>
          <p:nvPr userDrawn="1"/>
        </p:nvGrpSpPr>
        <p:grpSpPr>
          <a:xfrm>
            <a:off x="3184" y="213128"/>
            <a:ext cx="12196750" cy="296772"/>
            <a:chOff x="0" y="6307714"/>
            <a:chExt cx="12196750" cy="296772"/>
          </a:xfrm>
        </p:grpSpPr>
        <p:sp>
          <p:nvSpPr>
            <p:cNvPr id="31" name="Rectangle 30">
              <a:extLst>
                <a:ext uri="{FF2B5EF4-FFF2-40B4-BE49-F238E27FC236}">
                  <a16:creationId xmlns:a16="http://schemas.microsoft.com/office/drawing/2014/main" id="{EE3B5559-2366-4D4E-9212-718042F34B86}"/>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7740F54-EFCB-44B2-9940-88B5619A8049}"/>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5D3371AD-8771-4F8D-949A-4AE0BECFA677}"/>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4" name="Rectangle 33">
              <a:extLst>
                <a:ext uri="{FF2B5EF4-FFF2-40B4-BE49-F238E27FC236}">
                  <a16:creationId xmlns:a16="http://schemas.microsoft.com/office/drawing/2014/main" id="{C8089467-CDD3-4AE4-A6E3-E927F0D1A56D}"/>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1" name="Picture 20">
            <a:extLst>
              <a:ext uri="{FF2B5EF4-FFF2-40B4-BE49-F238E27FC236}">
                <a16:creationId xmlns:a16="http://schemas.microsoft.com/office/drawing/2014/main" id="{CB7009CC-FD56-4485-9D97-CDB0F3A1C7D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917" t="1141" r="22812" b="1459"/>
          <a:stretch/>
        </p:blipFill>
        <p:spPr>
          <a:xfrm>
            <a:off x="285568" y="152586"/>
            <a:ext cx="1105264" cy="1113376"/>
          </a:xfrm>
          <a:prstGeom prst="rect">
            <a:avLst/>
          </a:prstGeom>
        </p:spPr>
      </p:pic>
      <p:sp>
        <p:nvSpPr>
          <p:cNvPr id="35" name="Content Placeholder 3">
            <a:extLst>
              <a:ext uri="{FF2B5EF4-FFF2-40B4-BE49-F238E27FC236}">
                <a16:creationId xmlns:a16="http://schemas.microsoft.com/office/drawing/2014/main" id="{CECF2870-3AF3-42F3-8BAD-0CB470144172}"/>
              </a:ext>
            </a:extLst>
          </p:cNvPr>
          <p:cNvSpPr>
            <a:spLocks noGrp="1"/>
          </p:cNvSpPr>
          <p:nvPr>
            <p:ph sz="half" idx="13"/>
          </p:nvPr>
        </p:nvSpPr>
        <p:spPr>
          <a:xfrm>
            <a:off x="771528" y="1825625"/>
            <a:ext cx="5181600" cy="4351338"/>
          </a:xfrm>
        </p:spPr>
        <p:txBody>
          <a:bodyPr/>
          <a:lstStyle>
            <a:lvl1pPr>
              <a:defRPr>
                <a:solidFill>
                  <a:srgbClr val="004568"/>
                </a:solidFill>
              </a:defRPr>
            </a:lvl1pPr>
            <a:lvl2pPr>
              <a:defRPr>
                <a:solidFill>
                  <a:srgbClr val="004568"/>
                </a:solidFill>
              </a:defRPr>
            </a:lvl2pPr>
            <a:lvl3pPr>
              <a:defRPr>
                <a:solidFill>
                  <a:srgbClr val="004568"/>
                </a:solidFill>
              </a:defRPr>
            </a:lvl3pPr>
            <a:lvl4pPr>
              <a:defRPr>
                <a:solidFill>
                  <a:srgbClr val="004568"/>
                </a:solidFill>
              </a:defRPr>
            </a:lvl4pPr>
            <a:lvl5pPr>
              <a:defRPr>
                <a:solidFill>
                  <a:srgbClr val="00456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2" name="Group 1">
            <a:extLst>
              <a:ext uri="{FF2B5EF4-FFF2-40B4-BE49-F238E27FC236}">
                <a16:creationId xmlns:a16="http://schemas.microsoft.com/office/drawing/2014/main" id="{224B2A73-6138-4037-2142-D1CF4D7D9AF3}"/>
              </a:ext>
            </a:extLst>
          </p:cNvPr>
          <p:cNvGrpSpPr/>
          <p:nvPr userDrawn="1"/>
        </p:nvGrpSpPr>
        <p:grpSpPr>
          <a:xfrm>
            <a:off x="11049000" y="243918"/>
            <a:ext cx="894714" cy="225906"/>
            <a:chOff x="11049000" y="243918"/>
            <a:chExt cx="894714" cy="225906"/>
          </a:xfrm>
        </p:grpSpPr>
        <p:sp>
          <p:nvSpPr>
            <p:cNvPr id="3" name="Rectangle 2">
              <a:extLst>
                <a:ext uri="{FF2B5EF4-FFF2-40B4-BE49-F238E27FC236}">
                  <a16:creationId xmlns:a16="http://schemas.microsoft.com/office/drawing/2014/main" id="{2590105F-599E-8B72-C035-15F4FC679691}"/>
                </a:ext>
              </a:extLst>
            </p:cNvPr>
            <p:cNvSpPr/>
            <p:nvPr userDrawn="1"/>
          </p:nvSpPr>
          <p:spPr>
            <a:xfrm>
              <a:off x="11049000" y="261332"/>
              <a:ext cx="894714" cy="195627"/>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E07C01F-6B6E-629C-B4E5-0677C2F35F60}"/>
                </a:ext>
              </a:extLst>
            </p:cNvPr>
            <p:cNvSpPr/>
            <p:nvPr userDrawn="1"/>
          </p:nvSpPr>
          <p:spPr>
            <a:xfrm>
              <a:off x="11110161" y="271713"/>
              <a:ext cx="792461" cy="1745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1576785-4ED0-80C3-7BD9-B4A45799992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54054" y="243918"/>
              <a:ext cx="705665" cy="225906"/>
            </a:xfrm>
            <a:prstGeom prst="rect">
              <a:avLst/>
            </a:prstGeom>
          </p:spPr>
        </p:pic>
      </p:grpSp>
    </p:spTree>
    <p:extLst>
      <p:ext uri="{BB962C8B-B14F-4D97-AF65-F5344CB8AC3E}">
        <p14:creationId xmlns:p14="http://schemas.microsoft.com/office/powerpoint/2010/main" val="2739293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1_Title Slide">
    <p:bg>
      <p:bgPr>
        <a:gradFill>
          <a:gsLst>
            <a:gs pos="56000">
              <a:srgbClr val="D2F0FF"/>
            </a:gs>
            <a:gs pos="85000">
              <a:srgbClr val="66ACCE"/>
            </a:gs>
            <a:gs pos="0">
              <a:schemeClr val="bg1"/>
            </a:gs>
            <a:gs pos="100000">
              <a:srgbClr val="006699"/>
            </a:gs>
          </a:gsLst>
          <a:lin ang="5400000" scaled="1"/>
        </a:gra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BA0FAD3-9A34-4CB0-9D81-85815BEB44A8}"/>
              </a:ext>
            </a:extLst>
          </p:cNvPr>
          <p:cNvSpPr>
            <a:spLocks noGrp="1"/>
          </p:cNvSpPr>
          <p:nvPr>
            <p:ph type="subTitle" idx="1" hasCustomPrompt="1"/>
          </p:nvPr>
        </p:nvSpPr>
        <p:spPr>
          <a:xfrm>
            <a:off x="1524000" y="4279901"/>
            <a:ext cx="9144000" cy="1322548"/>
          </a:xfrm>
        </p:spPr>
        <p:txBody>
          <a:bodyPr>
            <a:normAutofit/>
          </a:bodyPr>
          <a:lstStyle>
            <a:lvl1pPr marL="0" indent="0" algn="l">
              <a:buNone/>
              <a:defRPr sz="2800">
                <a:solidFill>
                  <a:srgbClr val="00456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3" name="TextBox 12">
            <a:extLst>
              <a:ext uri="{FF2B5EF4-FFF2-40B4-BE49-F238E27FC236}">
                <a16:creationId xmlns:a16="http://schemas.microsoft.com/office/drawing/2014/main" id="{C9563D97-F493-4569-A84D-4131E73CEBC6}"/>
              </a:ext>
            </a:extLst>
          </p:cNvPr>
          <p:cNvSpPr txBox="1"/>
          <p:nvPr userDrawn="1"/>
        </p:nvSpPr>
        <p:spPr>
          <a:xfrm rot="16200000">
            <a:off x="-822806" y="4889990"/>
            <a:ext cx="2140924" cy="514344"/>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2" name="Title 1">
            <a:extLst>
              <a:ext uri="{FF2B5EF4-FFF2-40B4-BE49-F238E27FC236}">
                <a16:creationId xmlns:a16="http://schemas.microsoft.com/office/drawing/2014/main" id="{2987555B-4872-4DB3-B44F-1E9D8CE3E51B}"/>
              </a:ext>
            </a:extLst>
          </p:cNvPr>
          <p:cNvSpPr>
            <a:spLocks noGrp="1"/>
          </p:cNvSpPr>
          <p:nvPr>
            <p:ph type="ctrTitle" hasCustomPrompt="1"/>
          </p:nvPr>
        </p:nvSpPr>
        <p:spPr>
          <a:xfrm>
            <a:off x="1524000" y="2603499"/>
            <a:ext cx="9144000" cy="1122443"/>
          </a:xfrm>
        </p:spPr>
        <p:txBody>
          <a:bodyPr anchor="b">
            <a:normAutofit/>
          </a:bodyPr>
          <a:lstStyle>
            <a:lvl1pPr algn="l">
              <a:defRPr sz="4400" b="0">
                <a:solidFill>
                  <a:srgbClr val="003B58"/>
                </a:solidFill>
              </a:defRPr>
            </a:lvl1pPr>
          </a:lstStyle>
          <a:p>
            <a:r>
              <a:rPr lang="en-US" dirty="0"/>
              <a:t>Click to edit subsection title</a:t>
            </a:r>
          </a:p>
        </p:txBody>
      </p:sp>
      <p:sp>
        <p:nvSpPr>
          <p:cNvPr id="17" name="TextBox 16">
            <a:extLst>
              <a:ext uri="{FF2B5EF4-FFF2-40B4-BE49-F238E27FC236}">
                <a16:creationId xmlns:a16="http://schemas.microsoft.com/office/drawing/2014/main" id="{EF960FB7-9849-4601-B8CC-A0A9C90992D4}"/>
              </a:ext>
            </a:extLst>
          </p:cNvPr>
          <p:cNvSpPr txBox="1"/>
          <p:nvPr userDrawn="1"/>
        </p:nvSpPr>
        <p:spPr>
          <a:xfrm>
            <a:off x="504828" y="6561237"/>
            <a:ext cx="3517900" cy="307777"/>
          </a:xfrm>
          <a:prstGeom prst="rect">
            <a:avLst/>
          </a:prstGeom>
          <a:noFill/>
        </p:spPr>
        <p:txBody>
          <a:bodyPr wrap="square" rtlCol="0">
            <a:spAutoFit/>
          </a:bodyPr>
          <a:lstStyle/>
          <a:p>
            <a:r>
              <a:rPr lang="en-US" sz="1400" kern="1200" dirty="0">
                <a:solidFill>
                  <a:schemeClr val="bg1">
                    <a:lumMod val="95000"/>
                  </a:schemeClr>
                </a:solidFill>
                <a:effectLst>
                  <a:outerShdw blurRad="38100" dist="38100" dir="2700000" algn="tl">
                    <a:srgbClr val="000000">
                      <a:alpha val="43137"/>
                    </a:srgbClr>
                  </a:outerShdw>
                </a:effectLst>
                <a:latin typeface="+mn-lt"/>
                <a:ea typeface="+mn-ea"/>
                <a:cs typeface="+mn-cs"/>
              </a:rPr>
              <a:t>https://GWG.NGA.MIL</a:t>
            </a:r>
          </a:p>
        </p:txBody>
      </p:sp>
      <p:sp>
        <p:nvSpPr>
          <p:cNvPr id="19" name="Slide Number Placeholder 6">
            <a:extLst>
              <a:ext uri="{FF2B5EF4-FFF2-40B4-BE49-F238E27FC236}">
                <a16:creationId xmlns:a16="http://schemas.microsoft.com/office/drawing/2014/main" id="{0B46B3CB-C919-45BC-9BC3-A831B230A1B7}"/>
              </a:ext>
            </a:extLst>
          </p:cNvPr>
          <p:cNvSpPr>
            <a:spLocks noGrp="1"/>
          </p:cNvSpPr>
          <p:nvPr>
            <p:ph type="sldNum" sz="quarter" idx="12"/>
          </p:nvPr>
        </p:nvSpPr>
        <p:spPr>
          <a:xfrm>
            <a:off x="10401300" y="6540053"/>
            <a:ext cx="952500" cy="307777"/>
          </a:xfrm>
        </p:spPr>
        <p:txBody>
          <a:bodyPr/>
          <a:lstStyle>
            <a:lvl1pPr>
              <a:defRPr>
                <a:solidFill>
                  <a:schemeClr val="bg1"/>
                </a:solidFill>
              </a:defRPr>
            </a:lvl1pPr>
          </a:lstStyle>
          <a:p>
            <a:fld id="{04ED54F0-D36E-4641-8B3F-1547866DED2E}" type="slidenum">
              <a:rPr lang="en-US" smtClean="0"/>
              <a:pPr/>
              <a:t>‹#›</a:t>
            </a:fld>
            <a:endParaRPr lang="en-US"/>
          </a:p>
        </p:txBody>
      </p:sp>
      <p:grpSp>
        <p:nvGrpSpPr>
          <p:cNvPr id="21" name="Group 20">
            <a:extLst>
              <a:ext uri="{FF2B5EF4-FFF2-40B4-BE49-F238E27FC236}">
                <a16:creationId xmlns:a16="http://schemas.microsoft.com/office/drawing/2014/main" id="{189FD6AE-EF45-41BA-AF0E-E4DC9137D821}"/>
              </a:ext>
            </a:extLst>
          </p:cNvPr>
          <p:cNvGrpSpPr/>
          <p:nvPr userDrawn="1"/>
        </p:nvGrpSpPr>
        <p:grpSpPr>
          <a:xfrm>
            <a:off x="0" y="6307714"/>
            <a:ext cx="12196750" cy="296772"/>
            <a:chOff x="0" y="6307714"/>
            <a:chExt cx="12196750" cy="296772"/>
          </a:xfrm>
        </p:grpSpPr>
        <p:sp>
          <p:nvSpPr>
            <p:cNvPr id="22" name="Rectangle 21">
              <a:extLst>
                <a:ext uri="{FF2B5EF4-FFF2-40B4-BE49-F238E27FC236}">
                  <a16:creationId xmlns:a16="http://schemas.microsoft.com/office/drawing/2014/main" id="{1DB3021D-81FE-4B24-9267-3B328B931542}"/>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B445371-458A-41D3-AFF3-5BDF91A9E6A5}"/>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ECEFFF7F-ADCC-4663-A8BB-75B4548B1E82}"/>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Rectangle 24">
              <a:extLst>
                <a:ext uri="{FF2B5EF4-FFF2-40B4-BE49-F238E27FC236}">
                  <a16:creationId xmlns:a16="http://schemas.microsoft.com/office/drawing/2014/main" id="{19619044-2D52-45C7-8439-1750A553914A}"/>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CECD7D44-209D-4EA0-A868-B20CAA8BE0E9}"/>
              </a:ext>
            </a:extLst>
          </p:cNvPr>
          <p:cNvGrpSpPr/>
          <p:nvPr userDrawn="1"/>
        </p:nvGrpSpPr>
        <p:grpSpPr>
          <a:xfrm>
            <a:off x="3184" y="213128"/>
            <a:ext cx="12196750" cy="296772"/>
            <a:chOff x="0" y="6307714"/>
            <a:chExt cx="12196750" cy="296772"/>
          </a:xfrm>
        </p:grpSpPr>
        <p:sp>
          <p:nvSpPr>
            <p:cNvPr id="27" name="Rectangle 26">
              <a:extLst>
                <a:ext uri="{FF2B5EF4-FFF2-40B4-BE49-F238E27FC236}">
                  <a16:creationId xmlns:a16="http://schemas.microsoft.com/office/drawing/2014/main" id="{2F34123C-78F3-47CD-B351-5F18F396B3AA}"/>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762B5C9-58EF-4C19-A5B1-36E57EE3ECAF}"/>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D98A612B-ADEB-4430-9B6F-A1D0ADA8B7B8}"/>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0" name="Rectangle 29">
              <a:extLst>
                <a:ext uri="{FF2B5EF4-FFF2-40B4-BE49-F238E27FC236}">
                  <a16:creationId xmlns:a16="http://schemas.microsoft.com/office/drawing/2014/main" id="{1777AF46-44D1-4134-B324-DBDC7D5504AA}"/>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2D185A67-14A7-4E55-8FA2-1860C189B25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812" t="581" r="23021" b="581"/>
          <a:stretch/>
        </p:blipFill>
        <p:spPr>
          <a:xfrm>
            <a:off x="250828" y="336489"/>
            <a:ext cx="2610257" cy="2673412"/>
          </a:xfrm>
          <a:prstGeom prst="rect">
            <a:avLst/>
          </a:prstGeom>
        </p:spPr>
      </p:pic>
    </p:spTree>
    <p:extLst>
      <p:ext uri="{BB962C8B-B14F-4D97-AF65-F5344CB8AC3E}">
        <p14:creationId xmlns:p14="http://schemas.microsoft.com/office/powerpoint/2010/main" val="16999728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Slide">
    <p:bg>
      <p:bgPr>
        <a:gradFill>
          <a:gsLst>
            <a:gs pos="56000">
              <a:srgbClr val="D2F0FF"/>
            </a:gs>
            <a:gs pos="85000">
              <a:srgbClr val="66ACCE"/>
            </a:gs>
            <a:gs pos="0">
              <a:schemeClr val="bg1"/>
            </a:gs>
            <a:gs pos="100000">
              <a:srgbClr val="006699"/>
            </a:gs>
          </a:gsLst>
          <a:lin ang="5400000" scaled="1"/>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60B398B-037A-CC2E-AED6-8601CA24B354}"/>
              </a:ext>
            </a:extLst>
          </p:cNvPr>
          <p:cNvGrpSpPr/>
          <p:nvPr userDrawn="1"/>
        </p:nvGrpSpPr>
        <p:grpSpPr>
          <a:xfrm>
            <a:off x="4903098" y="1160942"/>
            <a:ext cx="7150723" cy="1018251"/>
            <a:chOff x="2339942" y="1330348"/>
            <a:chExt cx="7150723" cy="1018251"/>
          </a:xfrm>
        </p:grpSpPr>
        <p:pic>
          <p:nvPicPr>
            <p:cNvPr id="5" name="Picture 4">
              <a:extLst>
                <a:ext uri="{FF2B5EF4-FFF2-40B4-BE49-F238E27FC236}">
                  <a16:creationId xmlns:a16="http://schemas.microsoft.com/office/drawing/2014/main" id="{92E794E0-FA81-1EF8-8F37-0892EF52579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39942" y="1330348"/>
              <a:ext cx="3180723" cy="1018251"/>
            </a:xfrm>
            <a:prstGeom prst="rect">
              <a:avLst/>
            </a:prstGeom>
          </p:spPr>
        </p:pic>
        <p:sp>
          <p:nvSpPr>
            <p:cNvPr id="6" name="TextBox 5">
              <a:extLst>
                <a:ext uri="{FF2B5EF4-FFF2-40B4-BE49-F238E27FC236}">
                  <a16:creationId xmlns:a16="http://schemas.microsoft.com/office/drawing/2014/main" id="{5F617BF7-F131-F5F7-FEF2-D09F6DE722B1}"/>
                </a:ext>
              </a:extLst>
            </p:cNvPr>
            <p:cNvSpPr txBox="1"/>
            <p:nvPr/>
          </p:nvSpPr>
          <p:spPr>
            <a:xfrm>
              <a:off x="5395917" y="1514906"/>
              <a:ext cx="4094748" cy="646331"/>
            </a:xfrm>
            <a:prstGeom prst="rect">
              <a:avLst/>
            </a:prstGeom>
            <a:noFill/>
          </p:spPr>
          <p:txBody>
            <a:bodyPr wrap="square">
              <a:spAutoFit/>
            </a:bodyPr>
            <a:lstStyle/>
            <a:p>
              <a:pPr algn="ctr"/>
              <a:r>
                <a:rPr lang="en-US" sz="1800" b="1" dirty="0">
                  <a:solidFill>
                    <a:srgbClr val="0033CC"/>
                  </a:solidFill>
                  <a:latin typeface="Arial Black" panose="020B0A04020102020204" pitchFamily="34" charset="0"/>
                  <a:cs typeface="Aldhabi" panose="020F0502020204030204" pitchFamily="2" charset="-78"/>
                </a:rPr>
                <a:t>G</a:t>
              </a:r>
              <a:r>
                <a:rPr lang="en-US" sz="1800" b="1" dirty="0">
                  <a:latin typeface="Arial Black" panose="020B0A04020102020204" pitchFamily="34" charset="0"/>
                  <a:cs typeface="Aldhabi" panose="020F0502020204030204" pitchFamily="2" charset="-78"/>
                </a:rPr>
                <a:t>eospatial-Intelligence </a:t>
              </a:r>
              <a:r>
                <a:rPr lang="en-US" sz="1800" b="1" dirty="0">
                  <a:solidFill>
                    <a:srgbClr val="0033CC"/>
                  </a:solidFill>
                  <a:latin typeface="Arial Black" panose="020B0A04020102020204" pitchFamily="34" charset="0"/>
                  <a:cs typeface="Aldhabi" panose="020F0502020204030204" pitchFamily="2" charset="-78"/>
                </a:rPr>
                <a:t>M</a:t>
              </a:r>
              <a:r>
                <a:rPr lang="en-US" sz="1800" b="1" dirty="0">
                  <a:latin typeface="Arial Black" panose="020B0A04020102020204" pitchFamily="34" charset="0"/>
                  <a:cs typeface="Aldhabi" panose="020F0502020204030204" pitchFamily="2" charset="-78"/>
                </a:rPr>
                <a:t>edia</a:t>
              </a:r>
            </a:p>
            <a:p>
              <a:pPr algn="ctr"/>
              <a:r>
                <a:rPr lang="en-US" sz="1800" b="1" dirty="0">
                  <a:solidFill>
                    <a:srgbClr val="0033CC"/>
                  </a:solidFill>
                  <a:latin typeface="Arial Black" panose="020B0A04020102020204" pitchFamily="34" charset="0"/>
                  <a:cs typeface="Aldhabi" panose="020F0502020204030204" pitchFamily="2" charset="-78"/>
                </a:rPr>
                <a:t>S</a:t>
              </a:r>
              <a:r>
                <a:rPr lang="en-US" sz="1800" b="1" dirty="0">
                  <a:latin typeface="Arial Black" panose="020B0A04020102020204" pitchFamily="34" charset="0"/>
                  <a:cs typeface="Aldhabi" panose="020F0502020204030204" pitchFamily="2" charset="-78"/>
                </a:rPr>
                <a:t>tandards </a:t>
              </a:r>
              <a:r>
                <a:rPr lang="en-US" sz="1800" b="1" dirty="0">
                  <a:solidFill>
                    <a:srgbClr val="0033CC"/>
                  </a:solidFill>
                  <a:latin typeface="Arial Black" panose="020B0A04020102020204" pitchFamily="34" charset="0"/>
                  <a:cs typeface="Aldhabi" panose="020F0502020204030204" pitchFamily="2" charset="-78"/>
                </a:rPr>
                <a:t>B</a:t>
              </a:r>
              <a:r>
                <a:rPr lang="en-US" sz="1800" b="1" dirty="0">
                  <a:latin typeface="Arial Black" panose="020B0A04020102020204" pitchFamily="34" charset="0"/>
                  <a:cs typeface="Aldhabi" panose="020F0502020204030204" pitchFamily="2" charset="-78"/>
                </a:rPr>
                <a:t>oard</a:t>
              </a:r>
              <a:endParaRPr lang="en-US" sz="5400" b="1" dirty="0">
                <a:latin typeface="Arial Black" panose="020B0A04020102020204" pitchFamily="34" charset="0"/>
                <a:cs typeface="Aldhabi" panose="020F0502020204030204" pitchFamily="2" charset="-78"/>
              </a:endParaRPr>
            </a:p>
          </p:txBody>
        </p:sp>
      </p:grpSp>
      <p:sp>
        <p:nvSpPr>
          <p:cNvPr id="13" name="TextBox 12">
            <a:extLst>
              <a:ext uri="{FF2B5EF4-FFF2-40B4-BE49-F238E27FC236}">
                <a16:creationId xmlns:a16="http://schemas.microsoft.com/office/drawing/2014/main" id="{C9563D97-F493-4569-A84D-4131E73CEBC6}"/>
              </a:ext>
            </a:extLst>
          </p:cNvPr>
          <p:cNvSpPr txBox="1"/>
          <p:nvPr userDrawn="1"/>
        </p:nvSpPr>
        <p:spPr>
          <a:xfrm rot="16200000">
            <a:off x="-822806" y="4889990"/>
            <a:ext cx="2140924" cy="514344"/>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17" name="TextBox 16">
            <a:extLst>
              <a:ext uri="{FF2B5EF4-FFF2-40B4-BE49-F238E27FC236}">
                <a16:creationId xmlns:a16="http://schemas.microsoft.com/office/drawing/2014/main" id="{EF960FB7-9849-4601-B8CC-A0A9C90992D4}"/>
              </a:ext>
            </a:extLst>
          </p:cNvPr>
          <p:cNvSpPr txBox="1"/>
          <p:nvPr userDrawn="1"/>
        </p:nvSpPr>
        <p:spPr>
          <a:xfrm>
            <a:off x="504828" y="6561237"/>
            <a:ext cx="3517900" cy="307777"/>
          </a:xfrm>
          <a:prstGeom prst="rect">
            <a:avLst/>
          </a:prstGeom>
          <a:noFill/>
        </p:spPr>
        <p:txBody>
          <a:bodyPr wrap="square" rtlCol="0">
            <a:spAutoFit/>
          </a:bodyPr>
          <a:lstStyle/>
          <a:p>
            <a:r>
              <a:rPr lang="en-US" sz="1400" kern="1200" dirty="0">
                <a:solidFill>
                  <a:schemeClr val="bg1">
                    <a:lumMod val="95000"/>
                  </a:schemeClr>
                </a:solidFill>
                <a:effectLst>
                  <a:outerShdw blurRad="38100" dist="38100" dir="2700000" algn="tl">
                    <a:srgbClr val="000000">
                      <a:alpha val="43137"/>
                    </a:srgbClr>
                  </a:outerShdw>
                </a:effectLst>
                <a:latin typeface="+mn-lt"/>
                <a:ea typeface="+mn-ea"/>
                <a:cs typeface="+mn-cs"/>
              </a:rPr>
              <a:t>https://GWG.NGA.MIL</a:t>
            </a:r>
          </a:p>
        </p:txBody>
      </p:sp>
      <p:sp>
        <p:nvSpPr>
          <p:cNvPr id="19" name="Slide Number Placeholder 6">
            <a:extLst>
              <a:ext uri="{FF2B5EF4-FFF2-40B4-BE49-F238E27FC236}">
                <a16:creationId xmlns:a16="http://schemas.microsoft.com/office/drawing/2014/main" id="{0B46B3CB-C919-45BC-9BC3-A831B230A1B7}"/>
              </a:ext>
            </a:extLst>
          </p:cNvPr>
          <p:cNvSpPr>
            <a:spLocks noGrp="1"/>
          </p:cNvSpPr>
          <p:nvPr>
            <p:ph type="sldNum" sz="quarter" idx="12"/>
          </p:nvPr>
        </p:nvSpPr>
        <p:spPr>
          <a:xfrm>
            <a:off x="10401300" y="6540053"/>
            <a:ext cx="952500" cy="307777"/>
          </a:xfrm>
        </p:spPr>
        <p:txBody>
          <a:bodyPr/>
          <a:lstStyle>
            <a:lvl1pPr>
              <a:defRPr>
                <a:solidFill>
                  <a:schemeClr val="bg1"/>
                </a:solidFill>
              </a:defRPr>
            </a:lvl1pPr>
          </a:lstStyle>
          <a:p>
            <a:fld id="{04ED54F0-D36E-4641-8B3F-1547866DED2E}" type="slidenum">
              <a:rPr lang="en-US" smtClean="0"/>
              <a:pPr/>
              <a:t>‹#›</a:t>
            </a:fld>
            <a:endParaRPr lang="en-US"/>
          </a:p>
        </p:txBody>
      </p:sp>
      <p:grpSp>
        <p:nvGrpSpPr>
          <p:cNvPr id="21" name="Group 20">
            <a:extLst>
              <a:ext uri="{FF2B5EF4-FFF2-40B4-BE49-F238E27FC236}">
                <a16:creationId xmlns:a16="http://schemas.microsoft.com/office/drawing/2014/main" id="{189FD6AE-EF45-41BA-AF0E-E4DC9137D821}"/>
              </a:ext>
            </a:extLst>
          </p:cNvPr>
          <p:cNvGrpSpPr/>
          <p:nvPr userDrawn="1"/>
        </p:nvGrpSpPr>
        <p:grpSpPr>
          <a:xfrm>
            <a:off x="0" y="6307714"/>
            <a:ext cx="12196750" cy="296772"/>
            <a:chOff x="0" y="6307714"/>
            <a:chExt cx="12196750" cy="296772"/>
          </a:xfrm>
        </p:grpSpPr>
        <p:sp>
          <p:nvSpPr>
            <p:cNvPr id="22" name="Rectangle 21">
              <a:extLst>
                <a:ext uri="{FF2B5EF4-FFF2-40B4-BE49-F238E27FC236}">
                  <a16:creationId xmlns:a16="http://schemas.microsoft.com/office/drawing/2014/main" id="{1DB3021D-81FE-4B24-9267-3B328B931542}"/>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B445371-458A-41D3-AFF3-5BDF91A9E6A5}"/>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ECEFFF7F-ADCC-4663-A8BB-75B4548B1E82}"/>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Rectangle 24">
              <a:extLst>
                <a:ext uri="{FF2B5EF4-FFF2-40B4-BE49-F238E27FC236}">
                  <a16:creationId xmlns:a16="http://schemas.microsoft.com/office/drawing/2014/main" id="{19619044-2D52-45C7-8439-1750A553914A}"/>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CECD7D44-209D-4EA0-A868-B20CAA8BE0E9}"/>
              </a:ext>
            </a:extLst>
          </p:cNvPr>
          <p:cNvGrpSpPr/>
          <p:nvPr userDrawn="1"/>
        </p:nvGrpSpPr>
        <p:grpSpPr>
          <a:xfrm>
            <a:off x="3184" y="213128"/>
            <a:ext cx="12196750" cy="296772"/>
            <a:chOff x="0" y="6307714"/>
            <a:chExt cx="12196750" cy="296772"/>
          </a:xfrm>
        </p:grpSpPr>
        <p:sp>
          <p:nvSpPr>
            <p:cNvPr id="27" name="Rectangle 26">
              <a:extLst>
                <a:ext uri="{FF2B5EF4-FFF2-40B4-BE49-F238E27FC236}">
                  <a16:creationId xmlns:a16="http://schemas.microsoft.com/office/drawing/2014/main" id="{2F34123C-78F3-47CD-B351-5F18F396B3AA}"/>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762B5C9-58EF-4C19-A5B1-36E57EE3ECAF}"/>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D98A612B-ADEB-4430-9B6F-A1D0ADA8B7B8}"/>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0" name="Rectangle 29">
              <a:extLst>
                <a:ext uri="{FF2B5EF4-FFF2-40B4-BE49-F238E27FC236}">
                  <a16:creationId xmlns:a16="http://schemas.microsoft.com/office/drawing/2014/main" id="{1777AF46-44D1-4134-B324-DBDC7D5504AA}"/>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2D185A67-14A7-4E55-8FA2-1860C189B25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2812" t="581" r="23021" b="581"/>
          <a:stretch/>
        </p:blipFill>
        <p:spPr>
          <a:xfrm>
            <a:off x="250828" y="336489"/>
            <a:ext cx="2610257" cy="2673412"/>
          </a:xfrm>
          <a:prstGeom prst="rect">
            <a:avLst/>
          </a:prstGeom>
        </p:spPr>
      </p:pic>
      <p:sp>
        <p:nvSpPr>
          <p:cNvPr id="3" name="Subtitle 2">
            <a:extLst>
              <a:ext uri="{FF2B5EF4-FFF2-40B4-BE49-F238E27FC236}">
                <a16:creationId xmlns:a16="http://schemas.microsoft.com/office/drawing/2014/main" id="{7FDEC77E-BA24-31E1-0EAA-9C29AE5C3ABF}"/>
              </a:ext>
            </a:extLst>
          </p:cNvPr>
          <p:cNvSpPr>
            <a:spLocks noGrp="1"/>
          </p:cNvSpPr>
          <p:nvPr>
            <p:ph type="subTitle" idx="1" hasCustomPrompt="1"/>
          </p:nvPr>
        </p:nvSpPr>
        <p:spPr>
          <a:xfrm>
            <a:off x="556592" y="4485861"/>
            <a:ext cx="6725478" cy="1675548"/>
          </a:xfrm>
        </p:spPr>
        <p:txBody>
          <a:bodyPr>
            <a:normAutofit/>
          </a:bodyPr>
          <a:lstStyle>
            <a:lvl1pPr marL="0" indent="0" algn="l">
              <a:buNone/>
              <a:defRPr sz="3200">
                <a:solidFill>
                  <a:srgbClr val="00456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Name </a:t>
            </a:r>
          </a:p>
          <a:p>
            <a:r>
              <a:rPr lang="en-US" dirty="0"/>
              <a:t>NGA/TAES Contractor</a:t>
            </a:r>
          </a:p>
          <a:p>
            <a:r>
              <a:rPr lang="en-US" dirty="0"/>
              <a:t>Date</a:t>
            </a:r>
          </a:p>
        </p:txBody>
      </p:sp>
    </p:spTree>
    <p:extLst>
      <p:ext uri="{BB962C8B-B14F-4D97-AF65-F5344CB8AC3E}">
        <p14:creationId xmlns:p14="http://schemas.microsoft.com/office/powerpoint/2010/main" val="4513331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Slide">
    <p:bg>
      <p:bgPr>
        <a:gradFill>
          <a:gsLst>
            <a:gs pos="56000">
              <a:srgbClr val="D2F0FF"/>
            </a:gs>
            <a:gs pos="85000">
              <a:srgbClr val="66ACCE"/>
            </a:gs>
            <a:gs pos="0">
              <a:schemeClr val="bg1"/>
            </a:gs>
            <a:gs pos="100000">
              <a:srgbClr val="006699"/>
            </a:gs>
          </a:gsLst>
          <a:lin ang="5400000" scaled="1"/>
        </a:grad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9563D97-F493-4569-A84D-4131E73CEBC6}"/>
              </a:ext>
            </a:extLst>
          </p:cNvPr>
          <p:cNvSpPr txBox="1"/>
          <p:nvPr userDrawn="1"/>
        </p:nvSpPr>
        <p:spPr>
          <a:xfrm rot="16200000">
            <a:off x="-822806" y="4889990"/>
            <a:ext cx="2140924" cy="514344"/>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17" name="TextBox 16">
            <a:extLst>
              <a:ext uri="{FF2B5EF4-FFF2-40B4-BE49-F238E27FC236}">
                <a16:creationId xmlns:a16="http://schemas.microsoft.com/office/drawing/2014/main" id="{EF960FB7-9849-4601-B8CC-A0A9C90992D4}"/>
              </a:ext>
            </a:extLst>
          </p:cNvPr>
          <p:cNvSpPr txBox="1"/>
          <p:nvPr userDrawn="1"/>
        </p:nvSpPr>
        <p:spPr>
          <a:xfrm>
            <a:off x="504828" y="6561237"/>
            <a:ext cx="3517900" cy="307777"/>
          </a:xfrm>
          <a:prstGeom prst="rect">
            <a:avLst/>
          </a:prstGeom>
          <a:noFill/>
        </p:spPr>
        <p:txBody>
          <a:bodyPr wrap="square" rtlCol="0">
            <a:spAutoFit/>
          </a:bodyPr>
          <a:lstStyle/>
          <a:p>
            <a:r>
              <a:rPr lang="en-US" sz="1400" kern="1200" dirty="0">
                <a:solidFill>
                  <a:schemeClr val="bg1">
                    <a:lumMod val="95000"/>
                  </a:schemeClr>
                </a:solidFill>
                <a:effectLst>
                  <a:outerShdw blurRad="38100" dist="38100" dir="2700000" algn="tl">
                    <a:srgbClr val="000000">
                      <a:alpha val="43137"/>
                    </a:srgbClr>
                  </a:outerShdw>
                </a:effectLst>
                <a:latin typeface="+mn-lt"/>
                <a:ea typeface="+mn-ea"/>
                <a:cs typeface="+mn-cs"/>
              </a:rPr>
              <a:t>https://GWG.NGA.MIL</a:t>
            </a:r>
          </a:p>
        </p:txBody>
      </p:sp>
      <p:sp>
        <p:nvSpPr>
          <p:cNvPr id="19" name="Slide Number Placeholder 6">
            <a:extLst>
              <a:ext uri="{FF2B5EF4-FFF2-40B4-BE49-F238E27FC236}">
                <a16:creationId xmlns:a16="http://schemas.microsoft.com/office/drawing/2014/main" id="{0B46B3CB-C919-45BC-9BC3-A831B230A1B7}"/>
              </a:ext>
            </a:extLst>
          </p:cNvPr>
          <p:cNvSpPr>
            <a:spLocks noGrp="1"/>
          </p:cNvSpPr>
          <p:nvPr>
            <p:ph type="sldNum" sz="quarter" idx="12"/>
          </p:nvPr>
        </p:nvSpPr>
        <p:spPr>
          <a:xfrm>
            <a:off x="10401300" y="6540053"/>
            <a:ext cx="952500" cy="307777"/>
          </a:xfrm>
        </p:spPr>
        <p:txBody>
          <a:bodyPr/>
          <a:lstStyle>
            <a:lvl1pPr>
              <a:defRPr>
                <a:solidFill>
                  <a:schemeClr val="bg1"/>
                </a:solidFill>
              </a:defRPr>
            </a:lvl1pPr>
          </a:lstStyle>
          <a:p>
            <a:fld id="{04ED54F0-D36E-4641-8B3F-1547866DED2E}" type="slidenum">
              <a:rPr lang="en-US" smtClean="0"/>
              <a:pPr/>
              <a:t>‹#›</a:t>
            </a:fld>
            <a:endParaRPr lang="en-US"/>
          </a:p>
        </p:txBody>
      </p:sp>
      <p:grpSp>
        <p:nvGrpSpPr>
          <p:cNvPr id="21" name="Group 20">
            <a:extLst>
              <a:ext uri="{FF2B5EF4-FFF2-40B4-BE49-F238E27FC236}">
                <a16:creationId xmlns:a16="http://schemas.microsoft.com/office/drawing/2014/main" id="{189FD6AE-EF45-41BA-AF0E-E4DC9137D821}"/>
              </a:ext>
            </a:extLst>
          </p:cNvPr>
          <p:cNvGrpSpPr/>
          <p:nvPr userDrawn="1"/>
        </p:nvGrpSpPr>
        <p:grpSpPr>
          <a:xfrm>
            <a:off x="0" y="6307714"/>
            <a:ext cx="12196750" cy="296772"/>
            <a:chOff x="0" y="6307714"/>
            <a:chExt cx="12196750" cy="296772"/>
          </a:xfrm>
        </p:grpSpPr>
        <p:sp>
          <p:nvSpPr>
            <p:cNvPr id="22" name="Rectangle 21">
              <a:extLst>
                <a:ext uri="{FF2B5EF4-FFF2-40B4-BE49-F238E27FC236}">
                  <a16:creationId xmlns:a16="http://schemas.microsoft.com/office/drawing/2014/main" id="{1DB3021D-81FE-4B24-9267-3B328B931542}"/>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B445371-458A-41D3-AFF3-5BDF91A9E6A5}"/>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ECEFFF7F-ADCC-4663-A8BB-75B4548B1E82}"/>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Rectangle 24">
              <a:extLst>
                <a:ext uri="{FF2B5EF4-FFF2-40B4-BE49-F238E27FC236}">
                  <a16:creationId xmlns:a16="http://schemas.microsoft.com/office/drawing/2014/main" id="{19619044-2D52-45C7-8439-1750A553914A}"/>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CECD7D44-209D-4EA0-A868-B20CAA8BE0E9}"/>
              </a:ext>
            </a:extLst>
          </p:cNvPr>
          <p:cNvGrpSpPr/>
          <p:nvPr userDrawn="1"/>
        </p:nvGrpSpPr>
        <p:grpSpPr>
          <a:xfrm>
            <a:off x="3184" y="213128"/>
            <a:ext cx="12196750" cy="296772"/>
            <a:chOff x="0" y="6307714"/>
            <a:chExt cx="12196750" cy="296772"/>
          </a:xfrm>
        </p:grpSpPr>
        <p:sp>
          <p:nvSpPr>
            <p:cNvPr id="27" name="Rectangle 26">
              <a:extLst>
                <a:ext uri="{FF2B5EF4-FFF2-40B4-BE49-F238E27FC236}">
                  <a16:creationId xmlns:a16="http://schemas.microsoft.com/office/drawing/2014/main" id="{2F34123C-78F3-47CD-B351-5F18F396B3AA}"/>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762B5C9-58EF-4C19-A5B1-36E57EE3ECAF}"/>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D98A612B-ADEB-4430-9B6F-A1D0ADA8B7B8}"/>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0" name="Rectangle 29">
              <a:extLst>
                <a:ext uri="{FF2B5EF4-FFF2-40B4-BE49-F238E27FC236}">
                  <a16:creationId xmlns:a16="http://schemas.microsoft.com/office/drawing/2014/main" id="{1777AF46-44D1-4134-B324-DBDC7D5504AA}"/>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2D185A67-14A7-4E55-8FA2-1860C189B25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812" t="581" r="23021" b="581"/>
          <a:stretch/>
        </p:blipFill>
        <p:spPr>
          <a:xfrm>
            <a:off x="250828" y="336489"/>
            <a:ext cx="2610257" cy="2673412"/>
          </a:xfrm>
          <a:prstGeom prst="rect">
            <a:avLst/>
          </a:prstGeom>
        </p:spPr>
      </p:pic>
      <p:grpSp>
        <p:nvGrpSpPr>
          <p:cNvPr id="3" name="Group 2">
            <a:extLst>
              <a:ext uri="{FF2B5EF4-FFF2-40B4-BE49-F238E27FC236}">
                <a16:creationId xmlns:a16="http://schemas.microsoft.com/office/drawing/2014/main" id="{7E84D8E5-553B-F609-957C-F7DA75ABE2D5}"/>
              </a:ext>
            </a:extLst>
          </p:cNvPr>
          <p:cNvGrpSpPr/>
          <p:nvPr userDrawn="1"/>
        </p:nvGrpSpPr>
        <p:grpSpPr>
          <a:xfrm>
            <a:off x="4903098" y="1160942"/>
            <a:ext cx="7150723" cy="1018251"/>
            <a:chOff x="2339942" y="1330348"/>
            <a:chExt cx="7150723" cy="1018251"/>
          </a:xfrm>
        </p:grpSpPr>
        <p:pic>
          <p:nvPicPr>
            <p:cNvPr id="4" name="Picture 3">
              <a:extLst>
                <a:ext uri="{FF2B5EF4-FFF2-40B4-BE49-F238E27FC236}">
                  <a16:creationId xmlns:a16="http://schemas.microsoft.com/office/drawing/2014/main" id="{C066656B-D212-47F7-D610-2E3C240C478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9942" y="1330348"/>
              <a:ext cx="3180723" cy="1018251"/>
            </a:xfrm>
            <a:prstGeom prst="rect">
              <a:avLst/>
            </a:prstGeom>
          </p:spPr>
        </p:pic>
        <p:sp>
          <p:nvSpPr>
            <p:cNvPr id="5" name="TextBox 4">
              <a:extLst>
                <a:ext uri="{FF2B5EF4-FFF2-40B4-BE49-F238E27FC236}">
                  <a16:creationId xmlns:a16="http://schemas.microsoft.com/office/drawing/2014/main" id="{ABF81B2A-DE4E-CA9C-7935-FC94315FD2F9}"/>
                </a:ext>
              </a:extLst>
            </p:cNvPr>
            <p:cNvSpPr txBox="1"/>
            <p:nvPr/>
          </p:nvSpPr>
          <p:spPr>
            <a:xfrm>
              <a:off x="5395917" y="1514906"/>
              <a:ext cx="4094748" cy="646331"/>
            </a:xfrm>
            <a:prstGeom prst="rect">
              <a:avLst/>
            </a:prstGeom>
            <a:noFill/>
          </p:spPr>
          <p:txBody>
            <a:bodyPr wrap="square">
              <a:spAutoFit/>
            </a:bodyPr>
            <a:lstStyle/>
            <a:p>
              <a:pPr algn="ctr"/>
              <a:r>
                <a:rPr lang="en-US" sz="1800" b="1" dirty="0">
                  <a:solidFill>
                    <a:srgbClr val="0033CC"/>
                  </a:solidFill>
                  <a:latin typeface="Arial Black" panose="020B0A04020102020204" pitchFamily="34" charset="0"/>
                  <a:cs typeface="Aldhabi" panose="020F0502020204030204" pitchFamily="2" charset="-78"/>
                </a:rPr>
                <a:t>G</a:t>
              </a:r>
              <a:r>
                <a:rPr lang="en-US" sz="1800" b="1" dirty="0">
                  <a:latin typeface="Arial Black" panose="020B0A04020102020204" pitchFamily="34" charset="0"/>
                  <a:cs typeface="Aldhabi" panose="020F0502020204030204" pitchFamily="2" charset="-78"/>
                </a:rPr>
                <a:t>eospatial-Intelligence </a:t>
              </a:r>
              <a:r>
                <a:rPr lang="en-US" sz="1800" b="1" dirty="0">
                  <a:solidFill>
                    <a:srgbClr val="0033CC"/>
                  </a:solidFill>
                  <a:latin typeface="Arial Black" panose="020B0A04020102020204" pitchFamily="34" charset="0"/>
                  <a:cs typeface="Aldhabi" panose="020F0502020204030204" pitchFamily="2" charset="-78"/>
                </a:rPr>
                <a:t>M</a:t>
              </a:r>
              <a:r>
                <a:rPr lang="en-US" sz="1800" b="1" dirty="0">
                  <a:latin typeface="Arial Black" panose="020B0A04020102020204" pitchFamily="34" charset="0"/>
                  <a:cs typeface="Aldhabi" panose="020F0502020204030204" pitchFamily="2" charset="-78"/>
                </a:rPr>
                <a:t>edia</a:t>
              </a:r>
            </a:p>
            <a:p>
              <a:pPr algn="ctr"/>
              <a:r>
                <a:rPr lang="en-US" sz="1800" b="1" dirty="0">
                  <a:solidFill>
                    <a:srgbClr val="0033CC"/>
                  </a:solidFill>
                  <a:latin typeface="Arial Black" panose="020B0A04020102020204" pitchFamily="34" charset="0"/>
                  <a:cs typeface="Aldhabi" panose="020F0502020204030204" pitchFamily="2" charset="-78"/>
                </a:rPr>
                <a:t>S</a:t>
              </a:r>
              <a:r>
                <a:rPr lang="en-US" sz="1800" b="1" dirty="0">
                  <a:latin typeface="Arial Black" panose="020B0A04020102020204" pitchFamily="34" charset="0"/>
                  <a:cs typeface="Aldhabi" panose="020F0502020204030204" pitchFamily="2" charset="-78"/>
                </a:rPr>
                <a:t>tandards </a:t>
              </a:r>
              <a:r>
                <a:rPr lang="en-US" sz="1800" b="1" dirty="0">
                  <a:solidFill>
                    <a:srgbClr val="0033CC"/>
                  </a:solidFill>
                  <a:latin typeface="Arial Black" panose="020B0A04020102020204" pitchFamily="34" charset="0"/>
                  <a:cs typeface="Aldhabi" panose="020F0502020204030204" pitchFamily="2" charset="-78"/>
                </a:rPr>
                <a:t>B</a:t>
              </a:r>
              <a:r>
                <a:rPr lang="en-US" sz="1800" b="1" dirty="0">
                  <a:latin typeface="Arial Black" panose="020B0A04020102020204" pitchFamily="34" charset="0"/>
                  <a:cs typeface="Aldhabi" panose="020F0502020204030204" pitchFamily="2" charset="-78"/>
                </a:rPr>
                <a:t>oard</a:t>
              </a:r>
              <a:endParaRPr lang="en-US" sz="5400" b="1" dirty="0">
                <a:latin typeface="Arial Black" panose="020B0A04020102020204" pitchFamily="34" charset="0"/>
                <a:cs typeface="Aldhabi" panose="020F0502020204030204" pitchFamily="2" charset="-78"/>
              </a:endParaRPr>
            </a:p>
          </p:txBody>
        </p:sp>
      </p:grpSp>
    </p:spTree>
    <p:extLst>
      <p:ext uri="{BB962C8B-B14F-4D97-AF65-F5344CB8AC3E}">
        <p14:creationId xmlns:p14="http://schemas.microsoft.com/office/powerpoint/2010/main" val="29735746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Slide">
    <p:bg>
      <p:bgPr>
        <a:gradFill>
          <a:gsLst>
            <a:gs pos="56000">
              <a:srgbClr val="D2F0FF"/>
            </a:gs>
            <a:gs pos="85000">
              <a:srgbClr val="66ACCE"/>
            </a:gs>
            <a:gs pos="0">
              <a:schemeClr val="bg1"/>
            </a:gs>
            <a:gs pos="100000">
              <a:srgbClr val="006699"/>
            </a:gs>
          </a:gsLst>
          <a:lin ang="5400000" scaled="1"/>
        </a:grad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9563D97-F493-4569-A84D-4131E73CEBC6}"/>
              </a:ext>
            </a:extLst>
          </p:cNvPr>
          <p:cNvSpPr txBox="1"/>
          <p:nvPr userDrawn="1"/>
        </p:nvSpPr>
        <p:spPr>
          <a:xfrm rot="16200000">
            <a:off x="-822806" y="4889990"/>
            <a:ext cx="2140924" cy="514344"/>
          </a:xfrm>
          <a:prstGeom prst="rect">
            <a:avLst/>
          </a:prstGeom>
        </p:spPr>
        <p:txBody>
          <a:bodyPr vert="horz" lIns="91440" tIns="45720" rIns="91440" bIns="45720" rtlCol="0" anchor="ctr"/>
          <a:lstStyle>
            <a:defPPr>
              <a:defRPr lang="en-US"/>
            </a:defPPr>
            <a:lvl1pPr algn="ctr">
              <a:defRPr sz="1400">
                <a:solidFill>
                  <a:schemeClr val="accent1">
                    <a:lumMod val="75000"/>
                  </a:schemeClr>
                </a:solidFill>
              </a:defRPr>
            </a:lvl1pPr>
          </a:lstStyle>
          <a:p>
            <a:pPr lvl="0"/>
            <a:r>
              <a:rPr lang="en-US" sz="1400" dirty="0">
                <a:solidFill>
                  <a:schemeClr val="bg1"/>
                </a:solidFill>
                <a:effectLst>
                  <a:outerShdw blurRad="38100" dist="38100" dir="2700000" algn="tl">
                    <a:srgbClr val="000000">
                      <a:alpha val="43137"/>
                    </a:srgbClr>
                  </a:outerShdw>
                </a:effectLst>
              </a:rPr>
              <a:t>https://NSGREG.NGA.MIL</a:t>
            </a:r>
          </a:p>
        </p:txBody>
      </p:sp>
      <p:sp>
        <p:nvSpPr>
          <p:cNvPr id="17" name="TextBox 16">
            <a:extLst>
              <a:ext uri="{FF2B5EF4-FFF2-40B4-BE49-F238E27FC236}">
                <a16:creationId xmlns:a16="http://schemas.microsoft.com/office/drawing/2014/main" id="{EF960FB7-9849-4601-B8CC-A0A9C90992D4}"/>
              </a:ext>
            </a:extLst>
          </p:cNvPr>
          <p:cNvSpPr txBox="1"/>
          <p:nvPr userDrawn="1"/>
        </p:nvSpPr>
        <p:spPr>
          <a:xfrm>
            <a:off x="504828" y="6472337"/>
            <a:ext cx="3517900" cy="307777"/>
          </a:xfrm>
          <a:prstGeom prst="rect">
            <a:avLst/>
          </a:prstGeom>
          <a:noFill/>
        </p:spPr>
        <p:txBody>
          <a:bodyPr wrap="square" rtlCol="0">
            <a:spAutoFit/>
          </a:bodyPr>
          <a:lstStyle/>
          <a:p>
            <a:r>
              <a:rPr lang="en-US" sz="1400" kern="1200" dirty="0">
                <a:solidFill>
                  <a:schemeClr val="bg1">
                    <a:lumMod val="95000"/>
                  </a:schemeClr>
                </a:solidFill>
                <a:effectLst>
                  <a:outerShdw blurRad="38100" dist="38100" dir="2700000" algn="tl">
                    <a:srgbClr val="000000">
                      <a:alpha val="43137"/>
                    </a:srgbClr>
                  </a:outerShdw>
                </a:effectLst>
                <a:latin typeface="+mn-lt"/>
                <a:ea typeface="+mn-ea"/>
                <a:cs typeface="+mn-cs"/>
              </a:rPr>
              <a:t>https://GWG.NGA.MIL</a:t>
            </a:r>
          </a:p>
        </p:txBody>
      </p:sp>
      <p:grpSp>
        <p:nvGrpSpPr>
          <p:cNvPr id="16" name="Group 15">
            <a:extLst>
              <a:ext uri="{FF2B5EF4-FFF2-40B4-BE49-F238E27FC236}">
                <a16:creationId xmlns:a16="http://schemas.microsoft.com/office/drawing/2014/main" id="{E5330DD1-0A5D-452B-990F-C92473AEA732}"/>
              </a:ext>
            </a:extLst>
          </p:cNvPr>
          <p:cNvGrpSpPr/>
          <p:nvPr userDrawn="1"/>
        </p:nvGrpSpPr>
        <p:grpSpPr>
          <a:xfrm>
            <a:off x="0" y="3280614"/>
            <a:ext cx="12196750" cy="296772"/>
            <a:chOff x="0" y="6307714"/>
            <a:chExt cx="12196750" cy="296772"/>
          </a:xfrm>
        </p:grpSpPr>
        <p:sp>
          <p:nvSpPr>
            <p:cNvPr id="18" name="Rectangle 17">
              <a:extLst>
                <a:ext uri="{FF2B5EF4-FFF2-40B4-BE49-F238E27FC236}">
                  <a16:creationId xmlns:a16="http://schemas.microsoft.com/office/drawing/2014/main" id="{37D6517B-7D56-47BD-9604-5B792E087360}"/>
                </a:ext>
              </a:extLst>
            </p:cNvPr>
            <p:cNvSpPr/>
            <p:nvPr userDrawn="1"/>
          </p:nvSpPr>
          <p:spPr>
            <a:xfrm>
              <a:off x="4750" y="6359521"/>
              <a:ext cx="12192000" cy="19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2F8FADD-BDA6-43D1-AA1C-2382B2367B1E}"/>
                </a:ext>
              </a:extLst>
            </p:cNvPr>
            <p:cNvSpPr/>
            <p:nvPr/>
          </p:nvSpPr>
          <p:spPr>
            <a:xfrm>
              <a:off x="1" y="6398349"/>
              <a:ext cx="12192000" cy="116304"/>
            </a:xfrm>
            <a:prstGeom prst="rect">
              <a:avLst/>
            </a:prstGeom>
            <a:solidFill>
              <a:srgbClr val="006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E695635C-205F-4123-A30F-47D6494064B7}"/>
                </a:ext>
              </a:extLst>
            </p:cNvPr>
            <p:cNvSpPr/>
            <p:nvPr/>
          </p:nvSpPr>
          <p:spPr>
            <a:xfrm>
              <a:off x="0" y="6558767"/>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Rectangle 20">
              <a:extLst>
                <a:ext uri="{FF2B5EF4-FFF2-40B4-BE49-F238E27FC236}">
                  <a16:creationId xmlns:a16="http://schemas.microsoft.com/office/drawing/2014/main" id="{22126067-5F26-4AF2-A727-1EE967CAE03F}"/>
                </a:ext>
              </a:extLst>
            </p:cNvPr>
            <p:cNvSpPr/>
            <p:nvPr/>
          </p:nvSpPr>
          <p:spPr>
            <a:xfrm>
              <a:off x="0" y="6307714"/>
              <a:ext cx="12192000" cy="45719"/>
            </a:xfrm>
            <a:prstGeom prst="rect">
              <a:avLst/>
            </a:prstGeom>
            <a:gradFill flip="none" rotWithShape="1">
              <a:gsLst>
                <a:gs pos="0">
                  <a:schemeClr val="bg1">
                    <a:lumMod val="50000"/>
                  </a:schemeClr>
                </a:gs>
                <a:gs pos="50000">
                  <a:schemeClr val="bg1">
                    <a:lumMod val="75000"/>
                    <a:tint val="44500"/>
                    <a:satMod val="160000"/>
                  </a:schemeClr>
                </a:gs>
                <a:gs pos="100000">
                  <a:schemeClr val="bg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AB95D1AF-F8D1-4CD6-AE61-8B9007E9B863}"/>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683500" y="1799547"/>
            <a:ext cx="3418049" cy="3052332"/>
          </a:xfrm>
          <a:prstGeom prst="rect">
            <a:avLst/>
          </a:prstGeom>
        </p:spPr>
      </p:pic>
      <p:pic>
        <p:nvPicPr>
          <p:cNvPr id="3" name="Picture 2">
            <a:extLst>
              <a:ext uri="{FF2B5EF4-FFF2-40B4-BE49-F238E27FC236}">
                <a16:creationId xmlns:a16="http://schemas.microsoft.com/office/drawing/2014/main" id="{54977E76-2D57-4A37-AF1A-48A9D63F7DFD}"/>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2917" r="22917"/>
          <a:stretch/>
        </p:blipFill>
        <p:spPr>
          <a:xfrm>
            <a:off x="1905874" y="2093936"/>
            <a:ext cx="2377425" cy="2463555"/>
          </a:xfrm>
          <a:prstGeom prst="rect">
            <a:avLst/>
          </a:prstGeom>
        </p:spPr>
      </p:pic>
      <p:grpSp>
        <p:nvGrpSpPr>
          <p:cNvPr id="2" name="Group 1">
            <a:extLst>
              <a:ext uri="{FF2B5EF4-FFF2-40B4-BE49-F238E27FC236}">
                <a16:creationId xmlns:a16="http://schemas.microsoft.com/office/drawing/2014/main" id="{2F69D60E-54B4-51CB-9E1A-12099B0B5746}"/>
              </a:ext>
            </a:extLst>
          </p:cNvPr>
          <p:cNvGrpSpPr/>
          <p:nvPr userDrawn="1"/>
        </p:nvGrpSpPr>
        <p:grpSpPr>
          <a:xfrm>
            <a:off x="2693358" y="678629"/>
            <a:ext cx="7150723" cy="1018251"/>
            <a:chOff x="2339942" y="1330348"/>
            <a:chExt cx="7150723" cy="1018251"/>
          </a:xfrm>
        </p:grpSpPr>
        <p:pic>
          <p:nvPicPr>
            <p:cNvPr id="6" name="Picture 5">
              <a:extLst>
                <a:ext uri="{FF2B5EF4-FFF2-40B4-BE49-F238E27FC236}">
                  <a16:creationId xmlns:a16="http://schemas.microsoft.com/office/drawing/2014/main" id="{9EC79D17-8C2B-FE47-C702-973D7E23DEB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339942" y="1330348"/>
              <a:ext cx="3180723" cy="1018251"/>
            </a:xfrm>
            <a:prstGeom prst="rect">
              <a:avLst/>
            </a:prstGeom>
          </p:spPr>
        </p:pic>
        <p:sp>
          <p:nvSpPr>
            <p:cNvPr id="7" name="TextBox 6">
              <a:extLst>
                <a:ext uri="{FF2B5EF4-FFF2-40B4-BE49-F238E27FC236}">
                  <a16:creationId xmlns:a16="http://schemas.microsoft.com/office/drawing/2014/main" id="{4E8280B2-EB87-E5FA-6794-819192362772}"/>
                </a:ext>
              </a:extLst>
            </p:cNvPr>
            <p:cNvSpPr txBox="1"/>
            <p:nvPr/>
          </p:nvSpPr>
          <p:spPr>
            <a:xfrm>
              <a:off x="5395917" y="1514906"/>
              <a:ext cx="4094748" cy="646331"/>
            </a:xfrm>
            <a:prstGeom prst="rect">
              <a:avLst/>
            </a:prstGeom>
            <a:noFill/>
          </p:spPr>
          <p:txBody>
            <a:bodyPr wrap="square">
              <a:spAutoFit/>
            </a:bodyPr>
            <a:lstStyle/>
            <a:p>
              <a:pPr algn="ctr"/>
              <a:r>
                <a:rPr lang="en-US" sz="1800" b="1" dirty="0">
                  <a:solidFill>
                    <a:srgbClr val="0033CC"/>
                  </a:solidFill>
                  <a:latin typeface="Arial Black" panose="020B0A04020102020204" pitchFamily="34" charset="0"/>
                  <a:cs typeface="Aldhabi" panose="020F0502020204030204" pitchFamily="2" charset="-78"/>
                </a:rPr>
                <a:t>G</a:t>
              </a:r>
              <a:r>
                <a:rPr lang="en-US" sz="1800" b="1" dirty="0">
                  <a:latin typeface="Arial Black" panose="020B0A04020102020204" pitchFamily="34" charset="0"/>
                  <a:cs typeface="Aldhabi" panose="020F0502020204030204" pitchFamily="2" charset="-78"/>
                </a:rPr>
                <a:t>eospatial-Intelligence </a:t>
              </a:r>
              <a:r>
                <a:rPr lang="en-US" sz="1800" b="1" dirty="0">
                  <a:solidFill>
                    <a:srgbClr val="0033CC"/>
                  </a:solidFill>
                  <a:latin typeface="Arial Black" panose="020B0A04020102020204" pitchFamily="34" charset="0"/>
                  <a:cs typeface="Aldhabi" panose="020F0502020204030204" pitchFamily="2" charset="-78"/>
                </a:rPr>
                <a:t>M</a:t>
              </a:r>
              <a:r>
                <a:rPr lang="en-US" sz="1800" b="1" dirty="0">
                  <a:latin typeface="Arial Black" panose="020B0A04020102020204" pitchFamily="34" charset="0"/>
                  <a:cs typeface="Aldhabi" panose="020F0502020204030204" pitchFamily="2" charset="-78"/>
                </a:rPr>
                <a:t>edia</a:t>
              </a:r>
            </a:p>
            <a:p>
              <a:pPr algn="ctr"/>
              <a:r>
                <a:rPr lang="en-US" sz="1800" b="1" dirty="0">
                  <a:solidFill>
                    <a:srgbClr val="0033CC"/>
                  </a:solidFill>
                  <a:latin typeface="Arial Black" panose="020B0A04020102020204" pitchFamily="34" charset="0"/>
                  <a:cs typeface="Aldhabi" panose="020F0502020204030204" pitchFamily="2" charset="-78"/>
                </a:rPr>
                <a:t>S</a:t>
              </a:r>
              <a:r>
                <a:rPr lang="en-US" sz="1800" b="1" dirty="0">
                  <a:latin typeface="Arial Black" panose="020B0A04020102020204" pitchFamily="34" charset="0"/>
                  <a:cs typeface="Aldhabi" panose="020F0502020204030204" pitchFamily="2" charset="-78"/>
                </a:rPr>
                <a:t>tandards </a:t>
              </a:r>
              <a:r>
                <a:rPr lang="en-US" sz="1800" b="1" dirty="0">
                  <a:solidFill>
                    <a:srgbClr val="0033CC"/>
                  </a:solidFill>
                  <a:latin typeface="Arial Black" panose="020B0A04020102020204" pitchFamily="34" charset="0"/>
                  <a:cs typeface="Aldhabi" panose="020F0502020204030204" pitchFamily="2" charset="-78"/>
                </a:rPr>
                <a:t>B</a:t>
              </a:r>
              <a:r>
                <a:rPr lang="en-US" sz="1800" b="1" dirty="0">
                  <a:latin typeface="Arial Black" panose="020B0A04020102020204" pitchFamily="34" charset="0"/>
                  <a:cs typeface="Aldhabi" panose="020F0502020204030204" pitchFamily="2" charset="-78"/>
                </a:rPr>
                <a:t>oard</a:t>
              </a:r>
              <a:endParaRPr lang="en-US" sz="5400" b="1" dirty="0">
                <a:latin typeface="Arial Black" panose="020B0A04020102020204" pitchFamily="34" charset="0"/>
                <a:cs typeface="Aldhabi" panose="020F0502020204030204" pitchFamily="2" charset="-78"/>
              </a:endParaRPr>
            </a:p>
          </p:txBody>
        </p:sp>
      </p:grpSp>
    </p:spTree>
    <p:extLst>
      <p:ext uri="{BB962C8B-B14F-4D97-AF65-F5344CB8AC3E}">
        <p14:creationId xmlns:p14="http://schemas.microsoft.com/office/powerpoint/2010/main" val="36028150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Slide Blank No Seal">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8784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Slide Blank">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35399" y="5696917"/>
            <a:ext cx="1633852" cy="744079"/>
          </a:xfrm>
          <a:prstGeom prst="rect">
            <a:avLst/>
          </a:prstGeom>
        </p:spPr>
      </p:pic>
    </p:spTree>
    <p:extLst>
      <p:ext uri="{BB962C8B-B14F-4D97-AF65-F5344CB8AC3E}">
        <p14:creationId xmlns:p14="http://schemas.microsoft.com/office/powerpoint/2010/main" val="814820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169EE5-F04B-4DBA-AC5F-BA31C7A8DA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5A3D24-CCCE-4A3F-B28E-563C1F1296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32EAA2-FCAA-4798-A3C2-6B164CA327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A59227-5218-4DBC-B469-C36961322AEC}" type="datetimeFigureOut">
              <a:rPr lang="en-US" smtClean="0"/>
              <a:t>4/17/2026</a:t>
            </a:fld>
            <a:endParaRPr lang="en-US"/>
          </a:p>
        </p:txBody>
      </p:sp>
      <p:sp>
        <p:nvSpPr>
          <p:cNvPr id="5" name="Footer Placeholder 4">
            <a:extLst>
              <a:ext uri="{FF2B5EF4-FFF2-40B4-BE49-F238E27FC236}">
                <a16:creationId xmlns:a16="http://schemas.microsoft.com/office/drawing/2014/main" id="{3FD2769B-2D27-407C-ACD8-6486F53971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956D45E-0CB9-49C4-9A6B-F08180226E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ED54F0-D36E-4641-8B3F-1547866DED2E}" type="slidenum">
              <a:rPr lang="en-US" smtClean="0"/>
              <a:t>‹#›</a:t>
            </a:fld>
            <a:endParaRPr lang="en-US"/>
          </a:p>
        </p:txBody>
      </p:sp>
    </p:spTree>
    <p:extLst>
      <p:ext uri="{BB962C8B-B14F-4D97-AF65-F5344CB8AC3E}">
        <p14:creationId xmlns:p14="http://schemas.microsoft.com/office/powerpoint/2010/main" val="14100607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2.jpeg"/><Relationship Id="rId13" Type="http://schemas.openxmlformats.org/officeDocument/2006/relationships/image" Target="../media/image17.jpeg"/><Relationship Id="rId18" Type="http://schemas.openxmlformats.org/officeDocument/2006/relationships/image" Target="../media/image22.png"/><Relationship Id="rId3" Type="http://schemas.openxmlformats.org/officeDocument/2006/relationships/image" Target="../media/image7.jpeg"/><Relationship Id="rId7" Type="http://schemas.openxmlformats.org/officeDocument/2006/relationships/image" Target="../media/image11.jpeg"/><Relationship Id="rId12" Type="http://schemas.openxmlformats.org/officeDocument/2006/relationships/image" Target="../media/image16.jpeg"/><Relationship Id="rId17" Type="http://schemas.openxmlformats.org/officeDocument/2006/relationships/image" Target="../media/image21.png"/><Relationship Id="rId2" Type="http://schemas.openxmlformats.org/officeDocument/2006/relationships/image" Target="../media/image6.emf"/><Relationship Id="rId16" Type="http://schemas.openxmlformats.org/officeDocument/2006/relationships/image" Target="../media/image20.jpeg"/><Relationship Id="rId1" Type="http://schemas.openxmlformats.org/officeDocument/2006/relationships/slideLayout" Target="../slideLayouts/slideLayout16.xml"/><Relationship Id="rId6" Type="http://schemas.openxmlformats.org/officeDocument/2006/relationships/image" Target="../media/image10.jpeg"/><Relationship Id="rId11" Type="http://schemas.openxmlformats.org/officeDocument/2006/relationships/image" Target="../media/image15.jpeg"/><Relationship Id="rId5" Type="http://schemas.openxmlformats.org/officeDocument/2006/relationships/image" Target="../media/image9.jpeg"/><Relationship Id="rId15" Type="http://schemas.openxmlformats.org/officeDocument/2006/relationships/image" Target="../media/image19.jpeg"/><Relationship Id="rId10" Type="http://schemas.openxmlformats.org/officeDocument/2006/relationships/image" Target="../media/image14.jpe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jpeg"/><Relationship Id="rId14" Type="http://schemas.openxmlformats.org/officeDocument/2006/relationships/image" Target="../media/image18.jpeg"/></Relationships>
</file>

<file path=ppt/slides/_rels/slide4.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jpeg"/><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27.png"/><Relationship Id="rId11" Type="http://schemas.openxmlformats.org/officeDocument/2006/relationships/image" Target="../media/image32.jpe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jpe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2EDBE-7C4B-D534-0D2E-D5BF3599D858}"/>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2E19FDA4-BDB8-73AF-A273-074F72BA8766}"/>
              </a:ext>
            </a:extLst>
          </p:cNvPr>
          <p:cNvSpPr>
            <a:spLocks noGrp="1"/>
          </p:cNvSpPr>
          <p:nvPr>
            <p:ph type="subTitle" idx="1"/>
          </p:nvPr>
        </p:nvSpPr>
        <p:spPr>
          <a:xfrm>
            <a:off x="923544" y="4388157"/>
            <a:ext cx="5256356" cy="1645901"/>
          </a:xfrm>
        </p:spPr>
        <p:txBody>
          <a:bodyPr>
            <a:normAutofit fontScale="85000" lnSpcReduction="20000"/>
          </a:bodyPr>
          <a:lstStyle/>
          <a:p>
            <a:pPr algn="l"/>
            <a:r>
              <a:rPr lang="en-US" dirty="0"/>
              <a:t>Joe Stufflebeam, Ph.D.</a:t>
            </a:r>
          </a:p>
          <a:p>
            <a:pPr algn="l"/>
            <a:r>
              <a:rPr lang="en-US" dirty="0"/>
              <a:t>GEOINT Media Standards Board</a:t>
            </a:r>
          </a:p>
          <a:p>
            <a:pPr algn="l"/>
            <a:r>
              <a:rPr lang="en-US" dirty="0"/>
              <a:t>NGA/TAEB Contractor </a:t>
            </a:r>
          </a:p>
          <a:p>
            <a:pPr algn="l"/>
            <a:r>
              <a:rPr lang="en-US" dirty="0"/>
              <a:t>22 April 2026</a:t>
            </a:r>
          </a:p>
        </p:txBody>
      </p:sp>
      <p:sp>
        <p:nvSpPr>
          <p:cNvPr id="3" name="Title 2">
            <a:extLst>
              <a:ext uri="{FF2B5EF4-FFF2-40B4-BE49-F238E27FC236}">
                <a16:creationId xmlns:a16="http://schemas.microsoft.com/office/drawing/2014/main" id="{ADA7DF80-D587-AAA8-261A-68D67E174FB2}"/>
              </a:ext>
            </a:extLst>
          </p:cNvPr>
          <p:cNvSpPr>
            <a:spLocks noGrp="1"/>
          </p:cNvSpPr>
          <p:nvPr>
            <p:ph type="ctrTitle"/>
          </p:nvPr>
        </p:nvSpPr>
        <p:spPr>
          <a:xfrm>
            <a:off x="3812875" y="2305251"/>
            <a:ext cx="8272084" cy="1839197"/>
          </a:xfrm>
        </p:spPr>
        <p:txBody>
          <a:bodyPr>
            <a:normAutofit/>
          </a:bodyPr>
          <a:lstStyle/>
          <a:p>
            <a:r>
              <a:rPr lang="en-US" sz="4400" dirty="0"/>
              <a:t>OGC Testbed 21 – GIMI Standard Activity Overview </a:t>
            </a:r>
            <a:endParaRPr lang="en-US" sz="4000" dirty="0"/>
          </a:p>
        </p:txBody>
      </p:sp>
    </p:spTree>
    <p:extLst>
      <p:ext uri="{BB962C8B-B14F-4D97-AF65-F5344CB8AC3E}">
        <p14:creationId xmlns:p14="http://schemas.microsoft.com/office/powerpoint/2010/main" val="3092232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6B808-49B9-67FB-AD84-70A754F4966D}"/>
              </a:ext>
            </a:extLst>
          </p:cNvPr>
          <p:cNvSpPr>
            <a:spLocks noGrp="1"/>
          </p:cNvSpPr>
          <p:nvPr>
            <p:ph type="title"/>
          </p:nvPr>
        </p:nvSpPr>
        <p:spPr/>
        <p:txBody>
          <a:bodyPr/>
          <a:lstStyle/>
          <a:p>
            <a:pPr algn="ctr"/>
            <a:r>
              <a:rPr lang="en-US" dirty="0"/>
              <a:t>What is 'GIMI"?</a:t>
            </a:r>
          </a:p>
        </p:txBody>
      </p:sp>
      <p:sp>
        <p:nvSpPr>
          <p:cNvPr id="3" name="Content Placeholder 2">
            <a:extLst>
              <a:ext uri="{FF2B5EF4-FFF2-40B4-BE49-F238E27FC236}">
                <a16:creationId xmlns:a16="http://schemas.microsoft.com/office/drawing/2014/main" id="{DC1B468D-D4CF-B51E-011A-A2E6293A2C89}"/>
              </a:ext>
            </a:extLst>
          </p:cNvPr>
          <p:cNvSpPr>
            <a:spLocks noGrp="1"/>
          </p:cNvSpPr>
          <p:nvPr>
            <p:ph idx="1"/>
          </p:nvPr>
        </p:nvSpPr>
        <p:spPr>
          <a:xfrm>
            <a:off x="549257" y="2226669"/>
            <a:ext cx="8994463" cy="2694339"/>
          </a:xfrm>
        </p:spPr>
        <p:txBody>
          <a:bodyPr>
            <a:normAutofit/>
          </a:bodyPr>
          <a:lstStyle/>
          <a:p>
            <a:r>
              <a:rPr lang="en-US" dirty="0"/>
              <a:t>GIMI stands for:</a:t>
            </a:r>
          </a:p>
          <a:p>
            <a:pPr lvl="1"/>
            <a:r>
              <a:rPr lang="en-US" b="0" dirty="0"/>
              <a:t>GEOINT Imagery Media for Intelligence, Surveillance, &amp; Reconnaissance (ISR)</a:t>
            </a:r>
          </a:p>
          <a:p>
            <a:r>
              <a:rPr lang="en-US" dirty="0"/>
              <a:t>GIMI is:</a:t>
            </a:r>
          </a:p>
          <a:p>
            <a:pPr lvl="1"/>
            <a:r>
              <a:rPr lang="en-US" b="0" dirty="0"/>
              <a:t>A next generation imagery file format/container standard documented in NGA.STND.0076-01</a:t>
            </a:r>
          </a:p>
          <a:p>
            <a:pPr lvl="1"/>
            <a:r>
              <a:rPr lang="en-US" b="0" dirty="0"/>
              <a:t>a profile of ISOBMFF (ISO/IEC 14496-12) &amp; HEIF (ISO/IEC 23008-12)</a:t>
            </a:r>
          </a:p>
          <a:p>
            <a:pPr lvl="1"/>
            <a:r>
              <a:rPr lang="en-US" b="0" dirty="0"/>
              <a:t>tightly coupled with NGA's </a:t>
            </a:r>
            <a:r>
              <a:rPr lang="en-US" b="1" dirty="0"/>
              <a:t>Imagery Domain Ontologies </a:t>
            </a:r>
            <a:r>
              <a:rPr lang="en-US" b="0" dirty="0"/>
              <a:t>(</a:t>
            </a:r>
            <a:r>
              <a:rPr lang="en-US" b="1" dirty="0"/>
              <a:t>IDO</a:t>
            </a:r>
            <a:r>
              <a:rPr lang="en-US" b="0" dirty="0"/>
              <a:t>)</a:t>
            </a:r>
          </a:p>
          <a:p>
            <a:pPr lvl="1"/>
            <a:endParaRPr lang="en-US" dirty="0"/>
          </a:p>
        </p:txBody>
      </p:sp>
      <p:pic>
        <p:nvPicPr>
          <p:cNvPr id="6" name="Picture 5">
            <a:extLst>
              <a:ext uri="{FF2B5EF4-FFF2-40B4-BE49-F238E27FC236}">
                <a16:creationId xmlns:a16="http://schemas.microsoft.com/office/drawing/2014/main" id="{A0DB34BE-AE3B-9314-D7A8-C1A90D62ED8F}"/>
              </a:ext>
            </a:extLst>
          </p:cNvPr>
          <p:cNvPicPr>
            <a:picLocks noChangeAspect="1"/>
          </p:cNvPicPr>
          <p:nvPr/>
        </p:nvPicPr>
        <p:blipFill>
          <a:blip r:embed="rId2"/>
          <a:srcRect l="1413" t="1726" r="1443"/>
          <a:stretch>
            <a:fillRect/>
          </a:stretch>
        </p:blipFill>
        <p:spPr>
          <a:xfrm>
            <a:off x="9543720" y="2951711"/>
            <a:ext cx="2351647" cy="314632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686606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542490E6-ACCB-77AB-5423-6A071F1A7D0D}"/>
              </a:ext>
            </a:extLst>
          </p:cNvPr>
          <p:cNvSpPr txBox="1">
            <a:spLocks/>
          </p:cNvSpPr>
          <p:nvPr/>
        </p:nvSpPr>
        <p:spPr>
          <a:xfrm>
            <a:off x="289839" y="152056"/>
            <a:ext cx="11431370" cy="705029"/>
          </a:xfrm>
          <a:prstGeom prst="rect">
            <a:avLst/>
          </a:prstGeom>
        </p:spPr>
        <p:txBody>
          <a:bodyPr vert="horz" lIns="91440" tIns="45720" rIns="91440" bIns="45720" rtlCol="0" anchor="ctr">
            <a:normAutofit/>
          </a:bodyPr>
          <a:lstStyle>
            <a:lvl1pPr algn="l" defTabSz="1219139" rtl="0" eaLnBrk="1" latinLnBrk="0" hangingPunct="1">
              <a:spcBef>
                <a:spcPct val="0"/>
              </a:spcBef>
              <a:buNone/>
              <a:defRPr sz="3200" kern="1200">
                <a:solidFill>
                  <a:srgbClr val="192F43"/>
                </a:solidFill>
                <a:latin typeface="Franklin Gothic Medium Cond" panose="020B0606030402020204" pitchFamily="34" charset="0"/>
                <a:ea typeface="+mj-ea"/>
                <a:cs typeface="+mj-cs"/>
              </a:defRPr>
            </a:lvl1pPr>
          </a:lstStyle>
          <a:p>
            <a:pPr marL="0" marR="0" lvl="0" indent="0" algn="ctr" defTabSz="1219139"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192F43"/>
                </a:solidFill>
                <a:effectLst/>
                <a:uLnTx/>
                <a:uFillTx/>
                <a:latin typeface="Franklin Gothic Medium Cond" panose="020B0606030402020204" pitchFamily="34" charset="0"/>
                <a:ea typeface="+mj-ea"/>
                <a:cs typeface="+mj-cs"/>
              </a:rPr>
              <a:t>GIMI/IDO: Addressing the Future Architecture of the Imagery Domain</a:t>
            </a:r>
          </a:p>
        </p:txBody>
      </p:sp>
      <p:pic>
        <p:nvPicPr>
          <p:cNvPr id="39" name="Picture 38">
            <a:extLst>
              <a:ext uri="{FF2B5EF4-FFF2-40B4-BE49-F238E27FC236}">
                <a16:creationId xmlns:a16="http://schemas.microsoft.com/office/drawing/2014/main" id="{EC07DC5B-4112-9FC0-9498-C1829A3C769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981917" y="3257807"/>
            <a:ext cx="1167135" cy="990202"/>
          </a:xfrm>
          <a:prstGeom prst="rect">
            <a:avLst/>
          </a:prstGeom>
        </p:spPr>
      </p:pic>
      <p:pic>
        <p:nvPicPr>
          <p:cNvPr id="40" name="Picture 39" descr="A close up of a microscope&#10;&#10;Description automatically generated">
            <a:extLst>
              <a:ext uri="{FF2B5EF4-FFF2-40B4-BE49-F238E27FC236}">
                <a16:creationId xmlns:a16="http://schemas.microsoft.com/office/drawing/2014/main" id="{F6C5B184-3137-E642-64E1-9835C6AA75DD}"/>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107244" y="4411554"/>
            <a:ext cx="1507433" cy="1223149"/>
          </a:xfrm>
          <a:prstGeom prst="rect">
            <a:avLst/>
          </a:prstGeom>
        </p:spPr>
      </p:pic>
      <p:pic>
        <p:nvPicPr>
          <p:cNvPr id="41" name="Picture 40">
            <a:extLst>
              <a:ext uri="{FF2B5EF4-FFF2-40B4-BE49-F238E27FC236}">
                <a16:creationId xmlns:a16="http://schemas.microsoft.com/office/drawing/2014/main" id="{AC66C3A8-0514-990D-032E-17101E73AC75}"/>
              </a:ext>
            </a:extLst>
          </p:cNvPr>
          <p:cNvPicPr>
            <a:picLocks noChangeAspect="1"/>
          </p:cNvPicPr>
          <p:nvPr/>
        </p:nvPicPr>
        <p:blipFill>
          <a:blip r:embed="rId4"/>
          <a:stretch>
            <a:fillRect/>
          </a:stretch>
        </p:blipFill>
        <p:spPr>
          <a:xfrm>
            <a:off x="4570835" y="2243323"/>
            <a:ext cx="1971761" cy="1312117"/>
          </a:xfrm>
          <a:prstGeom prst="rect">
            <a:avLst/>
          </a:prstGeom>
        </p:spPr>
      </p:pic>
      <p:pic>
        <p:nvPicPr>
          <p:cNvPr id="42" name="Picture 41">
            <a:extLst>
              <a:ext uri="{FF2B5EF4-FFF2-40B4-BE49-F238E27FC236}">
                <a16:creationId xmlns:a16="http://schemas.microsoft.com/office/drawing/2014/main" id="{A41D05BD-97D1-AF28-F35B-D1C53809D39E}"/>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8358574" y="3352880"/>
            <a:ext cx="796690" cy="1167211"/>
          </a:xfrm>
          <a:prstGeom prst="rect">
            <a:avLst/>
          </a:prstGeom>
        </p:spPr>
      </p:pic>
      <p:pic>
        <p:nvPicPr>
          <p:cNvPr id="43" name="Picture 42">
            <a:extLst>
              <a:ext uri="{FF2B5EF4-FFF2-40B4-BE49-F238E27FC236}">
                <a16:creationId xmlns:a16="http://schemas.microsoft.com/office/drawing/2014/main" id="{A8DD3029-1C64-DF08-B41D-2A2860E1CD5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115788" y="4589148"/>
            <a:ext cx="1443547" cy="960615"/>
          </a:xfrm>
          <a:prstGeom prst="rect">
            <a:avLst/>
          </a:prstGeom>
        </p:spPr>
      </p:pic>
      <p:pic>
        <p:nvPicPr>
          <p:cNvPr id="44" name="Picture 43">
            <a:extLst>
              <a:ext uri="{FF2B5EF4-FFF2-40B4-BE49-F238E27FC236}">
                <a16:creationId xmlns:a16="http://schemas.microsoft.com/office/drawing/2014/main" id="{0D02158D-B706-9536-F60E-78A67A29E284}"/>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593505" y="2189543"/>
            <a:ext cx="939333" cy="939333"/>
          </a:xfrm>
          <a:prstGeom prst="rect">
            <a:avLst/>
          </a:prstGeom>
        </p:spPr>
      </p:pic>
      <p:sp>
        <p:nvSpPr>
          <p:cNvPr id="45" name="Content Placeholder 2">
            <a:extLst>
              <a:ext uri="{FF2B5EF4-FFF2-40B4-BE49-F238E27FC236}">
                <a16:creationId xmlns:a16="http://schemas.microsoft.com/office/drawing/2014/main" id="{95F29889-58F5-5118-63F0-8C5491FFFC94}"/>
              </a:ext>
            </a:extLst>
          </p:cNvPr>
          <p:cNvSpPr txBox="1">
            <a:spLocks/>
          </p:cNvSpPr>
          <p:nvPr/>
        </p:nvSpPr>
        <p:spPr>
          <a:xfrm>
            <a:off x="1812496" y="1706657"/>
            <a:ext cx="2390529" cy="4017270"/>
          </a:xfrm>
          <a:prstGeom prst="rect">
            <a:avLst/>
          </a:prstGeom>
          <a:ln>
            <a:solidFill>
              <a:srgbClr val="414042"/>
            </a:solidFill>
          </a:ln>
        </p:spPr>
        <p:txBody>
          <a:bodyPr vert="horz" lIns="91440" tIns="45720" rIns="91440" bIns="45720" rtlCol="0">
            <a:normAutofit/>
          </a:bodyPr>
          <a:lstStyle>
            <a:lvl1pPr marL="0" indent="0" algn="l" defTabSz="1219139"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51" indent="-380982" algn="l" defTabSz="1219139"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121" indent="-380982"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709" indent="0" algn="l" defTabSz="1219139"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3063" indent="-304784"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63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lvl="0" indent="0" algn="ctr" defTabSz="1219139"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Class 0 Systems</a:t>
            </a:r>
          </a:p>
        </p:txBody>
      </p:sp>
      <p:pic>
        <p:nvPicPr>
          <p:cNvPr id="46" name="Picture 4" descr="U.S. Warships Have This Seldom Discussed But Very Powerful Optical ...">
            <a:extLst>
              <a:ext uri="{FF2B5EF4-FFF2-40B4-BE49-F238E27FC236}">
                <a16:creationId xmlns:a16="http://schemas.microsoft.com/office/drawing/2014/main" id="{7F93C9B2-92AF-0BEB-AB6B-03133B9EA5F5}"/>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2088682" y="2169724"/>
            <a:ext cx="1915886" cy="1077686"/>
          </a:xfrm>
          <a:prstGeom prst="rect">
            <a:avLst/>
          </a:prstGeom>
          <a:noFill/>
          <a:extLst>
            <a:ext uri="{909E8E84-426E-40DD-AFC4-6F175D3DCCD1}">
              <a14:hiddenFill xmlns:a14="http://schemas.microsoft.com/office/drawing/2010/main">
                <a:solidFill>
                  <a:srgbClr val="FFFFFF"/>
                </a:solidFill>
              </a14:hiddenFill>
            </a:ext>
          </a:extLst>
        </p:spPr>
      </p:pic>
      <p:sp>
        <p:nvSpPr>
          <p:cNvPr id="47" name="Content Placeholder 2">
            <a:extLst>
              <a:ext uri="{FF2B5EF4-FFF2-40B4-BE49-F238E27FC236}">
                <a16:creationId xmlns:a16="http://schemas.microsoft.com/office/drawing/2014/main" id="{2ABBA852-1037-B912-D565-C496F5E053CB}"/>
              </a:ext>
            </a:extLst>
          </p:cNvPr>
          <p:cNvSpPr txBox="1">
            <a:spLocks/>
          </p:cNvSpPr>
          <p:nvPr/>
        </p:nvSpPr>
        <p:spPr>
          <a:xfrm>
            <a:off x="4343040" y="1706657"/>
            <a:ext cx="2390529" cy="4017270"/>
          </a:xfrm>
          <a:prstGeom prst="rect">
            <a:avLst/>
          </a:prstGeom>
          <a:ln>
            <a:solidFill>
              <a:srgbClr val="414042"/>
            </a:solidFill>
          </a:ln>
        </p:spPr>
        <p:txBody>
          <a:bodyPr vert="horz" lIns="91440" tIns="45720" rIns="91440" bIns="45720" rtlCol="0">
            <a:normAutofit/>
          </a:bodyPr>
          <a:lstStyle>
            <a:lvl1pPr marL="0" indent="0" algn="l" defTabSz="1219139"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51" indent="-380982" algn="l" defTabSz="1219139"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121" indent="-380982"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709" indent="0" algn="l" defTabSz="1219139"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3063" indent="-304784"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63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lvl="0" indent="0" algn="ctr" defTabSz="1219139"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Class 1 Systems</a:t>
            </a:r>
          </a:p>
        </p:txBody>
      </p:sp>
      <p:sp>
        <p:nvSpPr>
          <p:cNvPr id="48" name="Content Placeholder 2">
            <a:extLst>
              <a:ext uri="{FF2B5EF4-FFF2-40B4-BE49-F238E27FC236}">
                <a16:creationId xmlns:a16="http://schemas.microsoft.com/office/drawing/2014/main" id="{28696BDD-3CB1-A29B-265E-D2BDD71B28B2}"/>
              </a:ext>
            </a:extLst>
          </p:cNvPr>
          <p:cNvSpPr txBox="1">
            <a:spLocks/>
          </p:cNvSpPr>
          <p:nvPr/>
        </p:nvSpPr>
        <p:spPr>
          <a:xfrm>
            <a:off x="6867187" y="1704565"/>
            <a:ext cx="2390529" cy="4019362"/>
          </a:xfrm>
          <a:prstGeom prst="rect">
            <a:avLst/>
          </a:prstGeom>
          <a:ln>
            <a:solidFill>
              <a:srgbClr val="414042"/>
            </a:solidFill>
          </a:ln>
        </p:spPr>
        <p:txBody>
          <a:bodyPr vert="horz" lIns="91440" tIns="45720" rIns="91440" bIns="45720" rtlCol="0">
            <a:normAutofit/>
          </a:bodyPr>
          <a:lstStyle>
            <a:lvl1pPr marL="0" indent="0" algn="l" defTabSz="1219139"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51" indent="-380982" algn="l" defTabSz="1219139"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121" indent="-380982"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709" indent="0" algn="l" defTabSz="1219139"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3063" indent="-304784"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63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lvl="0" indent="0" algn="ctr" defTabSz="1219139"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Class 2 Systems</a:t>
            </a:r>
          </a:p>
        </p:txBody>
      </p:sp>
      <p:sp>
        <p:nvSpPr>
          <p:cNvPr id="49" name="Content Placeholder 2">
            <a:extLst>
              <a:ext uri="{FF2B5EF4-FFF2-40B4-BE49-F238E27FC236}">
                <a16:creationId xmlns:a16="http://schemas.microsoft.com/office/drawing/2014/main" id="{6B012094-4228-E42C-D649-31CE334382F1}"/>
              </a:ext>
            </a:extLst>
          </p:cNvPr>
          <p:cNvSpPr txBox="1">
            <a:spLocks/>
          </p:cNvSpPr>
          <p:nvPr/>
        </p:nvSpPr>
        <p:spPr>
          <a:xfrm>
            <a:off x="9410242" y="1704565"/>
            <a:ext cx="2390529" cy="4019362"/>
          </a:xfrm>
          <a:prstGeom prst="rect">
            <a:avLst/>
          </a:prstGeom>
          <a:ln>
            <a:solidFill>
              <a:srgbClr val="414042"/>
            </a:solidFill>
          </a:ln>
        </p:spPr>
        <p:txBody>
          <a:bodyPr vert="horz" lIns="91440" tIns="45720" rIns="91440" bIns="45720" rtlCol="0">
            <a:normAutofit/>
          </a:bodyPr>
          <a:lstStyle>
            <a:lvl1pPr marL="0" indent="0" algn="l" defTabSz="1219139"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51" indent="-380982" algn="l" defTabSz="1219139"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121" indent="-380982"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709" indent="0" algn="l" defTabSz="1219139"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3063" indent="-304784"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63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lvl="0" indent="0" algn="ctr" defTabSz="1219139"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Class 3 Systems</a:t>
            </a:r>
          </a:p>
        </p:txBody>
      </p:sp>
      <p:pic>
        <p:nvPicPr>
          <p:cNvPr id="50" name="Picture 49">
            <a:extLst>
              <a:ext uri="{FF2B5EF4-FFF2-40B4-BE49-F238E27FC236}">
                <a16:creationId xmlns:a16="http://schemas.microsoft.com/office/drawing/2014/main" id="{6E654F2F-1906-B1D3-04D9-B3652DD66C00}"/>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9789409" y="4295384"/>
            <a:ext cx="767701" cy="1296043"/>
          </a:xfrm>
          <a:prstGeom prst="rect">
            <a:avLst/>
          </a:prstGeom>
        </p:spPr>
      </p:pic>
      <p:pic>
        <p:nvPicPr>
          <p:cNvPr id="51" name="Picture 50">
            <a:extLst>
              <a:ext uri="{FF2B5EF4-FFF2-40B4-BE49-F238E27FC236}">
                <a16:creationId xmlns:a16="http://schemas.microsoft.com/office/drawing/2014/main" id="{D46AAE09-E646-65ED-8E28-2D78919BD392}"/>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10760241" y="2243323"/>
            <a:ext cx="952916" cy="952916"/>
          </a:xfrm>
          <a:prstGeom prst="rect">
            <a:avLst/>
          </a:prstGeom>
        </p:spPr>
      </p:pic>
      <p:pic>
        <p:nvPicPr>
          <p:cNvPr id="52" name="Picture 51">
            <a:extLst>
              <a:ext uri="{FF2B5EF4-FFF2-40B4-BE49-F238E27FC236}">
                <a16:creationId xmlns:a16="http://schemas.microsoft.com/office/drawing/2014/main" id="{883F3CB5-D430-F4E7-95FC-F0C1AFDE8F8A}"/>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4570835" y="3721876"/>
            <a:ext cx="1027021" cy="689678"/>
          </a:xfrm>
          <a:prstGeom prst="rect">
            <a:avLst/>
          </a:prstGeom>
        </p:spPr>
      </p:pic>
      <p:sp>
        <p:nvSpPr>
          <p:cNvPr id="53" name="Content Placeholder 2">
            <a:extLst>
              <a:ext uri="{FF2B5EF4-FFF2-40B4-BE49-F238E27FC236}">
                <a16:creationId xmlns:a16="http://schemas.microsoft.com/office/drawing/2014/main" id="{5D428EF2-8A17-067F-254A-C40D343F76E0}"/>
              </a:ext>
            </a:extLst>
          </p:cNvPr>
          <p:cNvSpPr txBox="1">
            <a:spLocks/>
          </p:cNvSpPr>
          <p:nvPr/>
        </p:nvSpPr>
        <p:spPr>
          <a:xfrm>
            <a:off x="134578" y="1704565"/>
            <a:ext cx="1562048" cy="4017270"/>
          </a:xfrm>
          <a:prstGeom prst="rect">
            <a:avLst/>
          </a:prstGeom>
          <a:ln>
            <a:solidFill>
              <a:srgbClr val="414042"/>
            </a:solidFill>
          </a:ln>
        </p:spPr>
        <p:txBody>
          <a:bodyPr vert="horz" lIns="91440" tIns="45720" rIns="91440" bIns="45720" rtlCol="0">
            <a:normAutofit/>
          </a:bodyPr>
          <a:lstStyle>
            <a:lvl1pPr marL="0" indent="0" algn="l" defTabSz="1219139" rtl="0" eaLnBrk="1" latinLnBrk="0" hangingPunct="1">
              <a:spcBef>
                <a:spcPct val="20000"/>
              </a:spcBef>
              <a:buFont typeface="Arial" panose="020B0604020202020204" pitchFamily="34" charset="0"/>
              <a:buNone/>
              <a:defRPr sz="2133" kern="1200">
                <a:solidFill>
                  <a:schemeClr val="tx1"/>
                </a:solidFill>
                <a:latin typeface="Arial" panose="020B0604020202020204" pitchFamily="34" charset="0"/>
                <a:ea typeface="+mn-ea"/>
                <a:cs typeface="Arial" panose="020B0604020202020204" pitchFamily="34" charset="0"/>
              </a:defRPr>
            </a:lvl1pPr>
            <a:lvl2pPr marL="990551" indent="-380982" algn="l" defTabSz="1219139" rtl="0" eaLnBrk="1" latinLnBrk="0" hangingPunct="1">
              <a:spcBef>
                <a:spcPct val="20000"/>
              </a:spcBef>
              <a:buClr>
                <a:srgbClr val="37A5AC"/>
              </a:buClr>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600121" indent="-380982"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828709" indent="0" algn="l" defTabSz="1219139" rtl="0" eaLnBrk="1" latinLnBrk="0" hangingPunct="1">
              <a:spcBef>
                <a:spcPct val="20000"/>
              </a:spcBef>
              <a:buFont typeface="Arial" panose="020B0604020202020204" pitchFamily="34" charset="0"/>
              <a:buNone/>
              <a:defRPr sz="1867"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743063" indent="-304784" algn="l" defTabSz="1219139" rtl="0" eaLnBrk="1" latinLnBrk="0" hangingPunct="1">
              <a:spcBef>
                <a:spcPct val="20000"/>
              </a:spcBef>
              <a:buFont typeface="Arial" panose="020B0604020202020204" pitchFamily="34" charset="0"/>
              <a:buChar char="»"/>
              <a:defRPr sz="1867"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335263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39"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lvl="0" indent="0" algn="ctr" defTabSz="1219139"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2133" b="0" i="0" u="none" strike="noStrike" kern="1200" cap="none" spc="0" normalizeH="0" baseline="0" noProof="0" dirty="0">
                <a:ln>
                  <a:noFill/>
                </a:ln>
                <a:solidFill>
                  <a:srgbClr val="414042"/>
                </a:solidFill>
                <a:effectLst/>
                <a:uLnTx/>
                <a:uFillTx/>
                <a:latin typeface="Arial" panose="020B0604020202020204" pitchFamily="34" charset="0"/>
                <a:ea typeface="+mn-ea"/>
                <a:cs typeface="Arial" panose="020B0604020202020204" pitchFamily="34" charset="0"/>
              </a:rPr>
              <a:t>Still Imagery Systems</a:t>
            </a:r>
          </a:p>
        </p:txBody>
      </p:sp>
      <p:pic>
        <p:nvPicPr>
          <p:cNvPr id="54" name="Picture 53">
            <a:extLst>
              <a:ext uri="{FF2B5EF4-FFF2-40B4-BE49-F238E27FC236}">
                <a16:creationId xmlns:a16="http://schemas.microsoft.com/office/drawing/2014/main" id="{5732A746-4BA4-D100-2D56-712944AAF741}"/>
              </a:ext>
            </a:extLst>
          </p:cNvPr>
          <p:cNvPicPr>
            <a:picLocks noChangeAspect="1"/>
          </p:cNvPicPr>
          <p:nvPr/>
        </p:nvPicPr>
        <p:blipFill rotWithShape="1">
          <a:blip r:embed="rId12" cstate="screen">
            <a:extLst>
              <a:ext uri="{28A0092B-C50C-407E-A947-70E740481C1C}">
                <a14:useLocalDpi xmlns:a14="http://schemas.microsoft.com/office/drawing/2010/main"/>
              </a:ext>
            </a:extLst>
          </a:blip>
          <a:srcRect/>
          <a:stretch/>
        </p:blipFill>
        <p:spPr>
          <a:xfrm>
            <a:off x="289839" y="2798284"/>
            <a:ext cx="1251526" cy="1352550"/>
          </a:xfrm>
          <a:prstGeom prst="rect">
            <a:avLst/>
          </a:prstGeom>
        </p:spPr>
      </p:pic>
      <p:pic>
        <p:nvPicPr>
          <p:cNvPr id="55" name="Picture 6" descr="Sensors Research : University of Dayton, Ohio">
            <a:extLst>
              <a:ext uri="{FF2B5EF4-FFF2-40B4-BE49-F238E27FC236}">
                <a16:creationId xmlns:a16="http://schemas.microsoft.com/office/drawing/2014/main" id="{C37A7912-51F8-11E6-625E-5911E4D9C57A}"/>
              </a:ext>
            </a:extLst>
          </p:cNvPr>
          <p:cNvPicPr>
            <a:picLocks noChangeAspect="1" noChangeArrowheads="1"/>
          </p:cNvPicPr>
          <p:nvPr/>
        </p:nvPicPr>
        <p:blipFill rotWithShape="1">
          <a:blip r:embed="rId13" cstate="screen">
            <a:extLst>
              <a:ext uri="{28A0092B-C50C-407E-A947-70E740481C1C}">
                <a14:useLocalDpi xmlns:a14="http://schemas.microsoft.com/office/drawing/2010/main"/>
              </a:ext>
            </a:extLst>
          </a:blip>
          <a:srcRect/>
          <a:stretch/>
        </p:blipFill>
        <p:spPr bwMode="auto">
          <a:xfrm>
            <a:off x="9878983" y="3415234"/>
            <a:ext cx="1535336" cy="749043"/>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5">
            <a:extLst>
              <a:ext uri="{FF2B5EF4-FFF2-40B4-BE49-F238E27FC236}">
                <a16:creationId xmlns:a16="http://schemas.microsoft.com/office/drawing/2014/main" id="{483473F6-E6C4-58FF-D04C-A0B81BA7D920}"/>
              </a:ext>
            </a:extLst>
          </p:cNvPr>
          <p:cNvPicPr>
            <a:picLocks noChangeAspect="1"/>
          </p:cNvPicPr>
          <p:nvPr/>
        </p:nvPicPr>
        <p:blipFill rotWithShape="1">
          <a:blip r:embed="rId14" cstate="screen">
            <a:extLst>
              <a:ext uri="{28A0092B-C50C-407E-A947-70E740481C1C}">
                <a14:useLocalDpi xmlns:a14="http://schemas.microsoft.com/office/drawing/2010/main"/>
              </a:ext>
            </a:extLst>
          </a:blip>
          <a:srcRect/>
          <a:stretch/>
        </p:blipFill>
        <p:spPr>
          <a:xfrm>
            <a:off x="6960971" y="2280582"/>
            <a:ext cx="2221867" cy="785215"/>
          </a:xfrm>
          <a:prstGeom prst="rect">
            <a:avLst/>
          </a:prstGeom>
        </p:spPr>
      </p:pic>
      <p:sp>
        <p:nvSpPr>
          <p:cNvPr id="57" name="TextBox 56">
            <a:extLst>
              <a:ext uri="{FF2B5EF4-FFF2-40B4-BE49-F238E27FC236}">
                <a16:creationId xmlns:a16="http://schemas.microsoft.com/office/drawing/2014/main" id="{AA8957EC-E5AB-9455-F7CB-EDA05E2D1BEA}"/>
              </a:ext>
            </a:extLst>
          </p:cNvPr>
          <p:cNvSpPr txBox="1"/>
          <p:nvPr/>
        </p:nvSpPr>
        <p:spPr>
          <a:xfrm>
            <a:off x="4245229" y="6169845"/>
            <a:ext cx="2591230" cy="400110"/>
          </a:xfrm>
          <a:prstGeom prst="rect">
            <a:avLst/>
          </a:prstGeom>
          <a:solidFill>
            <a:srgbClr val="7030A0"/>
          </a:solidFill>
          <a:ln>
            <a:solidFill>
              <a:srgbClr val="414042"/>
            </a:solid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prstClr val="white"/>
                </a:solidFill>
                <a:effectLst/>
                <a:uLnTx/>
                <a:uFillTx/>
              </a:rPr>
              <a:t>GIMI/IDO</a:t>
            </a:r>
          </a:p>
        </p:txBody>
      </p:sp>
      <p:cxnSp>
        <p:nvCxnSpPr>
          <p:cNvPr id="58" name="Straight Arrow Connector 57">
            <a:extLst>
              <a:ext uri="{FF2B5EF4-FFF2-40B4-BE49-F238E27FC236}">
                <a16:creationId xmlns:a16="http://schemas.microsoft.com/office/drawing/2014/main" id="{F4E5FD62-BFB3-2F7E-40CE-36F9E2A33896}"/>
              </a:ext>
            </a:extLst>
          </p:cNvPr>
          <p:cNvCxnSpPr>
            <a:stCxn id="53" idx="2"/>
            <a:endCxn id="57" idx="1"/>
          </p:cNvCxnSpPr>
          <p:nvPr/>
        </p:nvCxnSpPr>
        <p:spPr>
          <a:xfrm>
            <a:off x="915602" y="5721835"/>
            <a:ext cx="3329627" cy="648065"/>
          </a:xfrm>
          <a:prstGeom prst="straightConnector1">
            <a:avLst/>
          </a:prstGeom>
          <a:noFill/>
          <a:ln w="28575" cap="flat" cmpd="sng" algn="ctr">
            <a:solidFill>
              <a:srgbClr val="1E4D7C">
                <a:shade val="95000"/>
                <a:satMod val="105000"/>
              </a:srgbClr>
            </a:solidFill>
            <a:prstDash val="solid"/>
            <a:tailEnd type="triangle" w="lg" len="med"/>
          </a:ln>
          <a:effectLst/>
        </p:spPr>
      </p:cxnSp>
      <p:cxnSp>
        <p:nvCxnSpPr>
          <p:cNvPr id="59" name="Straight Arrow Connector 58">
            <a:extLst>
              <a:ext uri="{FF2B5EF4-FFF2-40B4-BE49-F238E27FC236}">
                <a16:creationId xmlns:a16="http://schemas.microsoft.com/office/drawing/2014/main" id="{20A36AE0-467A-ED51-5005-D53A2BB3965D}"/>
              </a:ext>
            </a:extLst>
          </p:cNvPr>
          <p:cNvCxnSpPr>
            <a:cxnSpLocks/>
            <a:stCxn id="45" idx="2"/>
          </p:cNvCxnSpPr>
          <p:nvPr/>
        </p:nvCxnSpPr>
        <p:spPr>
          <a:xfrm>
            <a:off x="3007761" y="5723927"/>
            <a:ext cx="1232389" cy="445918"/>
          </a:xfrm>
          <a:prstGeom prst="straightConnector1">
            <a:avLst/>
          </a:prstGeom>
          <a:noFill/>
          <a:ln w="28575" cap="flat" cmpd="sng" algn="ctr">
            <a:solidFill>
              <a:srgbClr val="1E4D7C">
                <a:shade val="95000"/>
                <a:satMod val="105000"/>
              </a:srgbClr>
            </a:solidFill>
            <a:prstDash val="solid"/>
            <a:tailEnd type="triangle" w="lg" len="med"/>
          </a:ln>
          <a:effectLst/>
        </p:spPr>
      </p:cxnSp>
      <p:cxnSp>
        <p:nvCxnSpPr>
          <p:cNvPr id="60" name="Straight Arrow Connector 59">
            <a:extLst>
              <a:ext uri="{FF2B5EF4-FFF2-40B4-BE49-F238E27FC236}">
                <a16:creationId xmlns:a16="http://schemas.microsoft.com/office/drawing/2014/main" id="{4CC59A99-99AA-3FA3-EC04-4542DF745243}"/>
              </a:ext>
            </a:extLst>
          </p:cNvPr>
          <p:cNvCxnSpPr>
            <a:cxnSpLocks/>
            <a:stCxn id="47" idx="2"/>
            <a:endCxn id="57" idx="0"/>
          </p:cNvCxnSpPr>
          <p:nvPr/>
        </p:nvCxnSpPr>
        <p:spPr>
          <a:xfrm>
            <a:off x="5538305" y="5723927"/>
            <a:ext cx="2539" cy="445918"/>
          </a:xfrm>
          <a:prstGeom prst="straightConnector1">
            <a:avLst/>
          </a:prstGeom>
          <a:noFill/>
          <a:ln w="28575" cap="flat" cmpd="sng" algn="ctr">
            <a:solidFill>
              <a:srgbClr val="1E4D7C">
                <a:shade val="95000"/>
                <a:satMod val="105000"/>
              </a:srgbClr>
            </a:solidFill>
            <a:prstDash val="solid"/>
            <a:tailEnd type="triangle" w="lg" len="med"/>
          </a:ln>
          <a:effectLst/>
        </p:spPr>
      </p:cxnSp>
      <p:cxnSp>
        <p:nvCxnSpPr>
          <p:cNvPr id="61" name="Straight Arrow Connector 60">
            <a:extLst>
              <a:ext uri="{FF2B5EF4-FFF2-40B4-BE49-F238E27FC236}">
                <a16:creationId xmlns:a16="http://schemas.microsoft.com/office/drawing/2014/main" id="{DF25A762-338D-E032-C125-230E0019C52F}"/>
              </a:ext>
            </a:extLst>
          </p:cNvPr>
          <p:cNvCxnSpPr>
            <a:cxnSpLocks/>
            <a:stCxn id="48" idx="2"/>
          </p:cNvCxnSpPr>
          <p:nvPr/>
        </p:nvCxnSpPr>
        <p:spPr>
          <a:xfrm flipH="1">
            <a:off x="6873584" y="5723927"/>
            <a:ext cx="1188868" cy="445918"/>
          </a:xfrm>
          <a:prstGeom prst="straightConnector1">
            <a:avLst/>
          </a:prstGeom>
          <a:noFill/>
          <a:ln w="28575" cap="flat" cmpd="sng" algn="ctr">
            <a:solidFill>
              <a:srgbClr val="1E4D7C">
                <a:shade val="95000"/>
                <a:satMod val="105000"/>
              </a:srgbClr>
            </a:solidFill>
            <a:prstDash val="solid"/>
            <a:tailEnd type="triangle" w="lg" len="med"/>
          </a:ln>
          <a:effectLst/>
        </p:spPr>
      </p:cxnSp>
      <p:cxnSp>
        <p:nvCxnSpPr>
          <p:cNvPr id="62" name="Straight Arrow Connector 61">
            <a:extLst>
              <a:ext uri="{FF2B5EF4-FFF2-40B4-BE49-F238E27FC236}">
                <a16:creationId xmlns:a16="http://schemas.microsoft.com/office/drawing/2014/main" id="{859CAC8D-C5AD-54A0-FFA4-1A7FFEE19636}"/>
              </a:ext>
            </a:extLst>
          </p:cNvPr>
          <p:cNvCxnSpPr>
            <a:cxnSpLocks/>
            <a:stCxn id="49" idx="2"/>
            <a:endCxn id="57" idx="3"/>
          </p:cNvCxnSpPr>
          <p:nvPr/>
        </p:nvCxnSpPr>
        <p:spPr>
          <a:xfrm flipH="1">
            <a:off x="6836459" y="5723927"/>
            <a:ext cx="3769048" cy="645973"/>
          </a:xfrm>
          <a:prstGeom prst="straightConnector1">
            <a:avLst/>
          </a:prstGeom>
          <a:noFill/>
          <a:ln w="28575" cap="flat" cmpd="sng" algn="ctr">
            <a:solidFill>
              <a:srgbClr val="1E4D7C">
                <a:shade val="95000"/>
                <a:satMod val="105000"/>
              </a:srgbClr>
            </a:solidFill>
            <a:prstDash val="solid"/>
            <a:tailEnd type="triangle" w="lg" len="med"/>
          </a:ln>
          <a:effectLst/>
        </p:spPr>
      </p:cxnSp>
      <p:pic>
        <p:nvPicPr>
          <p:cNvPr id="63" name="Picture 62">
            <a:extLst>
              <a:ext uri="{FF2B5EF4-FFF2-40B4-BE49-F238E27FC236}">
                <a16:creationId xmlns:a16="http://schemas.microsoft.com/office/drawing/2014/main" id="{E76601C2-44D9-7D71-83E6-BD754294C3C4}"/>
              </a:ext>
            </a:extLst>
          </p:cNvPr>
          <p:cNvPicPr>
            <a:picLocks noChangeAspect="1"/>
          </p:cNvPicPr>
          <p:nvPr/>
        </p:nvPicPr>
        <p:blipFill rotWithShape="1">
          <a:blip r:embed="rId15" cstate="screen">
            <a:extLst>
              <a:ext uri="{28A0092B-C50C-407E-A947-70E740481C1C}">
                <a14:useLocalDpi xmlns:a14="http://schemas.microsoft.com/office/drawing/2010/main"/>
              </a:ext>
            </a:extLst>
          </a:blip>
          <a:srcRect/>
          <a:stretch/>
        </p:blipFill>
        <p:spPr>
          <a:xfrm>
            <a:off x="165098" y="4345620"/>
            <a:ext cx="1493742" cy="511434"/>
          </a:xfrm>
          <a:prstGeom prst="rect">
            <a:avLst/>
          </a:prstGeom>
        </p:spPr>
      </p:pic>
      <p:sp>
        <p:nvSpPr>
          <p:cNvPr id="64" name="TextBox 63">
            <a:extLst>
              <a:ext uri="{FF2B5EF4-FFF2-40B4-BE49-F238E27FC236}">
                <a16:creationId xmlns:a16="http://schemas.microsoft.com/office/drawing/2014/main" id="{9525B7DF-28EB-DDAE-63DF-091431C4792E}"/>
              </a:ext>
            </a:extLst>
          </p:cNvPr>
          <p:cNvSpPr txBox="1"/>
          <p:nvPr/>
        </p:nvSpPr>
        <p:spPr>
          <a:xfrm>
            <a:off x="151030" y="905195"/>
            <a:ext cx="11633289" cy="338554"/>
          </a:xfrm>
          <a:prstGeom prst="rect">
            <a:avLst/>
          </a:prstGeom>
          <a:solidFill>
            <a:srgbClr val="089247">
              <a:lumMod val="75000"/>
            </a:srgbClr>
          </a:solidFill>
          <a:ln>
            <a:solidFill>
              <a:srgbClr val="414042"/>
            </a:solid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rPr>
              <a:t>Broad Spectrum Imaging (UV, Vis, SWIR, MWIR, LWIR, Multi-Spectral, Hyperspectral, etc.)</a:t>
            </a:r>
          </a:p>
        </p:txBody>
      </p:sp>
      <p:sp>
        <p:nvSpPr>
          <p:cNvPr id="65" name="TextBox 64">
            <a:extLst>
              <a:ext uri="{FF2B5EF4-FFF2-40B4-BE49-F238E27FC236}">
                <a16:creationId xmlns:a16="http://schemas.microsoft.com/office/drawing/2014/main" id="{2383BA3E-365F-AAB4-6CE2-9D2D00BDE64C}"/>
              </a:ext>
            </a:extLst>
          </p:cNvPr>
          <p:cNvSpPr txBox="1"/>
          <p:nvPr/>
        </p:nvSpPr>
        <p:spPr>
          <a:xfrm>
            <a:off x="134578" y="1295112"/>
            <a:ext cx="11649741" cy="338554"/>
          </a:xfrm>
          <a:prstGeom prst="rect">
            <a:avLst/>
          </a:prstGeom>
          <a:solidFill>
            <a:srgbClr val="0070C0"/>
          </a:solidFill>
          <a:ln>
            <a:solidFill>
              <a:srgbClr val="414042"/>
            </a:solid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rPr>
              <a:t>“Other” Sensor/Metadata Ingest (Ranging, Orientation, Position, Temperature, Audio, etc.)</a:t>
            </a:r>
          </a:p>
        </p:txBody>
      </p:sp>
      <p:pic>
        <p:nvPicPr>
          <p:cNvPr id="66" name="Picture 2" descr="Amazon.com : GoPro HERO8 Black - Waterproof Action Camera with ...">
            <a:extLst>
              <a:ext uri="{FF2B5EF4-FFF2-40B4-BE49-F238E27FC236}">
                <a16:creationId xmlns:a16="http://schemas.microsoft.com/office/drawing/2014/main" id="{305B6DB7-5E61-71E0-3546-55AA7548842D}"/>
              </a:ext>
            </a:extLst>
          </p:cNvPr>
          <p:cNvPicPr>
            <a:picLocks noChangeAspect="1" noChangeArrowheads="1"/>
          </p:cNvPicPr>
          <p:nvPr/>
        </p:nvPicPr>
        <p:blipFill rotWithShape="1">
          <a:blip r:embed="rId16" cstate="screen">
            <a:extLst>
              <a:ext uri="{28A0092B-C50C-407E-A947-70E740481C1C}">
                <a14:useLocalDpi xmlns:a14="http://schemas.microsoft.com/office/drawing/2010/main"/>
              </a:ext>
            </a:extLst>
          </a:blip>
          <a:srcRect/>
          <a:stretch/>
        </p:blipFill>
        <p:spPr bwMode="auto">
          <a:xfrm>
            <a:off x="10707043" y="4572592"/>
            <a:ext cx="1049562" cy="743020"/>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6">
            <a:extLst>
              <a:ext uri="{FF2B5EF4-FFF2-40B4-BE49-F238E27FC236}">
                <a16:creationId xmlns:a16="http://schemas.microsoft.com/office/drawing/2014/main" id="{3FED0EC4-0CCD-CA12-E550-56FD18E35E31}"/>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2123948" y="4496078"/>
            <a:ext cx="1825576" cy="1159568"/>
          </a:xfrm>
          <a:prstGeom prst="rect">
            <a:avLst/>
          </a:prstGeom>
        </p:spPr>
      </p:pic>
      <p:pic>
        <p:nvPicPr>
          <p:cNvPr id="68" name="Picture 67">
            <a:extLst>
              <a:ext uri="{FF2B5EF4-FFF2-40B4-BE49-F238E27FC236}">
                <a16:creationId xmlns:a16="http://schemas.microsoft.com/office/drawing/2014/main" id="{1A6F3931-B4B1-564F-A4D1-92D30677E04B}"/>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2417401" y="3429000"/>
            <a:ext cx="1723514" cy="1007726"/>
          </a:xfrm>
          <a:prstGeom prst="rect">
            <a:avLst/>
          </a:prstGeom>
        </p:spPr>
      </p:pic>
      <p:pic>
        <p:nvPicPr>
          <p:cNvPr id="69" name="Picture 68">
            <a:extLst>
              <a:ext uri="{FF2B5EF4-FFF2-40B4-BE49-F238E27FC236}">
                <a16:creationId xmlns:a16="http://schemas.microsoft.com/office/drawing/2014/main" id="{D97A6214-D644-F6A4-A5B3-6928CE19A01A}"/>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1924421" y="3413715"/>
            <a:ext cx="1201864" cy="804595"/>
          </a:xfrm>
          <a:prstGeom prst="rect">
            <a:avLst/>
          </a:prstGeom>
        </p:spPr>
      </p:pic>
    </p:spTree>
    <p:extLst>
      <p:ext uri="{BB962C8B-B14F-4D97-AF65-F5344CB8AC3E}">
        <p14:creationId xmlns:p14="http://schemas.microsoft.com/office/powerpoint/2010/main" val="19484378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rapezoid 63">
            <a:extLst>
              <a:ext uri="{FF2B5EF4-FFF2-40B4-BE49-F238E27FC236}">
                <a16:creationId xmlns:a16="http://schemas.microsoft.com/office/drawing/2014/main" id="{214A09A4-A83A-AF40-85AD-FD2679F7B05E}"/>
              </a:ext>
            </a:extLst>
          </p:cNvPr>
          <p:cNvSpPr/>
          <p:nvPr/>
        </p:nvSpPr>
        <p:spPr>
          <a:xfrm>
            <a:off x="5025346" y="840729"/>
            <a:ext cx="2140373" cy="1683531"/>
          </a:xfrm>
          <a:prstGeom prst="trapezoid">
            <a:avLst>
              <a:gd name="adj" fmla="val 66260"/>
            </a:avLst>
          </a:prstGeom>
          <a:solidFill>
            <a:srgbClr val="7030A0"/>
          </a:solidFill>
          <a:ln w="25400" cap="flat" cmpd="sng" algn="ctr">
            <a:solidFill>
              <a:srgbClr val="1E4D7C">
                <a:shade val="50000"/>
              </a:srgbClr>
            </a:solidFill>
            <a:prstDash val="solid"/>
          </a:ln>
          <a:effectLst/>
        </p:spPr>
        <p:txBody>
          <a:bodyPr lIns="0" rIns="0" rtlCol="0" anchor="ctr"/>
          <a:lstStyle/>
          <a:p>
            <a:pPr marL="53975" marR="0" lvl="0" indent="-53975"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Calibri"/>
              <a:ea typeface="+mn-ea"/>
              <a:cs typeface="+mn-cs"/>
            </a:endParaRPr>
          </a:p>
          <a:p>
            <a:pPr marL="53975" marR="0" lvl="0" indent="-53975"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Calibri"/>
              <a:ea typeface="+mn-ea"/>
              <a:cs typeface="+mn-cs"/>
            </a:endParaRPr>
          </a:p>
        </p:txBody>
      </p:sp>
      <p:sp>
        <p:nvSpPr>
          <p:cNvPr id="54" name="Trapezoid 53">
            <a:extLst>
              <a:ext uri="{FF2B5EF4-FFF2-40B4-BE49-F238E27FC236}">
                <a16:creationId xmlns:a16="http://schemas.microsoft.com/office/drawing/2014/main" id="{30E20712-EA45-5E39-3043-59CBD13D2712}"/>
              </a:ext>
            </a:extLst>
          </p:cNvPr>
          <p:cNvSpPr/>
          <p:nvPr/>
        </p:nvSpPr>
        <p:spPr>
          <a:xfrm>
            <a:off x="2758771" y="5072274"/>
            <a:ext cx="5193929" cy="846983"/>
          </a:xfrm>
          <a:prstGeom prst="trapezoid">
            <a:avLst>
              <a:gd name="adj" fmla="val 66260"/>
            </a:avLst>
          </a:prstGeom>
          <a:solidFill>
            <a:srgbClr val="1E4D7C">
              <a:lumMod val="60000"/>
              <a:lumOff val="40000"/>
            </a:srgbClr>
          </a:solidFill>
          <a:ln w="25400" cap="flat" cmpd="sng" algn="ctr">
            <a:solidFill>
              <a:srgbClr val="1E4D7C">
                <a:shade val="50000"/>
              </a:srgbClr>
            </a:solidFill>
            <a:prstDash val="solid"/>
          </a:ln>
          <a:effectLst/>
        </p:spPr>
        <p:txBody>
          <a:bodyPr rtlCol="0" anchor="ctr"/>
          <a:lstStyle/>
          <a:p>
            <a:pPr marL="115888"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a:ln>
                  <a:noFill/>
                </a:ln>
                <a:solidFill>
                  <a:prstClr val="white"/>
                </a:solidFill>
                <a:effectLst/>
                <a:uLnTx/>
                <a:uFillTx/>
                <a:latin typeface="Calibri"/>
                <a:ea typeface="+mn-ea"/>
                <a:cs typeface="+mn-cs"/>
              </a:rPr>
              <a:t>HEIF</a:t>
            </a:r>
          </a:p>
        </p:txBody>
      </p:sp>
      <p:sp>
        <p:nvSpPr>
          <p:cNvPr id="55" name="Trapezoid 54">
            <a:extLst>
              <a:ext uri="{FF2B5EF4-FFF2-40B4-BE49-F238E27FC236}">
                <a16:creationId xmlns:a16="http://schemas.microsoft.com/office/drawing/2014/main" id="{E54D8D33-EA74-584A-C48B-E0E648036668}"/>
              </a:ext>
            </a:extLst>
          </p:cNvPr>
          <p:cNvSpPr/>
          <p:nvPr/>
        </p:nvSpPr>
        <p:spPr>
          <a:xfrm>
            <a:off x="3332479" y="4219482"/>
            <a:ext cx="4064002" cy="846983"/>
          </a:xfrm>
          <a:prstGeom prst="trapezoid">
            <a:avLst>
              <a:gd name="adj" fmla="val 66260"/>
            </a:avLst>
          </a:prstGeom>
          <a:solidFill>
            <a:srgbClr val="192F43">
              <a:lumMod val="50000"/>
              <a:lumOff val="50000"/>
            </a:srgbClr>
          </a:solidFill>
          <a:ln w="25400" cap="flat" cmpd="sng" algn="ctr">
            <a:solidFill>
              <a:srgbClr val="1E4D7C">
                <a:shade val="50000"/>
              </a:srgbClr>
            </a:solidFill>
            <a:prstDash val="solid"/>
          </a:ln>
          <a:effectLst/>
        </p:spPr>
        <p:txBody>
          <a:bodyPr lIns="0" rIns="0" rtlCol="0" anchor="ctr"/>
          <a:lstStyle/>
          <a:p>
            <a:pPr marL="346075"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Calibri"/>
              <a:ea typeface="+mn-ea"/>
              <a:cs typeface="+mn-cs"/>
            </a:endParaRPr>
          </a:p>
        </p:txBody>
      </p:sp>
      <p:sp>
        <p:nvSpPr>
          <p:cNvPr id="56" name="Trapezoid 55">
            <a:extLst>
              <a:ext uri="{FF2B5EF4-FFF2-40B4-BE49-F238E27FC236}">
                <a16:creationId xmlns:a16="http://schemas.microsoft.com/office/drawing/2014/main" id="{BD0408B6-B07D-41C8-0AFE-03CB9731A6CC}"/>
              </a:ext>
            </a:extLst>
          </p:cNvPr>
          <p:cNvSpPr/>
          <p:nvPr/>
        </p:nvSpPr>
        <p:spPr>
          <a:xfrm>
            <a:off x="2201334" y="5912484"/>
            <a:ext cx="6312747" cy="846983"/>
          </a:xfrm>
          <a:prstGeom prst="trapezoid">
            <a:avLst>
              <a:gd name="adj" fmla="val 66260"/>
            </a:avLst>
          </a:prstGeom>
          <a:solidFill>
            <a:srgbClr val="192F43">
              <a:lumMod val="75000"/>
              <a:lumOff val="25000"/>
            </a:srgbClr>
          </a:solidFill>
          <a:ln w="25400" cap="flat" cmpd="sng" algn="ctr">
            <a:solidFill>
              <a:srgbClr val="1E4D7C">
                <a:shade val="50000"/>
              </a:srgbClr>
            </a:solidFill>
            <a:prstDash val="solid"/>
          </a:ln>
          <a:effectLst/>
        </p:spPr>
        <p:txBody>
          <a:bodyPr rtlCol="0" anchor="ctr"/>
          <a:lstStyle/>
          <a:p>
            <a:pPr marL="53975"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a:ln>
                  <a:noFill/>
                </a:ln>
                <a:solidFill>
                  <a:prstClr val="white"/>
                </a:solidFill>
                <a:effectLst/>
                <a:uLnTx/>
                <a:uFillTx/>
                <a:latin typeface="Calibri"/>
                <a:ea typeface="+mn-ea"/>
                <a:cs typeface="+mn-cs"/>
              </a:rPr>
              <a:t>ISOBMFF</a:t>
            </a:r>
          </a:p>
        </p:txBody>
      </p:sp>
      <p:sp>
        <p:nvSpPr>
          <p:cNvPr id="57" name="Trapezoid 56">
            <a:extLst>
              <a:ext uri="{FF2B5EF4-FFF2-40B4-BE49-F238E27FC236}">
                <a16:creationId xmlns:a16="http://schemas.microsoft.com/office/drawing/2014/main" id="{46434E48-1C03-57EE-F01B-22208187FCF3}"/>
              </a:ext>
            </a:extLst>
          </p:cNvPr>
          <p:cNvSpPr/>
          <p:nvPr/>
        </p:nvSpPr>
        <p:spPr>
          <a:xfrm>
            <a:off x="3904825" y="3372499"/>
            <a:ext cx="2939628" cy="846983"/>
          </a:xfrm>
          <a:prstGeom prst="trapezoid">
            <a:avLst>
              <a:gd name="adj" fmla="val 66260"/>
            </a:avLst>
          </a:prstGeom>
          <a:solidFill>
            <a:srgbClr val="1E4D7C">
              <a:lumMod val="40000"/>
              <a:lumOff val="60000"/>
            </a:srgbClr>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D8D8D8">
                    <a:lumMod val="10000"/>
                  </a:srgbClr>
                </a:solidFill>
                <a:effectLst/>
                <a:uLnTx/>
                <a:uFillTx/>
                <a:latin typeface="Calibri"/>
                <a:ea typeface="+mn-ea"/>
                <a:cs typeface="+mn-cs"/>
              </a:rPr>
              <a:t>KLV, RDF,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rgbClr val="D8D8D8">
                    <a:lumMod val="10000"/>
                  </a:srgbClr>
                </a:solidFill>
                <a:effectLst/>
                <a:uLnTx/>
                <a:uFillTx/>
                <a:latin typeface="Calibri"/>
                <a:ea typeface="+mn-ea"/>
                <a:cs typeface="+mn-cs"/>
              </a:rPr>
              <a:t>GraphDB</a:t>
            </a:r>
            <a:r>
              <a:rPr kumimoji="0" lang="en-US" sz="1800" b="0" i="0" u="none" strike="noStrike" kern="0" cap="none" spc="0" normalizeH="0" baseline="0" noProof="0" dirty="0">
                <a:ln>
                  <a:noFill/>
                </a:ln>
                <a:solidFill>
                  <a:srgbClr val="D8D8D8">
                    <a:lumMod val="10000"/>
                  </a:srgbClr>
                </a:solidFill>
                <a:effectLst/>
                <a:uLnTx/>
                <a:uFillTx/>
                <a:latin typeface="Calibri"/>
                <a:ea typeface="+mn-ea"/>
                <a:cs typeface="+mn-cs"/>
              </a:rPr>
              <a:t>, </a:t>
            </a:r>
            <a:r>
              <a:rPr kumimoji="0" lang="en-US" sz="1800" b="0" i="0" u="none" strike="noStrike" kern="0" cap="none" spc="0" normalizeH="0" baseline="0" noProof="0" dirty="0" err="1">
                <a:ln>
                  <a:noFill/>
                </a:ln>
                <a:solidFill>
                  <a:srgbClr val="D8D8D8">
                    <a:lumMod val="10000"/>
                  </a:srgbClr>
                </a:solidFill>
                <a:effectLst/>
                <a:uLnTx/>
                <a:uFillTx/>
                <a:latin typeface="Calibri"/>
                <a:ea typeface="+mn-ea"/>
                <a:cs typeface="+mn-cs"/>
              </a:rPr>
              <a:t>SparQL</a:t>
            </a:r>
            <a:endParaRPr kumimoji="0" lang="en-US" sz="1800" b="0" i="0" u="none" strike="noStrike" kern="0" cap="none" spc="0" normalizeH="0" baseline="0" noProof="0" dirty="0">
              <a:ln>
                <a:noFill/>
              </a:ln>
              <a:solidFill>
                <a:srgbClr val="D8D8D8">
                  <a:lumMod val="10000"/>
                </a:srgbClr>
              </a:solidFill>
              <a:effectLst/>
              <a:uLnTx/>
              <a:uFillTx/>
              <a:latin typeface="Calibri"/>
              <a:ea typeface="+mn-ea"/>
              <a:cs typeface="+mn-cs"/>
            </a:endParaRPr>
          </a:p>
        </p:txBody>
      </p:sp>
      <p:sp>
        <p:nvSpPr>
          <p:cNvPr id="58" name="Parallelogram 57">
            <a:extLst>
              <a:ext uri="{FF2B5EF4-FFF2-40B4-BE49-F238E27FC236}">
                <a16:creationId xmlns:a16="http://schemas.microsoft.com/office/drawing/2014/main" id="{762E7DFF-4393-388D-D390-2592FD3E2373}"/>
              </a:ext>
            </a:extLst>
          </p:cNvPr>
          <p:cNvSpPr/>
          <p:nvPr/>
        </p:nvSpPr>
        <p:spPr>
          <a:xfrm flipH="1">
            <a:off x="7394691" y="5072274"/>
            <a:ext cx="1991359" cy="846983"/>
          </a:xfrm>
          <a:prstGeom prst="parallelogram">
            <a:avLst>
              <a:gd name="adj" fmla="val 65442"/>
            </a:avLst>
          </a:prstGeom>
          <a:solidFill>
            <a:sysClr val="window" lastClr="FFFFFF">
              <a:lumMod val="85000"/>
            </a:sysClr>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D8D8D8">
                    <a:lumMod val="10000"/>
                  </a:srgbClr>
                </a:solidFill>
                <a:effectLst/>
                <a:uLnTx/>
                <a:uFillTx/>
                <a:latin typeface="Calibri"/>
                <a:ea typeface="+mn-ea"/>
                <a:cs typeface="+mn-cs"/>
              </a:rPr>
              <a:t>Open Source &amp; Commercial Software Tools</a:t>
            </a:r>
          </a:p>
        </p:txBody>
      </p:sp>
      <p:sp>
        <p:nvSpPr>
          <p:cNvPr id="59" name="Parallelogram 58">
            <a:extLst>
              <a:ext uri="{FF2B5EF4-FFF2-40B4-BE49-F238E27FC236}">
                <a16:creationId xmlns:a16="http://schemas.microsoft.com/office/drawing/2014/main" id="{795A30E7-33FB-F087-F5DD-1B30CA96C84F}"/>
              </a:ext>
            </a:extLst>
          </p:cNvPr>
          <p:cNvSpPr/>
          <p:nvPr/>
        </p:nvSpPr>
        <p:spPr>
          <a:xfrm flipH="1">
            <a:off x="7945266" y="5909334"/>
            <a:ext cx="1991359" cy="846983"/>
          </a:xfrm>
          <a:prstGeom prst="parallelogram">
            <a:avLst>
              <a:gd name="adj" fmla="val 65442"/>
            </a:avLst>
          </a:prstGeom>
          <a:solidFill>
            <a:sysClr val="window" lastClr="FFFFFF">
              <a:lumMod val="85000"/>
            </a:sysClr>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D8D8D8">
                    <a:lumMod val="10000"/>
                  </a:srgbClr>
                </a:solidFill>
                <a:effectLst/>
                <a:uLnTx/>
                <a:uFillTx/>
                <a:latin typeface="Calibri"/>
                <a:ea typeface="+mn-ea"/>
                <a:cs typeface="+mn-cs"/>
              </a:rPr>
              <a:t>Open Source &amp; Commercial Software Tools</a:t>
            </a:r>
          </a:p>
        </p:txBody>
      </p:sp>
      <p:sp>
        <p:nvSpPr>
          <p:cNvPr id="60" name="Parallelogram 59">
            <a:extLst>
              <a:ext uri="{FF2B5EF4-FFF2-40B4-BE49-F238E27FC236}">
                <a16:creationId xmlns:a16="http://schemas.microsoft.com/office/drawing/2014/main" id="{B0BCE1E2-5140-4BC2-A11D-EA89F75F1D72}"/>
              </a:ext>
            </a:extLst>
          </p:cNvPr>
          <p:cNvSpPr/>
          <p:nvPr/>
        </p:nvSpPr>
        <p:spPr>
          <a:xfrm flipH="1">
            <a:off x="6832212" y="4222044"/>
            <a:ext cx="2002647" cy="852825"/>
          </a:xfrm>
          <a:prstGeom prst="parallelogram">
            <a:avLst>
              <a:gd name="adj" fmla="val 65442"/>
            </a:avLst>
          </a:prstGeom>
          <a:solidFill>
            <a:sysClr val="window" lastClr="FFFFFF">
              <a:lumMod val="85000"/>
            </a:sysClr>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D8D8D8">
                    <a:lumMod val="10000"/>
                  </a:srgbClr>
                </a:solidFill>
                <a:effectLst/>
                <a:uLnTx/>
                <a:uFillTx/>
                <a:latin typeface="Calibri"/>
                <a:ea typeface="+mn-ea"/>
                <a:cs typeface="+mn-cs"/>
              </a:rPr>
              <a:t>Open Source &amp; Commercial Software Tools</a:t>
            </a:r>
          </a:p>
        </p:txBody>
      </p:sp>
      <p:sp>
        <p:nvSpPr>
          <p:cNvPr id="61" name="Parallelogram 60">
            <a:extLst>
              <a:ext uri="{FF2B5EF4-FFF2-40B4-BE49-F238E27FC236}">
                <a16:creationId xmlns:a16="http://schemas.microsoft.com/office/drawing/2014/main" id="{CE4C09DD-9AA3-0FD5-8A2D-CAEAFA45805E}"/>
              </a:ext>
            </a:extLst>
          </p:cNvPr>
          <p:cNvSpPr/>
          <p:nvPr/>
        </p:nvSpPr>
        <p:spPr>
          <a:xfrm flipH="1">
            <a:off x="6274363" y="3366440"/>
            <a:ext cx="2002648" cy="856931"/>
          </a:xfrm>
          <a:prstGeom prst="parallelogram">
            <a:avLst>
              <a:gd name="adj" fmla="val 65442"/>
            </a:avLst>
          </a:prstGeom>
          <a:solidFill>
            <a:sysClr val="window" lastClr="FFFFFF">
              <a:lumMod val="85000"/>
            </a:sysClr>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D8D8D8">
                    <a:lumMod val="10000"/>
                  </a:srgbClr>
                </a:solidFill>
                <a:effectLst/>
                <a:uLnTx/>
                <a:uFillTx/>
                <a:latin typeface="Calibri"/>
                <a:ea typeface="+mn-ea"/>
                <a:cs typeface="+mn-cs"/>
              </a:rPr>
              <a:t>Open Source &amp; Commercial Software Tools</a:t>
            </a:r>
          </a:p>
        </p:txBody>
      </p:sp>
      <p:sp>
        <p:nvSpPr>
          <p:cNvPr id="62" name="Trapezoid 61">
            <a:extLst>
              <a:ext uri="{FF2B5EF4-FFF2-40B4-BE49-F238E27FC236}">
                <a16:creationId xmlns:a16="http://schemas.microsoft.com/office/drawing/2014/main" id="{F54E6673-0E43-58F8-22AE-9088AE650098}"/>
              </a:ext>
            </a:extLst>
          </p:cNvPr>
          <p:cNvSpPr/>
          <p:nvPr/>
        </p:nvSpPr>
        <p:spPr>
          <a:xfrm>
            <a:off x="4467013" y="2526480"/>
            <a:ext cx="1818640" cy="846983"/>
          </a:xfrm>
          <a:prstGeom prst="trapezoid">
            <a:avLst>
              <a:gd name="adj" fmla="val 66260"/>
            </a:avLst>
          </a:prstGeom>
          <a:solidFill>
            <a:srgbClr val="192F43">
              <a:lumMod val="25000"/>
              <a:lumOff val="75000"/>
            </a:srgbClr>
          </a:solidFill>
          <a:ln w="25400" cap="flat" cmpd="sng" algn="ctr">
            <a:solidFill>
              <a:srgbClr val="1E4D7C">
                <a:shade val="50000"/>
              </a:srgbClr>
            </a:solidFill>
            <a:prstDash val="solid"/>
          </a:ln>
          <a:effectLst/>
        </p:spPr>
        <p:txBody>
          <a:bodyPr rtlCol="0" anchor="ctr"/>
          <a:lstStyle/>
          <a:p>
            <a:pPr marL="53975" marR="0" lvl="0" indent="-53975"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D8D8D8">
                    <a:lumMod val="10000"/>
                  </a:srgbClr>
                </a:solidFill>
                <a:effectLst/>
                <a:uLnTx/>
                <a:uFillTx/>
                <a:latin typeface="Calibri"/>
                <a:ea typeface="+mn-ea"/>
                <a:cs typeface="+mn-cs"/>
              </a:rPr>
              <a:t>TS, CMAF, DASH</a:t>
            </a:r>
          </a:p>
        </p:txBody>
      </p:sp>
      <p:sp>
        <p:nvSpPr>
          <p:cNvPr id="63" name="Parallelogram 62">
            <a:extLst>
              <a:ext uri="{FF2B5EF4-FFF2-40B4-BE49-F238E27FC236}">
                <a16:creationId xmlns:a16="http://schemas.microsoft.com/office/drawing/2014/main" id="{F89C50D6-D3F1-D3CD-27D4-208484D65DBD}"/>
              </a:ext>
            </a:extLst>
          </p:cNvPr>
          <p:cNvSpPr/>
          <p:nvPr/>
        </p:nvSpPr>
        <p:spPr>
          <a:xfrm flipH="1">
            <a:off x="5725996" y="2534613"/>
            <a:ext cx="1991358" cy="846781"/>
          </a:xfrm>
          <a:prstGeom prst="parallelogram">
            <a:avLst>
              <a:gd name="adj" fmla="val 65442"/>
            </a:avLst>
          </a:prstGeom>
          <a:solidFill>
            <a:sysClr val="window" lastClr="FFFFFF">
              <a:lumMod val="85000"/>
            </a:sysClr>
          </a:solidFill>
          <a:ln w="25400" cap="flat" cmpd="sng" algn="ctr">
            <a:solidFill>
              <a:srgbClr val="1E4D7C">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D8D8D8">
                    <a:lumMod val="10000"/>
                  </a:srgbClr>
                </a:solidFill>
                <a:effectLst/>
                <a:uLnTx/>
                <a:uFillTx/>
                <a:latin typeface="Calibri"/>
                <a:ea typeface="+mn-ea"/>
                <a:cs typeface="+mn-cs"/>
              </a:rPr>
              <a:t>Open Source &amp; Commercial Software Tools</a:t>
            </a:r>
          </a:p>
        </p:txBody>
      </p:sp>
      <p:sp>
        <p:nvSpPr>
          <p:cNvPr id="65" name="TextBox 64">
            <a:extLst>
              <a:ext uri="{FF2B5EF4-FFF2-40B4-BE49-F238E27FC236}">
                <a16:creationId xmlns:a16="http://schemas.microsoft.com/office/drawing/2014/main" id="{E0403C61-6952-18A5-DA2F-CB177B9D4B06}"/>
              </a:ext>
            </a:extLst>
          </p:cNvPr>
          <p:cNvSpPr txBox="1"/>
          <p:nvPr/>
        </p:nvSpPr>
        <p:spPr>
          <a:xfrm>
            <a:off x="9951639" y="6032602"/>
            <a:ext cx="181444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14042"/>
                </a:solidFill>
                <a:effectLst/>
                <a:uLnTx/>
                <a:uFillTx/>
                <a:latin typeface="Calibri"/>
                <a:ea typeface="+mn-ea"/>
                <a:cs typeface="+mn-cs"/>
              </a:rPr>
              <a:t>Foundation, Motion Imagery</a:t>
            </a:r>
          </a:p>
        </p:txBody>
      </p:sp>
      <p:sp>
        <p:nvSpPr>
          <p:cNvPr id="66" name="TextBox 65">
            <a:extLst>
              <a:ext uri="{FF2B5EF4-FFF2-40B4-BE49-F238E27FC236}">
                <a16:creationId xmlns:a16="http://schemas.microsoft.com/office/drawing/2014/main" id="{69511488-21A0-5DEC-3429-3A8D29286531}"/>
              </a:ext>
            </a:extLst>
          </p:cNvPr>
          <p:cNvSpPr txBox="1"/>
          <p:nvPr/>
        </p:nvSpPr>
        <p:spPr>
          <a:xfrm>
            <a:off x="9947167" y="5295567"/>
            <a:ext cx="181444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14042"/>
                </a:solidFill>
                <a:effectLst/>
                <a:uLnTx/>
                <a:uFillTx/>
                <a:latin typeface="Calibri"/>
                <a:ea typeface="+mn-ea"/>
                <a:cs typeface="+mn-cs"/>
              </a:rPr>
              <a:t>Still Imagery</a:t>
            </a:r>
          </a:p>
        </p:txBody>
      </p:sp>
      <p:sp>
        <p:nvSpPr>
          <p:cNvPr id="67" name="TextBox 66">
            <a:extLst>
              <a:ext uri="{FF2B5EF4-FFF2-40B4-BE49-F238E27FC236}">
                <a16:creationId xmlns:a16="http://schemas.microsoft.com/office/drawing/2014/main" id="{2783AED5-7774-3464-CB91-6956F7D2E484}"/>
              </a:ext>
            </a:extLst>
          </p:cNvPr>
          <p:cNvSpPr txBox="1"/>
          <p:nvPr/>
        </p:nvSpPr>
        <p:spPr>
          <a:xfrm>
            <a:off x="9947167" y="4440890"/>
            <a:ext cx="181444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14042"/>
                </a:solidFill>
                <a:effectLst/>
                <a:uLnTx/>
                <a:uFillTx/>
                <a:latin typeface="Calibri"/>
                <a:ea typeface="+mn-ea"/>
                <a:cs typeface="+mn-cs"/>
              </a:rPr>
              <a:t>Image Encoding</a:t>
            </a:r>
          </a:p>
        </p:txBody>
      </p:sp>
      <p:sp>
        <p:nvSpPr>
          <p:cNvPr id="68" name="TextBox 67">
            <a:extLst>
              <a:ext uri="{FF2B5EF4-FFF2-40B4-BE49-F238E27FC236}">
                <a16:creationId xmlns:a16="http://schemas.microsoft.com/office/drawing/2014/main" id="{1244DDB5-DB4F-776A-604E-E5595072B96E}"/>
              </a:ext>
            </a:extLst>
          </p:cNvPr>
          <p:cNvSpPr txBox="1"/>
          <p:nvPr/>
        </p:nvSpPr>
        <p:spPr>
          <a:xfrm>
            <a:off x="9947167" y="3593907"/>
            <a:ext cx="20898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14042"/>
                </a:solidFill>
                <a:effectLst/>
                <a:uLnTx/>
                <a:uFillTx/>
                <a:latin typeface="Calibri"/>
                <a:ea typeface="+mn-ea"/>
                <a:cs typeface="+mn-cs"/>
              </a:rPr>
              <a:t>Metadata/Ontology</a:t>
            </a:r>
          </a:p>
        </p:txBody>
      </p:sp>
      <p:sp>
        <p:nvSpPr>
          <p:cNvPr id="69" name="TextBox 68">
            <a:extLst>
              <a:ext uri="{FF2B5EF4-FFF2-40B4-BE49-F238E27FC236}">
                <a16:creationId xmlns:a16="http://schemas.microsoft.com/office/drawing/2014/main" id="{350F8BBC-2C22-2EEA-F161-5A00117D71CF}"/>
              </a:ext>
            </a:extLst>
          </p:cNvPr>
          <p:cNvSpPr txBox="1"/>
          <p:nvPr/>
        </p:nvSpPr>
        <p:spPr>
          <a:xfrm>
            <a:off x="9947167" y="1611631"/>
            <a:ext cx="208985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14042"/>
                </a:solidFill>
                <a:effectLst/>
                <a:uLnTx/>
                <a:uFillTx/>
                <a:latin typeface="Calibri"/>
                <a:ea typeface="+mn-ea"/>
                <a:cs typeface="+mn-cs"/>
              </a:rPr>
              <a:t>Profiling &amp; Tailoring to the Mission</a:t>
            </a:r>
          </a:p>
        </p:txBody>
      </p:sp>
      <p:sp>
        <p:nvSpPr>
          <p:cNvPr id="70" name="TextBox 69">
            <a:extLst>
              <a:ext uri="{FF2B5EF4-FFF2-40B4-BE49-F238E27FC236}">
                <a16:creationId xmlns:a16="http://schemas.microsoft.com/office/drawing/2014/main" id="{065CF7DD-8217-3154-59BC-138BDB95797A}"/>
              </a:ext>
            </a:extLst>
          </p:cNvPr>
          <p:cNvSpPr txBox="1"/>
          <p:nvPr/>
        </p:nvSpPr>
        <p:spPr>
          <a:xfrm>
            <a:off x="9947167" y="2756021"/>
            <a:ext cx="20898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14042"/>
                </a:solidFill>
                <a:effectLst/>
                <a:uLnTx/>
                <a:uFillTx/>
                <a:latin typeface="Calibri"/>
                <a:ea typeface="+mn-ea"/>
                <a:cs typeface="+mn-cs"/>
              </a:rPr>
              <a:t>Streaming</a:t>
            </a:r>
          </a:p>
        </p:txBody>
      </p:sp>
      <p:sp>
        <p:nvSpPr>
          <p:cNvPr id="73" name="TextBox 72">
            <a:extLst>
              <a:ext uri="{FF2B5EF4-FFF2-40B4-BE49-F238E27FC236}">
                <a16:creationId xmlns:a16="http://schemas.microsoft.com/office/drawing/2014/main" id="{E95FB81F-3513-C8A7-0E31-427249CC065C}"/>
              </a:ext>
            </a:extLst>
          </p:cNvPr>
          <p:cNvSpPr txBox="1"/>
          <p:nvPr/>
        </p:nvSpPr>
        <p:spPr>
          <a:xfrm>
            <a:off x="5657862" y="1687161"/>
            <a:ext cx="898343" cy="461665"/>
          </a:xfrm>
          <a:prstGeom prst="rect">
            <a:avLst/>
          </a:prstGeom>
          <a:noFill/>
        </p:spPr>
        <p:txBody>
          <a:bodyPr wrap="square" lIns="0" r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a:ea typeface="+mn-ea"/>
                <a:cs typeface="+mn-cs"/>
              </a:rPr>
              <a:t>GMSB</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90" name="Straight Connector 89">
            <a:extLst>
              <a:ext uri="{FF2B5EF4-FFF2-40B4-BE49-F238E27FC236}">
                <a16:creationId xmlns:a16="http://schemas.microsoft.com/office/drawing/2014/main" id="{E983ABF5-A4CD-9667-B5AD-CD2966D48C75}"/>
              </a:ext>
            </a:extLst>
          </p:cNvPr>
          <p:cNvCxnSpPr>
            <a:cxnSpLocks/>
          </p:cNvCxnSpPr>
          <p:nvPr/>
        </p:nvCxnSpPr>
        <p:spPr>
          <a:xfrm>
            <a:off x="5607283" y="2525761"/>
            <a:ext cx="6338601" cy="0"/>
          </a:xfrm>
          <a:prstGeom prst="line">
            <a:avLst/>
          </a:prstGeom>
          <a:noFill/>
          <a:ln w="9525" cap="flat" cmpd="sng" algn="ctr">
            <a:solidFill>
              <a:srgbClr val="1E4D7C">
                <a:shade val="95000"/>
                <a:satMod val="105000"/>
              </a:srgbClr>
            </a:solidFill>
            <a:prstDash val="dash"/>
          </a:ln>
          <a:effectLst/>
        </p:spPr>
      </p:cxnSp>
      <p:cxnSp>
        <p:nvCxnSpPr>
          <p:cNvPr id="91" name="Straight Connector 90">
            <a:extLst>
              <a:ext uri="{FF2B5EF4-FFF2-40B4-BE49-F238E27FC236}">
                <a16:creationId xmlns:a16="http://schemas.microsoft.com/office/drawing/2014/main" id="{BCFD34F7-CC74-A4BB-DDD7-7BB72862D28D}"/>
              </a:ext>
            </a:extLst>
          </p:cNvPr>
          <p:cNvCxnSpPr>
            <a:cxnSpLocks/>
          </p:cNvCxnSpPr>
          <p:nvPr/>
        </p:nvCxnSpPr>
        <p:spPr>
          <a:xfrm flipV="1">
            <a:off x="6274363" y="3363110"/>
            <a:ext cx="5762656" cy="12809"/>
          </a:xfrm>
          <a:prstGeom prst="line">
            <a:avLst/>
          </a:prstGeom>
          <a:noFill/>
          <a:ln w="9525" cap="flat" cmpd="sng" algn="ctr">
            <a:solidFill>
              <a:srgbClr val="1E4D7C">
                <a:shade val="95000"/>
                <a:satMod val="105000"/>
              </a:srgbClr>
            </a:solidFill>
            <a:prstDash val="dash"/>
          </a:ln>
          <a:effectLst/>
        </p:spPr>
      </p:cxnSp>
      <p:cxnSp>
        <p:nvCxnSpPr>
          <p:cNvPr id="92" name="Straight Connector 91">
            <a:extLst>
              <a:ext uri="{FF2B5EF4-FFF2-40B4-BE49-F238E27FC236}">
                <a16:creationId xmlns:a16="http://schemas.microsoft.com/office/drawing/2014/main" id="{3BA861D1-514B-7AD7-FE67-A0FDAE8F1062}"/>
              </a:ext>
            </a:extLst>
          </p:cNvPr>
          <p:cNvCxnSpPr>
            <a:cxnSpLocks/>
          </p:cNvCxnSpPr>
          <p:nvPr/>
        </p:nvCxnSpPr>
        <p:spPr>
          <a:xfrm>
            <a:off x="6832212" y="4223371"/>
            <a:ext cx="5204806" cy="11244"/>
          </a:xfrm>
          <a:prstGeom prst="line">
            <a:avLst/>
          </a:prstGeom>
          <a:noFill/>
          <a:ln w="9525" cap="flat" cmpd="sng" algn="ctr">
            <a:solidFill>
              <a:srgbClr val="1E4D7C">
                <a:shade val="95000"/>
                <a:satMod val="105000"/>
              </a:srgbClr>
            </a:solidFill>
            <a:prstDash val="dash"/>
          </a:ln>
          <a:effectLst/>
        </p:spPr>
      </p:cxnSp>
      <p:cxnSp>
        <p:nvCxnSpPr>
          <p:cNvPr id="93" name="Straight Connector 92">
            <a:extLst>
              <a:ext uri="{FF2B5EF4-FFF2-40B4-BE49-F238E27FC236}">
                <a16:creationId xmlns:a16="http://schemas.microsoft.com/office/drawing/2014/main" id="{26619EB4-3227-53D7-2BF5-EAB7A62DDB2D}"/>
              </a:ext>
            </a:extLst>
          </p:cNvPr>
          <p:cNvCxnSpPr>
            <a:cxnSpLocks/>
          </p:cNvCxnSpPr>
          <p:nvPr/>
        </p:nvCxnSpPr>
        <p:spPr>
          <a:xfrm flipV="1">
            <a:off x="7389810" y="5068498"/>
            <a:ext cx="4643619" cy="10159"/>
          </a:xfrm>
          <a:prstGeom prst="line">
            <a:avLst/>
          </a:prstGeom>
          <a:noFill/>
          <a:ln w="9525" cap="flat" cmpd="sng" algn="ctr">
            <a:solidFill>
              <a:srgbClr val="1E4D7C">
                <a:shade val="95000"/>
                <a:satMod val="105000"/>
              </a:srgbClr>
            </a:solidFill>
            <a:prstDash val="dash"/>
          </a:ln>
          <a:effectLst/>
        </p:spPr>
      </p:cxnSp>
      <p:cxnSp>
        <p:nvCxnSpPr>
          <p:cNvPr id="94" name="Straight Connector 93">
            <a:extLst>
              <a:ext uri="{FF2B5EF4-FFF2-40B4-BE49-F238E27FC236}">
                <a16:creationId xmlns:a16="http://schemas.microsoft.com/office/drawing/2014/main" id="{4C67EFA1-95C1-A093-E562-9B514D2DBE89}"/>
              </a:ext>
            </a:extLst>
          </p:cNvPr>
          <p:cNvCxnSpPr>
            <a:cxnSpLocks/>
          </p:cNvCxnSpPr>
          <p:nvPr/>
        </p:nvCxnSpPr>
        <p:spPr>
          <a:xfrm>
            <a:off x="7930252" y="5907897"/>
            <a:ext cx="4103177" cy="0"/>
          </a:xfrm>
          <a:prstGeom prst="line">
            <a:avLst/>
          </a:prstGeom>
          <a:noFill/>
          <a:ln w="9525" cap="flat" cmpd="sng" algn="ctr">
            <a:solidFill>
              <a:srgbClr val="1E4D7C">
                <a:shade val="95000"/>
                <a:satMod val="105000"/>
              </a:srgbClr>
            </a:solidFill>
            <a:prstDash val="dash"/>
          </a:ln>
          <a:effectLst/>
        </p:spPr>
      </p:cxnSp>
      <p:cxnSp>
        <p:nvCxnSpPr>
          <p:cNvPr id="95" name="Straight Connector 94">
            <a:extLst>
              <a:ext uri="{FF2B5EF4-FFF2-40B4-BE49-F238E27FC236}">
                <a16:creationId xmlns:a16="http://schemas.microsoft.com/office/drawing/2014/main" id="{19FEAC83-B6C4-2DD1-268A-0999FCF3D98F}"/>
              </a:ext>
            </a:extLst>
          </p:cNvPr>
          <p:cNvCxnSpPr>
            <a:cxnSpLocks/>
          </p:cNvCxnSpPr>
          <p:nvPr/>
        </p:nvCxnSpPr>
        <p:spPr>
          <a:xfrm>
            <a:off x="8514081" y="6756317"/>
            <a:ext cx="3519348" cy="0"/>
          </a:xfrm>
          <a:prstGeom prst="line">
            <a:avLst/>
          </a:prstGeom>
          <a:noFill/>
          <a:ln w="9525" cap="flat" cmpd="sng" algn="ctr">
            <a:solidFill>
              <a:srgbClr val="1E4D7C">
                <a:shade val="95000"/>
                <a:satMod val="105000"/>
              </a:srgbClr>
            </a:solidFill>
            <a:prstDash val="dash"/>
          </a:ln>
          <a:effectLst/>
        </p:spPr>
      </p:cxnSp>
      <p:sp>
        <p:nvSpPr>
          <p:cNvPr id="100" name="TextBox 99">
            <a:extLst>
              <a:ext uri="{FF2B5EF4-FFF2-40B4-BE49-F238E27FC236}">
                <a16:creationId xmlns:a16="http://schemas.microsoft.com/office/drawing/2014/main" id="{0BD758FA-7CE3-B71D-A271-1339A84C715F}"/>
              </a:ext>
            </a:extLst>
          </p:cNvPr>
          <p:cNvSpPr txBox="1"/>
          <p:nvPr/>
        </p:nvSpPr>
        <p:spPr>
          <a:xfrm>
            <a:off x="3334195" y="4326070"/>
            <a:ext cx="3795535" cy="646331"/>
          </a:xfrm>
          <a:prstGeom prst="rect">
            <a:avLst/>
          </a:prstGeom>
          <a:noFill/>
        </p:spPr>
        <p:txBody>
          <a:bodyPr wrap="square">
            <a:spAutoFit/>
          </a:bodyPr>
          <a:lstStyle/>
          <a:p>
            <a:pPr marL="346075"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Uncompressed, HEVC, AVC,</a:t>
            </a:r>
          </a:p>
          <a:p>
            <a:pPr marL="346075" lvl="0" algn="ctr">
              <a:defRPr/>
            </a:pPr>
            <a:r>
              <a:rPr lang="en-US" dirty="0">
                <a:solidFill>
                  <a:prstClr val="white"/>
                </a:solidFill>
              </a:rPr>
              <a:t>JPEG2000, HTJ2K, J2K in ISOBMFF</a:t>
            </a:r>
          </a:p>
        </p:txBody>
      </p:sp>
      <p:sp>
        <p:nvSpPr>
          <p:cNvPr id="2" name="Title 1">
            <a:extLst>
              <a:ext uri="{FF2B5EF4-FFF2-40B4-BE49-F238E27FC236}">
                <a16:creationId xmlns:a16="http://schemas.microsoft.com/office/drawing/2014/main" id="{66B73306-26E4-4CE5-2095-6C062A968B18}"/>
              </a:ext>
            </a:extLst>
          </p:cNvPr>
          <p:cNvSpPr>
            <a:spLocks noGrp="1"/>
          </p:cNvSpPr>
          <p:nvPr>
            <p:ph type="title" idx="4294967295"/>
          </p:nvPr>
        </p:nvSpPr>
        <p:spPr>
          <a:xfrm>
            <a:off x="2081953" y="100840"/>
            <a:ext cx="8407400" cy="577850"/>
          </a:xfrm>
        </p:spPr>
        <p:txBody>
          <a:bodyPr>
            <a:normAutofit fontScale="90000"/>
          </a:bodyPr>
          <a:lstStyle/>
          <a:p>
            <a:pPr algn="ctr"/>
            <a:r>
              <a:rPr lang="en-US" noProof="0" dirty="0"/>
              <a:t>Emerging Geospatial Imagery Standards</a:t>
            </a:r>
            <a:endParaRPr lang="en-US" dirty="0"/>
          </a:p>
        </p:txBody>
      </p:sp>
      <p:grpSp>
        <p:nvGrpSpPr>
          <p:cNvPr id="35" name="Group 34">
            <a:extLst>
              <a:ext uri="{FF2B5EF4-FFF2-40B4-BE49-F238E27FC236}">
                <a16:creationId xmlns:a16="http://schemas.microsoft.com/office/drawing/2014/main" id="{B402654D-D3E6-7800-D395-0AAA064B2BC4}"/>
              </a:ext>
            </a:extLst>
          </p:cNvPr>
          <p:cNvGrpSpPr/>
          <p:nvPr/>
        </p:nvGrpSpPr>
        <p:grpSpPr>
          <a:xfrm>
            <a:off x="1654905" y="660587"/>
            <a:ext cx="2283725" cy="3598904"/>
            <a:chOff x="1654905" y="660587"/>
            <a:chExt cx="2283725" cy="3598904"/>
          </a:xfrm>
        </p:grpSpPr>
        <p:sp>
          <p:nvSpPr>
            <p:cNvPr id="19" name="TextBox 18">
              <a:extLst>
                <a:ext uri="{FF2B5EF4-FFF2-40B4-BE49-F238E27FC236}">
                  <a16:creationId xmlns:a16="http://schemas.microsoft.com/office/drawing/2014/main" id="{67978893-7F83-97AD-93C3-E330EA2664C1}"/>
                </a:ext>
              </a:extLst>
            </p:cNvPr>
            <p:cNvSpPr txBox="1"/>
            <p:nvPr/>
          </p:nvSpPr>
          <p:spPr>
            <a:xfrm>
              <a:off x="1982706" y="660587"/>
              <a:ext cx="172300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a:ea typeface="+mn-ea"/>
                  <a:cs typeface="+mn-cs"/>
                </a:rPr>
                <a:t>Sensor Content</a:t>
              </a:r>
            </a:p>
          </p:txBody>
        </p:sp>
        <p:pic>
          <p:nvPicPr>
            <p:cNvPr id="20" name="Picture 19">
              <a:extLst>
                <a:ext uri="{FF2B5EF4-FFF2-40B4-BE49-F238E27FC236}">
                  <a16:creationId xmlns:a16="http://schemas.microsoft.com/office/drawing/2014/main" id="{450A99A3-314F-8456-C6CA-912449DFAA55}"/>
                </a:ext>
              </a:extLst>
            </p:cNvPr>
            <p:cNvPicPr>
              <a:picLocks/>
            </p:cNvPicPr>
            <p:nvPr/>
          </p:nvPicPr>
          <p:blipFill>
            <a:blip r:embed="rId3"/>
            <a:stretch>
              <a:fillRect/>
            </a:stretch>
          </p:blipFill>
          <p:spPr>
            <a:xfrm>
              <a:off x="1802139" y="1143001"/>
              <a:ext cx="966413" cy="1024292"/>
            </a:xfrm>
            <a:prstGeom prst="rect">
              <a:avLst/>
            </a:prstGeom>
          </p:spPr>
        </p:pic>
        <p:pic>
          <p:nvPicPr>
            <p:cNvPr id="21" name="Picture 20">
              <a:extLst>
                <a:ext uri="{FF2B5EF4-FFF2-40B4-BE49-F238E27FC236}">
                  <a16:creationId xmlns:a16="http://schemas.microsoft.com/office/drawing/2014/main" id="{CDA8052D-0399-D758-180B-E07DDC016DC9}"/>
                </a:ext>
              </a:extLst>
            </p:cNvPr>
            <p:cNvPicPr>
              <a:picLocks/>
            </p:cNvPicPr>
            <p:nvPr/>
          </p:nvPicPr>
          <p:blipFill>
            <a:blip r:embed="rId4"/>
            <a:stretch>
              <a:fillRect/>
            </a:stretch>
          </p:blipFill>
          <p:spPr>
            <a:xfrm>
              <a:off x="1795563" y="2243539"/>
              <a:ext cx="987552" cy="987552"/>
            </a:xfrm>
            <a:prstGeom prst="rect">
              <a:avLst/>
            </a:prstGeom>
          </p:spPr>
        </p:pic>
        <p:pic>
          <p:nvPicPr>
            <p:cNvPr id="22" name="Picture 21">
              <a:extLst>
                <a:ext uri="{FF2B5EF4-FFF2-40B4-BE49-F238E27FC236}">
                  <a16:creationId xmlns:a16="http://schemas.microsoft.com/office/drawing/2014/main" id="{D9827EB7-7E43-36AA-FE3C-C2F62FD88136}"/>
                </a:ext>
              </a:extLst>
            </p:cNvPr>
            <p:cNvPicPr>
              <a:picLocks noChangeAspect="1"/>
            </p:cNvPicPr>
            <p:nvPr/>
          </p:nvPicPr>
          <p:blipFill>
            <a:blip r:embed="rId5"/>
            <a:stretch>
              <a:fillRect/>
            </a:stretch>
          </p:blipFill>
          <p:spPr>
            <a:xfrm>
              <a:off x="1785005" y="3322707"/>
              <a:ext cx="993907" cy="833843"/>
            </a:xfrm>
            <a:prstGeom prst="rect">
              <a:avLst/>
            </a:prstGeom>
            <a:ln>
              <a:solidFill>
                <a:sysClr val="windowText" lastClr="000000"/>
              </a:solidFill>
              <a:prstDash val="dash"/>
            </a:ln>
          </p:spPr>
        </p:pic>
        <p:pic>
          <p:nvPicPr>
            <p:cNvPr id="23" name="Picture 22">
              <a:extLst>
                <a:ext uri="{FF2B5EF4-FFF2-40B4-BE49-F238E27FC236}">
                  <a16:creationId xmlns:a16="http://schemas.microsoft.com/office/drawing/2014/main" id="{8DC46DF8-3694-7391-110B-757EE4C0AAD6}"/>
                </a:ext>
              </a:extLst>
            </p:cNvPr>
            <p:cNvPicPr>
              <a:picLocks/>
            </p:cNvPicPr>
            <p:nvPr/>
          </p:nvPicPr>
          <p:blipFill>
            <a:blip r:embed="rId6"/>
            <a:stretch>
              <a:fillRect/>
            </a:stretch>
          </p:blipFill>
          <p:spPr>
            <a:xfrm>
              <a:off x="2850339" y="1179741"/>
              <a:ext cx="966413" cy="987552"/>
            </a:xfrm>
            <a:prstGeom prst="rect">
              <a:avLst/>
            </a:prstGeom>
          </p:spPr>
        </p:pic>
        <p:sp>
          <p:nvSpPr>
            <p:cNvPr id="24" name="Rectangle: Rounded Corners 23">
              <a:extLst>
                <a:ext uri="{FF2B5EF4-FFF2-40B4-BE49-F238E27FC236}">
                  <a16:creationId xmlns:a16="http://schemas.microsoft.com/office/drawing/2014/main" id="{A37F07EC-2F3B-1D69-7E72-692EF4EDE07C}"/>
                </a:ext>
              </a:extLst>
            </p:cNvPr>
            <p:cNvSpPr/>
            <p:nvPr/>
          </p:nvSpPr>
          <p:spPr>
            <a:xfrm>
              <a:off x="2844207" y="3315660"/>
              <a:ext cx="985729" cy="418285"/>
            </a:xfrm>
            <a:prstGeom prst="roundRect">
              <a:avLst/>
            </a:prstGeom>
            <a:solidFill>
              <a:srgbClr val="3366CC"/>
            </a:solidFill>
          </p:spPr>
          <p:style>
            <a:lnRef idx="2">
              <a:schemeClr val="accent1">
                <a:shade val="15000"/>
              </a:schemeClr>
            </a:lnRef>
            <a:fillRef idx="1">
              <a:schemeClr val="accent1"/>
            </a:fillRef>
            <a:effectRef idx="0">
              <a:schemeClr val="accent1"/>
            </a:effectRef>
            <a:fontRef idx="minor">
              <a:schemeClr val="lt1"/>
            </a:fontRef>
          </p:style>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libri"/>
                  <a:ea typeface="+mn-ea"/>
                  <a:cs typeface="+mn-cs"/>
                </a:rPr>
                <a:t>Other Data Sources</a:t>
              </a:r>
            </a:p>
          </p:txBody>
        </p:sp>
        <p:sp>
          <p:nvSpPr>
            <p:cNvPr id="25" name="Rectangle: Rounded Corners 24">
              <a:extLst>
                <a:ext uri="{FF2B5EF4-FFF2-40B4-BE49-F238E27FC236}">
                  <a16:creationId xmlns:a16="http://schemas.microsoft.com/office/drawing/2014/main" id="{F7E4680E-946C-C916-B4C2-5941E38BB144}"/>
                </a:ext>
              </a:extLst>
            </p:cNvPr>
            <p:cNvSpPr/>
            <p:nvPr/>
          </p:nvSpPr>
          <p:spPr>
            <a:xfrm>
              <a:off x="1654905" y="1038209"/>
              <a:ext cx="2283725" cy="3221282"/>
            </a:xfrm>
            <a:prstGeom prst="roundRect">
              <a:avLst/>
            </a:prstGeom>
            <a:noFill/>
            <a:ln w="28575" cap="flat" cmpd="sng" algn="ctr">
              <a:solidFill>
                <a:srgbClr val="FF0000"/>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2B982825-980D-97AE-B0A6-12511C135367}"/>
                </a:ext>
              </a:extLst>
            </p:cNvPr>
            <p:cNvGrpSpPr/>
            <p:nvPr/>
          </p:nvGrpSpPr>
          <p:grpSpPr>
            <a:xfrm>
              <a:off x="2844207" y="2243539"/>
              <a:ext cx="987552" cy="987552"/>
              <a:chOff x="2970905" y="2328251"/>
              <a:chExt cx="987552" cy="987552"/>
            </a:xfrm>
          </p:grpSpPr>
          <p:sp>
            <p:nvSpPr>
              <p:cNvPr id="30" name="Rectangle: Rounded Corners 29">
                <a:extLst>
                  <a:ext uri="{FF2B5EF4-FFF2-40B4-BE49-F238E27FC236}">
                    <a16:creationId xmlns:a16="http://schemas.microsoft.com/office/drawing/2014/main" id="{6CA27529-34DB-3DCA-6C6E-379A9C4F64FE}"/>
                  </a:ext>
                </a:extLst>
              </p:cNvPr>
              <p:cNvSpPr>
                <a:spLocks/>
              </p:cNvSpPr>
              <p:nvPr/>
            </p:nvSpPr>
            <p:spPr>
              <a:xfrm>
                <a:off x="2970905" y="2328251"/>
                <a:ext cx="987552" cy="987552"/>
              </a:xfrm>
              <a:prstGeom prst="roundRect">
                <a:avLst/>
              </a:prstGeom>
              <a:solidFill>
                <a:srgbClr val="3366CC"/>
              </a:solidFill>
              <a:ln w="6350"/>
            </p:spPr>
            <p:style>
              <a:lnRef idx="2">
                <a:schemeClr val="accent1">
                  <a:shade val="15000"/>
                </a:schemeClr>
              </a:lnRef>
              <a:fillRef idx="1">
                <a:schemeClr val="accent1"/>
              </a:fillRef>
              <a:effectRef idx="0">
                <a:schemeClr val="accent1"/>
              </a:effectRef>
              <a:fontRef idx="minor">
                <a:schemeClr val="lt1"/>
              </a:fontRef>
            </p:style>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libri"/>
                    <a:ea typeface="+mn-ea"/>
                    <a:cs typeface="+mn-cs"/>
                  </a:rPr>
                  <a:t>SAR</a:t>
                </a:r>
              </a:p>
            </p:txBody>
          </p:sp>
          <p:pic>
            <p:nvPicPr>
              <p:cNvPr id="31" name="Picture 30">
                <a:extLst>
                  <a:ext uri="{FF2B5EF4-FFF2-40B4-BE49-F238E27FC236}">
                    <a16:creationId xmlns:a16="http://schemas.microsoft.com/office/drawing/2014/main" id="{75150127-398A-C783-50BA-B86CF3C83C83}"/>
                  </a:ext>
                </a:extLst>
              </p:cNvPr>
              <p:cNvPicPr>
                <a:picLocks noChangeAspect="1"/>
              </p:cNvPicPr>
              <p:nvPr/>
            </p:nvPicPr>
            <p:blipFill>
              <a:blip r:embed="rId7"/>
              <a:stretch>
                <a:fillRect/>
              </a:stretch>
            </p:blipFill>
            <p:spPr>
              <a:xfrm>
                <a:off x="3000818" y="2552941"/>
                <a:ext cx="918853" cy="595314"/>
              </a:xfrm>
              <a:prstGeom prst="rect">
                <a:avLst/>
              </a:prstGeom>
              <a:solidFill>
                <a:srgbClr val="3366CC"/>
              </a:solidFill>
            </p:spPr>
          </p:pic>
        </p:grpSp>
      </p:grpSp>
      <p:grpSp>
        <p:nvGrpSpPr>
          <p:cNvPr id="7" name="Group 6">
            <a:extLst>
              <a:ext uri="{FF2B5EF4-FFF2-40B4-BE49-F238E27FC236}">
                <a16:creationId xmlns:a16="http://schemas.microsoft.com/office/drawing/2014/main" id="{BD8E1A60-608B-00AF-74D8-1245D2DCE8BF}"/>
              </a:ext>
            </a:extLst>
          </p:cNvPr>
          <p:cNvGrpSpPr/>
          <p:nvPr/>
        </p:nvGrpSpPr>
        <p:grpSpPr>
          <a:xfrm>
            <a:off x="129383" y="64713"/>
            <a:ext cx="1428898" cy="6458007"/>
            <a:chOff x="129383" y="64713"/>
            <a:chExt cx="1428898" cy="6458007"/>
          </a:xfrm>
        </p:grpSpPr>
        <p:pic>
          <p:nvPicPr>
            <p:cNvPr id="12" name="Picture 11">
              <a:extLst>
                <a:ext uri="{FF2B5EF4-FFF2-40B4-BE49-F238E27FC236}">
                  <a16:creationId xmlns:a16="http://schemas.microsoft.com/office/drawing/2014/main" id="{4B341DC0-0C13-2584-0546-7A030F9B3016}"/>
                </a:ext>
              </a:extLst>
            </p:cNvPr>
            <p:cNvPicPr>
              <a:picLocks noChangeAspect="1"/>
            </p:cNvPicPr>
            <p:nvPr/>
          </p:nvPicPr>
          <p:blipFill>
            <a:blip r:embed="rId8"/>
            <a:stretch>
              <a:fillRect/>
            </a:stretch>
          </p:blipFill>
          <p:spPr>
            <a:xfrm flipH="1">
              <a:off x="425519" y="541564"/>
              <a:ext cx="824547" cy="993290"/>
            </a:xfrm>
            <a:prstGeom prst="rect">
              <a:avLst/>
            </a:prstGeom>
          </p:spPr>
        </p:pic>
        <p:pic>
          <p:nvPicPr>
            <p:cNvPr id="13" name="Picture 6">
              <a:extLst>
                <a:ext uri="{FF2B5EF4-FFF2-40B4-BE49-F238E27FC236}">
                  <a16:creationId xmlns:a16="http://schemas.microsoft.com/office/drawing/2014/main" id="{E5193997-C87C-0D5A-F821-9E098B295FC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5993" y="1624766"/>
              <a:ext cx="1081270" cy="43443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a:extLst>
                <a:ext uri="{FF2B5EF4-FFF2-40B4-BE49-F238E27FC236}">
                  <a16:creationId xmlns:a16="http://schemas.microsoft.com/office/drawing/2014/main" id="{69934514-0AC5-44BD-25A5-DA198ECE799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654" y="2056617"/>
              <a:ext cx="879863" cy="117315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AC3D448B-520F-B9A5-FC5E-3E4B7091E9AF}"/>
                </a:ext>
              </a:extLst>
            </p:cNvPr>
            <p:cNvSpPr/>
            <p:nvPr/>
          </p:nvSpPr>
          <p:spPr>
            <a:xfrm>
              <a:off x="170092" y="369642"/>
              <a:ext cx="1308365" cy="6153078"/>
            </a:xfrm>
            <a:prstGeom prst="rect">
              <a:avLst/>
            </a:prstGeom>
            <a:noFill/>
            <a:ln w="19050" cap="flat" cmpd="sng" algn="ctr">
              <a:solidFill>
                <a:sysClr val="windowText" lastClr="000000"/>
              </a:solidFill>
              <a:prstDash val="lg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pic>
          <p:nvPicPr>
            <p:cNvPr id="16" name="Picture 4" descr="U.S. Warships Have This Seldom Discussed But Very Powerful Optical ...">
              <a:extLst>
                <a:ext uri="{FF2B5EF4-FFF2-40B4-BE49-F238E27FC236}">
                  <a16:creationId xmlns:a16="http://schemas.microsoft.com/office/drawing/2014/main" id="{11A09019-A90B-8433-1535-2A2FF2C858FF}"/>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274142" y="5817030"/>
              <a:ext cx="1123266" cy="63183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9BDFC78B-66CE-28AF-486B-79FAE39F1D75}"/>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287986" y="4465782"/>
              <a:ext cx="869599" cy="583964"/>
            </a:xfrm>
            <a:prstGeom prst="rect">
              <a:avLst/>
            </a:prstGeom>
          </p:spPr>
        </p:pic>
        <p:sp>
          <p:nvSpPr>
            <p:cNvPr id="18" name="TextBox 17">
              <a:extLst>
                <a:ext uri="{FF2B5EF4-FFF2-40B4-BE49-F238E27FC236}">
                  <a16:creationId xmlns:a16="http://schemas.microsoft.com/office/drawing/2014/main" id="{8B6AF77C-BBE4-4C6B-48AB-1EDF91F00C5C}"/>
                </a:ext>
              </a:extLst>
            </p:cNvPr>
            <p:cNvSpPr txBox="1"/>
            <p:nvPr/>
          </p:nvSpPr>
          <p:spPr>
            <a:xfrm>
              <a:off x="129383" y="64713"/>
              <a:ext cx="1428898" cy="3049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Calibri"/>
                  <a:ea typeface="+mn-ea"/>
                  <a:cs typeface="+mn-cs"/>
                </a:rPr>
                <a:t>Sensor Systems</a:t>
              </a:r>
            </a:p>
          </p:txBody>
        </p:sp>
        <p:pic>
          <p:nvPicPr>
            <p:cNvPr id="27" name="Picture 26">
              <a:extLst>
                <a:ext uri="{FF2B5EF4-FFF2-40B4-BE49-F238E27FC236}">
                  <a16:creationId xmlns:a16="http://schemas.microsoft.com/office/drawing/2014/main" id="{E42606B9-CCA8-5290-82CF-6CA0CA9D2270}"/>
                </a:ext>
              </a:extLst>
            </p:cNvPr>
            <p:cNvPicPr>
              <a:picLocks noChangeAspect="1"/>
            </p:cNvPicPr>
            <p:nvPr/>
          </p:nvPicPr>
          <p:blipFill>
            <a:blip r:embed="rId13"/>
            <a:stretch>
              <a:fillRect/>
            </a:stretch>
          </p:blipFill>
          <p:spPr>
            <a:xfrm>
              <a:off x="447026" y="3820557"/>
              <a:ext cx="883179" cy="589246"/>
            </a:xfrm>
            <a:prstGeom prst="rect">
              <a:avLst/>
            </a:prstGeom>
          </p:spPr>
        </p:pic>
        <p:pic>
          <p:nvPicPr>
            <p:cNvPr id="28" name="Picture 10">
              <a:extLst>
                <a:ext uri="{FF2B5EF4-FFF2-40B4-BE49-F238E27FC236}">
                  <a16:creationId xmlns:a16="http://schemas.microsoft.com/office/drawing/2014/main" id="{D4AF657F-676C-D1E3-1CDD-269C31DF848E}"/>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9727" t="-9152" r="7278"/>
            <a:stretch/>
          </p:blipFill>
          <p:spPr bwMode="auto">
            <a:xfrm>
              <a:off x="302496" y="3199526"/>
              <a:ext cx="1085877" cy="57251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58C799F-1E96-237F-9F3D-FE5003D433E7}"/>
                </a:ext>
              </a:extLst>
            </p:cNvPr>
            <p:cNvPicPr>
              <a:picLocks noChangeAspect="1"/>
            </p:cNvPicPr>
            <p:nvPr/>
          </p:nvPicPr>
          <p:blipFill>
            <a:blip r:embed="rId15"/>
            <a:stretch>
              <a:fillRect/>
            </a:stretch>
          </p:blipFill>
          <p:spPr>
            <a:xfrm>
              <a:off x="311531" y="5098275"/>
              <a:ext cx="1044680" cy="690838"/>
            </a:xfrm>
            <a:prstGeom prst="rect">
              <a:avLst/>
            </a:prstGeom>
          </p:spPr>
        </p:pic>
      </p:grpSp>
      <p:cxnSp>
        <p:nvCxnSpPr>
          <p:cNvPr id="3" name="Connector: Curved 2">
            <a:extLst>
              <a:ext uri="{FF2B5EF4-FFF2-40B4-BE49-F238E27FC236}">
                <a16:creationId xmlns:a16="http://schemas.microsoft.com/office/drawing/2014/main" id="{FF958442-48D6-9C51-8814-43C0BB7B70F0}"/>
              </a:ext>
            </a:extLst>
          </p:cNvPr>
          <p:cNvCxnSpPr>
            <a:cxnSpLocks/>
            <a:stCxn id="25" idx="3"/>
            <a:endCxn id="64" idx="1"/>
          </p:cNvCxnSpPr>
          <p:nvPr/>
        </p:nvCxnSpPr>
        <p:spPr>
          <a:xfrm flipV="1">
            <a:off x="3938630" y="1682495"/>
            <a:ext cx="1621809" cy="966355"/>
          </a:xfrm>
          <a:prstGeom prst="curvedConnector3">
            <a:avLst>
              <a:gd name="adj1" fmla="val 50000"/>
            </a:avLst>
          </a:prstGeom>
          <a:noFill/>
          <a:ln w="28575" cap="flat" cmpd="sng" algn="ctr">
            <a:solidFill>
              <a:srgbClr val="1E4D7C">
                <a:shade val="95000"/>
                <a:satMod val="105000"/>
              </a:srgbClr>
            </a:solidFill>
            <a:prstDash val="solid"/>
            <a:tailEnd type="stealth" w="lg" len="lg"/>
          </a:ln>
          <a:effectLst/>
        </p:spPr>
      </p:cxnSp>
      <p:sp>
        <p:nvSpPr>
          <p:cNvPr id="32" name="Arrow: Right 31">
            <a:extLst>
              <a:ext uri="{FF2B5EF4-FFF2-40B4-BE49-F238E27FC236}">
                <a16:creationId xmlns:a16="http://schemas.microsoft.com/office/drawing/2014/main" id="{DA63A361-7948-3C64-8EB6-ABBB5C0C1DE6}"/>
              </a:ext>
            </a:extLst>
          </p:cNvPr>
          <p:cNvSpPr/>
          <p:nvPr/>
        </p:nvSpPr>
        <p:spPr>
          <a:xfrm>
            <a:off x="1339239" y="2238151"/>
            <a:ext cx="337069" cy="4250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46054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fade">
                                      <p:cBhvr>
                                        <p:cTn id="15" dur="500"/>
                                        <p:tgtEl>
                                          <p:spTgt spid="5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6"/>
                                        </p:tgtEl>
                                        <p:attrNameLst>
                                          <p:attrName>style.visibility</p:attrName>
                                        </p:attrNameLst>
                                      </p:cBhvr>
                                      <p:to>
                                        <p:strVal val="visible"/>
                                      </p:to>
                                    </p:set>
                                    <p:animEffect transition="in" filter="fade">
                                      <p:cBhvr>
                                        <p:cTn id="18" dur="500"/>
                                        <p:tgtEl>
                                          <p:spTgt spid="5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5"/>
                                        </p:tgtEl>
                                        <p:attrNameLst>
                                          <p:attrName>style.visibility</p:attrName>
                                        </p:attrNameLst>
                                      </p:cBhvr>
                                      <p:to>
                                        <p:strVal val="visible"/>
                                      </p:to>
                                    </p:set>
                                    <p:animEffect transition="in" filter="fade">
                                      <p:cBhvr>
                                        <p:cTn id="21" dur="500"/>
                                        <p:tgtEl>
                                          <p:spTgt spid="65"/>
                                        </p:tgtEl>
                                      </p:cBhvr>
                                    </p:animEffect>
                                  </p:childTnLst>
                                </p:cTn>
                              </p:par>
                              <p:par>
                                <p:cTn id="22" presetID="10" presetClass="entr" presetSubtype="0" fill="hold" nodeType="withEffect">
                                  <p:stCondLst>
                                    <p:cond delay="0"/>
                                  </p:stCondLst>
                                  <p:childTnLst>
                                    <p:set>
                                      <p:cBhvr>
                                        <p:cTn id="23" dur="1" fill="hold">
                                          <p:stCondLst>
                                            <p:cond delay="0"/>
                                          </p:stCondLst>
                                        </p:cTn>
                                        <p:tgtEl>
                                          <p:spTgt spid="95"/>
                                        </p:tgtEl>
                                        <p:attrNameLst>
                                          <p:attrName>style.visibility</p:attrName>
                                        </p:attrNameLst>
                                      </p:cBhvr>
                                      <p:to>
                                        <p:strVal val="visible"/>
                                      </p:to>
                                    </p:set>
                                    <p:animEffect transition="in" filter="fade">
                                      <p:cBhvr>
                                        <p:cTn id="24" dur="500"/>
                                        <p:tgtEl>
                                          <p:spTgt spid="9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fade">
                                      <p:cBhvr>
                                        <p:cTn id="29" dur="500"/>
                                        <p:tgtEl>
                                          <p:spTgt spid="5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8"/>
                                        </p:tgtEl>
                                        <p:attrNameLst>
                                          <p:attrName>style.visibility</p:attrName>
                                        </p:attrNameLst>
                                      </p:cBhvr>
                                      <p:to>
                                        <p:strVal val="visible"/>
                                      </p:to>
                                    </p:set>
                                    <p:animEffect transition="in" filter="fade">
                                      <p:cBhvr>
                                        <p:cTn id="32" dur="500"/>
                                        <p:tgtEl>
                                          <p:spTgt spid="5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6"/>
                                        </p:tgtEl>
                                        <p:attrNameLst>
                                          <p:attrName>style.visibility</p:attrName>
                                        </p:attrNameLst>
                                      </p:cBhvr>
                                      <p:to>
                                        <p:strVal val="visible"/>
                                      </p:to>
                                    </p:set>
                                    <p:animEffect transition="in" filter="fade">
                                      <p:cBhvr>
                                        <p:cTn id="35" dur="500"/>
                                        <p:tgtEl>
                                          <p:spTgt spid="66"/>
                                        </p:tgtEl>
                                      </p:cBhvr>
                                    </p:animEffect>
                                  </p:childTnLst>
                                </p:cTn>
                              </p:par>
                              <p:par>
                                <p:cTn id="36" presetID="10" presetClass="entr" presetSubtype="0" fill="hold" nodeType="withEffect">
                                  <p:stCondLst>
                                    <p:cond delay="0"/>
                                  </p:stCondLst>
                                  <p:childTnLst>
                                    <p:set>
                                      <p:cBhvr>
                                        <p:cTn id="37" dur="1" fill="hold">
                                          <p:stCondLst>
                                            <p:cond delay="0"/>
                                          </p:stCondLst>
                                        </p:cTn>
                                        <p:tgtEl>
                                          <p:spTgt spid="94"/>
                                        </p:tgtEl>
                                        <p:attrNameLst>
                                          <p:attrName>style.visibility</p:attrName>
                                        </p:attrNameLst>
                                      </p:cBhvr>
                                      <p:to>
                                        <p:strVal val="visible"/>
                                      </p:to>
                                    </p:set>
                                    <p:animEffect transition="in" filter="fade">
                                      <p:cBhvr>
                                        <p:cTn id="38" dur="500"/>
                                        <p:tgtEl>
                                          <p:spTgt spid="94"/>
                                        </p:tgtEl>
                                      </p:cBhvr>
                                    </p:animEffect>
                                  </p:childTnLst>
                                </p:cTn>
                              </p:par>
                              <p:par>
                                <p:cTn id="39" presetID="10" presetClass="entr" presetSubtype="0" fill="hold" nodeType="withEffect">
                                  <p:stCondLst>
                                    <p:cond delay="0"/>
                                  </p:stCondLst>
                                  <p:childTnLst>
                                    <p:set>
                                      <p:cBhvr>
                                        <p:cTn id="40" dur="1" fill="hold">
                                          <p:stCondLst>
                                            <p:cond delay="0"/>
                                          </p:stCondLst>
                                        </p:cTn>
                                        <p:tgtEl>
                                          <p:spTgt spid="93"/>
                                        </p:tgtEl>
                                        <p:attrNameLst>
                                          <p:attrName>style.visibility</p:attrName>
                                        </p:attrNameLst>
                                      </p:cBhvr>
                                      <p:to>
                                        <p:strVal val="visible"/>
                                      </p:to>
                                    </p:set>
                                    <p:animEffect transition="in" filter="fade">
                                      <p:cBhvr>
                                        <p:cTn id="41" dur="500"/>
                                        <p:tgtEl>
                                          <p:spTgt spid="9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fade">
                                      <p:cBhvr>
                                        <p:cTn id="46" dur="500"/>
                                        <p:tgtEl>
                                          <p:spTgt spid="5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00"/>
                                        </p:tgtEl>
                                        <p:attrNameLst>
                                          <p:attrName>style.visibility</p:attrName>
                                        </p:attrNameLst>
                                      </p:cBhvr>
                                      <p:to>
                                        <p:strVal val="visible"/>
                                      </p:to>
                                    </p:set>
                                    <p:animEffect transition="in" filter="fade">
                                      <p:cBhvr>
                                        <p:cTn id="49" dur="500"/>
                                        <p:tgtEl>
                                          <p:spTgt spid="10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fade">
                                      <p:cBhvr>
                                        <p:cTn id="52" dur="500"/>
                                        <p:tgtEl>
                                          <p:spTgt spid="6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7"/>
                                        </p:tgtEl>
                                        <p:attrNameLst>
                                          <p:attrName>style.visibility</p:attrName>
                                        </p:attrNameLst>
                                      </p:cBhvr>
                                      <p:to>
                                        <p:strVal val="visible"/>
                                      </p:to>
                                    </p:set>
                                    <p:animEffect transition="in" filter="fade">
                                      <p:cBhvr>
                                        <p:cTn id="55" dur="500"/>
                                        <p:tgtEl>
                                          <p:spTgt spid="67"/>
                                        </p:tgtEl>
                                      </p:cBhvr>
                                    </p:animEffect>
                                  </p:childTnLst>
                                </p:cTn>
                              </p:par>
                              <p:par>
                                <p:cTn id="56" presetID="10" presetClass="entr" presetSubtype="0" fill="hold" nodeType="withEffect">
                                  <p:stCondLst>
                                    <p:cond delay="0"/>
                                  </p:stCondLst>
                                  <p:childTnLst>
                                    <p:set>
                                      <p:cBhvr>
                                        <p:cTn id="57" dur="1" fill="hold">
                                          <p:stCondLst>
                                            <p:cond delay="0"/>
                                          </p:stCondLst>
                                        </p:cTn>
                                        <p:tgtEl>
                                          <p:spTgt spid="92"/>
                                        </p:tgtEl>
                                        <p:attrNameLst>
                                          <p:attrName>style.visibility</p:attrName>
                                        </p:attrNameLst>
                                      </p:cBhvr>
                                      <p:to>
                                        <p:strVal val="visible"/>
                                      </p:to>
                                    </p:set>
                                    <p:animEffect transition="in" filter="fade">
                                      <p:cBhvr>
                                        <p:cTn id="58" dur="500"/>
                                        <p:tgtEl>
                                          <p:spTgt spid="9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61"/>
                                        </p:tgtEl>
                                        <p:attrNameLst>
                                          <p:attrName>style.visibility</p:attrName>
                                        </p:attrNameLst>
                                      </p:cBhvr>
                                      <p:to>
                                        <p:strVal val="visible"/>
                                      </p:to>
                                    </p:set>
                                    <p:animEffect transition="in" filter="fade">
                                      <p:cBhvr>
                                        <p:cTn id="63" dur="500"/>
                                        <p:tgtEl>
                                          <p:spTgt spid="6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7"/>
                                        </p:tgtEl>
                                        <p:attrNameLst>
                                          <p:attrName>style.visibility</p:attrName>
                                        </p:attrNameLst>
                                      </p:cBhvr>
                                      <p:to>
                                        <p:strVal val="visible"/>
                                      </p:to>
                                    </p:set>
                                    <p:animEffect transition="in" filter="fade">
                                      <p:cBhvr>
                                        <p:cTn id="66" dur="500"/>
                                        <p:tgtEl>
                                          <p:spTgt spid="5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68"/>
                                        </p:tgtEl>
                                        <p:attrNameLst>
                                          <p:attrName>style.visibility</p:attrName>
                                        </p:attrNameLst>
                                      </p:cBhvr>
                                      <p:to>
                                        <p:strVal val="visible"/>
                                      </p:to>
                                    </p:set>
                                    <p:animEffect transition="in" filter="fade">
                                      <p:cBhvr>
                                        <p:cTn id="69" dur="500"/>
                                        <p:tgtEl>
                                          <p:spTgt spid="68"/>
                                        </p:tgtEl>
                                      </p:cBhvr>
                                    </p:animEffect>
                                  </p:childTnLst>
                                </p:cTn>
                              </p:par>
                              <p:par>
                                <p:cTn id="70" presetID="10" presetClass="entr" presetSubtype="0" fill="hold" nodeType="withEffect">
                                  <p:stCondLst>
                                    <p:cond delay="0"/>
                                  </p:stCondLst>
                                  <p:childTnLst>
                                    <p:set>
                                      <p:cBhvr>
                                        <p:cTn id="71" dur="1" fill="hold">
                                          <p:stCondLst>
                                            <p:cond delay="0"/>
                                          </p:stCondLst>
                                        </p:cTn>
                                        <p:tgtEl>
                                          <p:spTgt spid="91"/>
                                        </p:tgtEl>
                                        <p:attrNameLst>
                                          <p:attrName>style.visibility</p:attrName>
                                        </p:attrNameLst>
                                      </p:cBhvr>
                                      <p:to>
                                        <p:strVal val="visible"/>
                                      </p:to>
                                    </p:set>
                                    <p:animEffect transition="in" filter="fade">
                                      <p:cBhvr>
                                        <p:cTn id="72" dur="500"/>
                                        <p:tgtEl>
                                          <p:spTgt spid="91"/>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63"/>
                                        </p:tgtEl>
                                        <p:attrNameLst>
                                          <p:attrName>style.visibility</p:attrName>
                                        </p:attrNameLst>
                                      </p:cBhvr>
                                      <p:to>
                                        <p:strVal val="visible"/>
                                      </p:to>
                                    </p:set>
                                    <p:animEffect transition="in" filter="fade">
                                      <p:cBhvr>
                                        <p:cTn id="77" dur="500"/>
                                        <p:tgtEl>
                                          <p:spTgt spid="6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2"/>
                                        </p:tgtEl>
                                        <p:attrNameLst>
                                          <p:attrName>style.visibility</p:attrName>
                                        </p:attrNameLst>
                                      </p:cBhvr>
                                      <p:to>
                                        <p:strVal val="visible"/>
                                      </p:to>
                                    </p:set>
                                    <p:animEffect transition="in" filter="fade">
                                      <p:cBhvr>
                                        <p:cTn id="80" dur="500"/>
                                        <p:tgtEl>
                                          <p:spTgt spid="6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70"/>
                                        </p:tgtEl>
                                        <p:attrNameLst>
                                          <p:attrName>style.visibility</p:attrName>
                                        </p:attrNameLst>
                                      </p:cBhvr>
                                      <p:to>
                                        <p:strVal val="visible"/>
                                      </p:to>
                                    </p:set>
                                    <p:animEffect transition="in" filter="fade">
                                      <p:cBhvr>
                                        <p:cTn id="83" dur="500"/>
                                        <p:tgtEl>
                                          <p:spTgt spid="70"/>
                                        </p:tgtEl>
                                      </p:cBhvr>
                                    </p:animEffect>
                                  </p:childTnLst>
                                </p:cTn>
                              </p:par>
                              <p:par>
                                <p:cTn id="84" presetID="10" presetClass="entr" presetSubtype="0" fill="hold" nodeType="withEffect">
                                  <p:stCondLst>
                                    <p:cond delay="0"/>
                                  </p:stCondLst>
                                  <p:childTnLst>
                                    <p:set>
                                      <p:cBhvr>
                                        <p:cTn id="85" dur="1" fill="hold">
                                          <p:stCondLst>
                                            <p:cond delay="0"/>
                                          </p:stCondLst>
                                        </p:cTn>
                                        <p:tgtEl>
                                          <p:spTgt spid="90"/>
                                        </p:tgtEl>
                                        <p:attrNameLst>
                                          <p:attrName>style.visibility</p:attrName>
                                        </p:attrNameLst>
                                      </p:cBhvr>
                                      <p:to>
                                        <p:strVal val="visible"/>
                                      </p:to>
                                    </p:set>
                                    <p:animEffect transition="in" filter="fade">
                                      <p:cBhvr>
                                        <p:cTn id="86" dur="500"/>
                                        <p:tgtEl>
                                          <p:spTgt spid="90"/>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69"/>
                                        </p:tgtEl>
                                        <p:attrNameLst>
                                          <p:attrName>style.visibility</p:attrName>
                                        </p:attrNameLst>
                                      </p:cBhvr>
                                      <p:to>
                                        <p:strVal val="visible"/>
                                      </p:to>
                                    </p:set>
                                    <p:animEffect transition="in" filter="fade">
                                      <p:cBhvr>
                                        <p:cTn id="91" dur="500"/>
                                        <p:tgtEl>
                                          <p:spTgt spid="6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4"/>
                                        </p:tgtEl>
                                        <p:attrNameLst>
                                          <p:attrName>style.visibility</p:attrName>
                                        </p:attrNameLst>
                                      </p:cBhvr>
                                      <p:to>
                                        <p:strVal val="visible"/>
                                      </p:to>
                                    </p:set>
                                    <p:animEffect transition="in" filter="fade">
                                      <p:cBhvr>
                                        <p:cTn id="94" dur="500"/>
                                        <p:tgtEl>
                                          <p:spTgt spid="64"/>
                                        </p:tgtEl>
                                      </p:cBhvr>
                                    </p:animEffect>
                                  </p:childTnLst>
                                </p:cTn>
                              </p:par>
                              <p:par>
                                <p:cTn id="95" presetID="10" presetClass="entr" presetSubtype="0" fill="hold" nodeType="withEffect">
                                  <p:stCondLst>
                                    <p:cond delay="0"/>
                                  </p:stCondLst>
                                  <p:childTnLst>
                                    <p:set>
                                      <p:cBhvr>
                                        <p:cTn id="96" dur="1" fill="hold">
                                          <p:stCondLst>
                                            <p:cond delay="0"/>
                                          </p:stCondLst>
                                        </p:cTn>
                                        <p:tgtEl>
                                          <p:spTgt spid="3"/>
                                        </p:tgtEl>
                                        <p:attrNameLst>
                                          <p:attrName>style.visibility</p:attrName>
                                        </p:attrNameLst>
                                      </p:cBhvr>
                                      <p:to>
                                        <p:strVal val="visible"/>
                                      </p:to>
                                    </p:set>
                                    <p:animEffect transition="in" filter="fade">
                                      <p:cBhvr>
                                        <p:cTn id="9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5" grpId="0"/>
      <p:bldP spid="66" grpId="0"/>
      <p:bldP spid="67" grpId="0"/>
      <p:bldP spid="68" grpId="0"/>
      <p:bldP spid="69" grpId="0"/>
      <p:bldP spid="70" grpId="0"/>
      <p:bldP spid="100" grpId="0"/>
      <p:bldP spid="3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5F5AF-F28C-91B0-B6B6-72BC48BBE653}"/>
              </a:ext>
            </a:extLst>
          </p:cNvPr>
          <p:cNvSpPr>
            <a:spLocks noGrp="1"/>
          </p:cNvSpPr>
          <p:nvPr>
            <p:ph type="title"/>
          </p:nvPr>
        </p:nvSpPr>
        <p:spPr/>
        <p:txBody>
          <a:bodyPr/>
          <a:lstStyle/>
          <a:p>
            <a:pPr algn="ctr"/>
            <a:r>
              <a:rPr lang="en-US" dirty="0"/>
              <a:t>Imagery Domain Ontologies</a:t>
            </a:r>
          </a:p>
        </p:txBody>
      </p:sp>
      <p:sp>
        <p:nvSpPr>
          <p:cNvPr id="3" name="Content Placeholder 2">
            <a:extLst>
              <a:ext uri="{FF2B5EF4-FFF2-40B4-BE49-F238E27FC236}">
                <a16:creationId xmlns:a16="http://schemas.microsoft.com/office/drawing/2014/main" id="{BE0227BE-0EDC-6569-5A88-A9147102809C}"/>
              </a:ext>
            </a:extLst>
          </p:cNvPr>
          <p:cNvSpPr>
            <a:spLocks noGrp="1"/>
          </p:cNvSpPr>
          <p:nvPr>
            <p:ph idx="1"/>
          </p:nvPr>
        </p:nvSpPr>
        <p:spPr/>
        <p:txBody>
          <a:bodyPr/>
          <a:lstStyle/>
          <a:p>
            <a:r>
              <a:rPr lang="en-US" b="0" dirty="0"/>
              <a:t>The IDO provides a rich set of ontologically structured information geared toward providing descriptive information and context about GIMI imagery media content</a:t>
            </a:r>
          </a:p>
          <a:p>
            <a:r>
              <a:rPr lang="en-US" b="0" dirty="0"/>
              <a:t>The initial IDO effort is focused on "Image Collection" and the parameters associated with sensor systems and the entities within a scene</a:t>
            </a:r>
          </a:p>
          <a:p>
            <a:r>
              <a:rPr lang="en-US" b="0" dirty="0"/>
              <a:t>The IDO is part of a wider Government effort aimed at aligning data management and achieving cohesive semantic understanding across different domains</a:t>
            </a:r>
          </a:p>
        </p:txBody>
      </p:sp>
    </p:spTree>
    <p:extLst>
      <p:ext uri="{BB962C8B-B14F-4D97-AF65-F5344CB8AC3E}">
        <p14:creationId xmlns:p14="http://schemas.microsoft.com/office/powerpoint/2010/main" val="530286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028CA-144F-098F-7F13-084757B4D586}"/>
              </a:ext>
            </a:extLst>
          </p:cNvPr>
          <p:cNvSpPr>
            <a:spLocks noGrp="1"/>
          </p:cNvSpPr>
          <p:nvPr>
            <p:ph type="title"/>
          </p:nvPr>
        </p:nvSpPr>
        <p:spPr>
          <a:xfrm>
            <a:off x="1549905" y="477767"/>
            <a:ext cx="10019243" cy="879475"/>
          </a:xfrm>
        </p:spPr>
        <p:txBody>
          <a:bodyPr>
            <a:normAutofit fontScale="90000"/>
          </a:bodyPr>
          <a:lstStyle/>
          <a:p>
            <a:r>
              <a:rPr lang="en-US" dirty="0"/>
              <a:t>OGC Testbed 21 – GIMI Focused Requirements &amp; Sprint Efforts</a:t>
            </a:r>
          </a:p>
        </p:txBody>
      </p:sp>
      <p:sp>
        <p:nvSpPr>
          <p:cNvPr id="3" name="Content Placeholder 2">
            <a:extLst>
              <a:ext uri="{FF2B5EF4-FFF2-40B4-BE49-F238E27FC236}">
                <a16:creationId xmlns:a16="http://schemas.microsoft.com/office/drawing/2014/main" id="{F5B7050E-3A44-22D3-AD1A-B134429F387D}"/>
              </a:ext>
            </a:extLst>
          </p:cNvPr>
          <p:cNvSpPr>
            <a:spLocks noGrp="1"/>
          </p:cNvSpPr>
          <p:nvPr>
            <p:ph idx="1"/>
          </p:nvPr>
        </p:nvSpPr>
        <p:spPr>
          <a:xfrm>
            <a:off x="609600" y="1646238"/>
            <a:ext cx="10959548" cy="4656840"/>
          </a:xfrm>
        </p:spPr>
        <p:txBody>
          <a:bodyPr>
            <a:normAutofit fontScale="85000" lnSpcReduction="20000"/>
          </a:bodyPr>
          <a:lstStyle/>
          <a:p>
            <a:r>
              <a:rPr lang="en-US" b="1" dirty="0"/>
              <a:t>GIMI File Format</a:t>
            </a:r>
            <a:r>
              <a:rPr lang="en-US" dirty="0"/>
              <a:t>: </a:t>
            </a:r>
          </a:p>
          <a:p>
            <a:pPr lvl="1"/>
            <a:r>
              <a:rPr lang="en-US" dirty="0"/>
              <a:t>Enable accelerated GIMI adoption and application development by participating in open-source additions to the </a:t>
            </a:r>
            <a:r>
              <a:rPr lang="en-US" dirty="0" err="1"/>
              <a:t>GStreamer</a:t>
            </a:r>
            <a:r>
              <a:rPr lang="en-US" dirty="0"/>
              <a:t> and </a:t>
            </a:r>
            <a:r>
              <a:rPr lang="en-US" dirty="0" err="1"/>
              <a:t>libheif</a:t>
            </a:r>
            <a:r>
              <a:rPr lang="en-US" dirty="0"/>
              <a:t> libraries</a:t>
            </a:r>
          </a:p>
          <a:p>
            <a:pPr lvl="1"/>
            <a:r>
              <a:rPr lang="en-US" dirty="0"/>
              <a:t>Implement and enhance cloud optimization features</a:t>
            </a:r>
          </a:p>
          <a:p>
            <a:pPr lvl="1"/>
            <a:r>
              <a:rPr lang="en-US" dirty="0"/>
              <a:t>Develop a GIMI Conformance Test Tool (CTTG thread)</a:t>
            </a:r>
          </a:p>
          <a:p>
            <a:r>
              <a:rPr lang="en-US" b="1" dirty="0"/>
              <a:t>Imagery Domain Ontology (IDO):</a:t>
            </a:r>
            <a:r>
              <a:rPr lang="en-US" dirty="0"/>
              <a:t> </a:t>
            </a:r>
          </a:p>
          <a:p>
            <a:pPr lvl="1"/>
            <a:r>
              <a:rPr lang="en-US" dirty="0"/>
              <a:t>Investigate, implement, and evaluate the GEOINT Media Standards Board’s (GMSB) emerging Imagery Domain Ontology (IDO) by implementing and testing ontology structured metadata sidecar files</a:t>
            </a:r>
          </a:p>
          <a:p>
            <a:r>
              <a:rPr lang="en-US" b="1" dirty="0"/>
              <a:t>GIMI/IDO:</a:t>
            </a:r>
          </a:p>
          <a:p>
            <a:pPr lvl="1"/>
            <a:r>
              <a:rPr lang="en-US" dirty="0"/>
              <a:t>Develop a </a:t>
            </a:r>
            <a:r>
              <a:rPr lang="en-US" b="1" dirty="0"/>
              <a:t>Cloud-based GIMI/IDO player/viewer</a:t>
            </a:r>
            <a:r>
              <a:rPr lang="en-US" dirty="0"/>
              <a:t> to provide a general tool for accessing and viewing geospatial media content</a:t>
            </a:r>
          </a:p>
          <a:p>
            <a:pPr lvl="1"/>
            <a:r>
              <a:rPr lang="en-US" dirty="0"/>
              <a:t>Perform benchmarking to determine performance</a:t>
            </a:r>
          </a:p>
          <a:p>
            <a:pPr lvl="1"/>
            <a:r>
              <a:rPr lang="en-US" dirty="0"/>
              <a:t>Develop, test, measure, demonstrate, and evaluate the combination of GIMI &amp; IDO</a:t>
            </a:r>
          </a:p>
          <a:p>
            <a:r>
              <a:rPr lang="en-US" dirty="0"/>
              <a:t>Conformance Testing:</a:t>
            </a:r>
          </a:p>
          <a:p>
            <a:pPr lvl="1"/>
            <a:r>
              <a:rPr lang="en-US" dirty="0"/>
              <a:t>Develop testing capabilities for GIMI implementations</a:t>
            </a:r>
          </a:p>
          <a:p>
            <a:r>
              <a:rPr lang="en-US" dirty="0"/>
              <a:t>Overall:</a:t>
            </a:r>
          </a:p>
          <a:p>
            <a:pPr lvl="1"/>
            <a:r>
              <a:rPr lang="en-US" dirty="0"/>
              <a:t>Provide recommendations for improvements &amp; next steps</a:t>
            </a:r>
          </a:p>
          <a:p>
            <a:pPr lvl="1"/>
            <a:endParaRPr lang="en-US" dirty="0"/>
          </a:p>
        </p:txBody>
      </p:sp>
    </p:spTree>
    <p:extLst>
      <p:ext uri="{BB962C8B-B14F-4D97-AF65-F5344CB8AC3E}">
        <p14:creationId xmlns:p14="http://schemas.microsoft.com/office/powerpoint/2010/main" val="2475030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6DAD98-C788-F1BB-6F95-6FFFC28D4205}"/>
              </a:ext>
            </a:extLst>
          </p:cNvPr>
          <p:cNvSpPr>
            <a:spLocks noGrp="1"/>
          </p:cNvSpPr>
          <p:nvPr>
            <p:ph type="title"/>
          </p:nvPr>
        </p:nvSpPr>
        <p:spPr/>
        <p:txBody>
          <a:bodyPr/>
          <a:lstStyle/>
          <a:p>
            <a:pPr algn="ctr"/>
            <a:r>
              <a:rPr lang="en-US" dirty="0"/>
              <a:t>Summary</a:t>
            </a:r>
          </a:p>
        </p:txBody>
      </p:sp>
      <p:sp>
        <p:nvSpPr>
          <p:cNvPr id="5" name="Content Placeholder 4">
            <a:extLst>
              <a:ext uri="{FF2B5EF4-FFF2-40B4-BE49-F238E27FC236}">
                <a16:creationId xmlns:a16="http://schemas.microsoft.com/office/drawing/2014/main" id="{86693132-D5FE-62A2-9AC1-4658AAD4A27A}"/>
              </a:ext>
            </a:extLst>
          </p:cNvPr>
          <p:cNvSpPr>
            <a:spLocks noGrp="1"/>
          </p:cNvSpPr>
          <p:nvPr>
            <p:ph idx="1"/>
          </p:nvPr>
        </p:nvSpPr>
        <p:spPr>
          <a:xfrm>
            <a:off x="616226" y="1499934"/>
            <a:ext cx="10959548" cy="4653978"/>
          </a:xfrm>
        </p:spPr>
        <p:txBody>
          <a:bodyPr>
            <a:normAutofit/>
          </a:bodyPr>
          <a:lstStyle/>
          <a:p>
            <a:r>
              <a:rPr lang="en-US" b="0" dirty="0"/>
              <a:t>The OGC Testbed 21 is performing foundational work to enable and accelerate the availability of software tools necessary to realize the adoption and proliferation of the GIMI format and the Imagery Domain Ontologies</a:t>
            </a:r>
          </a:p>
          <a:p>
            <a:r>
              <a:rPr lang="en-US" b="0" dirty="0"/>
              <a:t>These new technologies have been designed to significantly improve interoperability and technical capabilities across the broad spectrum of geospatial imagery applications and users</a:t>
            </a:r>
          </a:p>
          <a:p>
            <a:r>
              <a:rPr lang="en-US" b="0" dirty="0"/>
              <a:t>The GEOINT Media Standards Board (GMSB) is very appreciative of the efforts and successes being achieved and demonstrated by OGC and the Testbed 21 participants</a:t>
            </a:r>
          </a:p>
          <a:p>
            <a:r>
              <a:rPr lang="en-US" b="0" dirty="0"/>
              <a:t>The impact and benefits derived from these efforts is significant and many thanks go out to the OGC leadership and participants in the GIMI/IDO efforts for their hard work and successful achievements. </a:t>
            </a:r>
          </a:p>
          <a:p>
            <a:r>
              <a:rPr lang="en-US" b="0" dirty="0"/>
              <a:t>Enjoy the upcoming code sprint!</a:t>
            </a:r>
          </a:p>
        </p:txBody>
      </p:sp>
      <p:sp>
        <p:nvSpPr>
          <p:cNvPr id="2" name="Slide Number Placeholder 1">
            <a:extLst>
              <a:ext uri="{FF2B5EF4-FFF2-40B4-BE49-F238E27FC236}">
                <a16:creationId xmlns:a16="http://schemas.microsoft.com/office/drawing/2014/main" id="{9D84B1ED-2B2D-D33A-742F-73BA75329C27}"/>
              </a:ext>
            </a:extLst>
          </p:cNvPr>
          <p:cNvSpPr>
            <a:spLocks noGrp="1"/>
          </p:cNvSpPr>
          <p:nvPr>
            <p:ph type="sldNum" sz="quarter" idx="12"/>
          </p:nvPr>
        </p:nvSpPr>
        <p:spPr/>
        <p:txBody>
          <a:bodyPr/>
          <a:lstStyle/>
          <a:p>
            <a:fld id="{04ED54F0-D36E-4641-8B3F-1547866DED2E}" type="slidenum">
              <a:rPr lang="en-US" smtClean="0"/>
              <a:t>7</a:t>
            </a:fld>
            <a:endParaRPr lang="en-US"/>
          </a:p>
        </p:txBody>
      </p:sp>
    </p:spTree>
    <p:extLst>
      <p:ext uri="{BB962C8B-B14F-4D97-AF65-F5344CB8AC3E}">
        <p14:creationId xmlns:p14="http://schemas.microsoft.com/office/powerpoint/2010/main" val="2828604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1E05EBA8-16B1-C255-85B2-E39CA605BBB5}"/>
              </a:ext>
            </a:extLst>
          </p:cNvPr>
          <p:cNvSpPr txBox="1">
            <a:spLocks/>
          </p:cNvSpPr>
          <p:nvPr/>
        </p:nvSpPr>
        <p:spPr>
          <a:xfrm>
            <a:off x="2403120" y="3775952"/>
            <a:ext cx="4574808" cy="1386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b="1" kern="1200">
                <a:solidFill>
                  <a:srgbClr val="003B58"/>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3B58"/>
                </a:solidFill>
                <a:effectLst/>
                <a:uLnTx/>
                <a:uFillTx/>
                <a:latin typeface="Calibri" panose="020F0502020204030204"/>
                <a:ea typeface="+mj-ea"/>
                <a:cs typeface="+mj-cs"/>
              </a:rPr>
              <a:t>Joe Stufflebeam, Ph.D.</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3B58"/>
                </a:solidFill>
                <a:effectLst/>
                <a:uLnTx/>
                <a:uFillTx/>
                <a:latin typeface="Calibri" panose="020F0502020204030204"/>
                <a:ea typeface="+mj-ea"/>
                <a:cs typeface="+mj-cs"/>
              </a:rPr>
              <a:t>GEOINT Media Standards Board</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3B58"/>
                </a:solidFill>
                <a:effectLst/>
                <a:uLnTx/>
                <a:uFillTx/>
                <a:latin typeface="Calibri" panose="020F0502020204030204"/>
                <a:ea typeface="+mj-ea"/>
                <a:cs typeface="+mj-cs"/>
              </a:rPr>
              <a:t>NGA-TAEB Contractor</a:t>
            </a:r>
            <a:br>
              <a:rPr kumimoji="0" lang="en-US" sz="2400" b="1" i="0" u="none" strike="noStrike" kern="1200" cap="none" spc="0" normalizeH="0" baseline="0" noProof="0" dirty="0">
                <a:ln>
                  <a:noFill/>
                </a:ln>
                <a:solidFill>
                  <a:srgbClr val="003B58"/>
                </a:solidFill>
                <a:effectLst/>
                <a:uLnTx/>
                <a:uFillTx/>
                <a:latin typeface="Calibri" panose="020F0502020204030204"/>
                <a:ea typeface="+mj-ea"/>
                <a:cs typeface="+mj-cs"/>
              </a:rPr>
            </a:br>
            <a:r>
              <a:rPr kumimoji="0" lang="en-US" sz="2400" b="1" i="0" u="sng" strike="noStrike" kern="1200" cap="none" spc="0" normalizeH="0" baseline="0" noProof="0" dirty="0">
                <a:ln>
                  <a:noFill/>
                </a:ln>
                <a:solidFill>
                  <a:srgbClr val="0000FF"/>
                </a:solidFill>
                <a:effectLst/>
                <a:uLnTx/>
                <a:uFillTx/>
                <a:latin typeface="Calibri" panose="020F0502020204030204"/>
                <a:ea typeface="+mj-ea"/>
                <a:cs typeface="+mj-cs"/>
              </a:rPr>
              <a:t>Joe.stufflebeam@teknicare.com</a:t>
            </a:r>
            <a:endParaRPr kumimoji="0" lang="en-US" sz="2400" b="1" i="0" u="none" strike="noStrike" kern="1200" cap="none" spc="0" normalizeH="0" baseline="0" noProof="0" dirty="0">
              <a:ln>
                <a:noFill/>
              </a:ln>
              <a:solidFill>
                <a:srgbClr val="003B58"/>
              </a:solidFill>
              <a:effectLst/>
              <a:uLnTx/>
              <a:uFillTx/>
              <a:latin typeface="Calibri" panose="020F0502020204030204"/>
              <a:ea typeface="+mj-ea"/>
              <a:cs typeface="+mj-cs"/>
            </a:endParaRPr>
          </a:p>
        </p:txBody>
      </p:sp>
      <p:pic>
        <p:nvPicPr>
          <p:cNvPr id="8" name="Picture 7" descr="A person wearing a yellow shirt&#10;&#10;AI-generated content may be incorrect.">
            <a:extLst>
              <a:ext uri="{FF2B5EF4-FFF2-40B4-BE49-F238E27FC236}">
                <a16:creationId xmlns:a16="http://schemas.microsoft.com/office/drawing/2014/main" id="{2A347B8F-9B4C-447A-A7C3-40EDE1CC30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2523" y="3094182"/>
            <a:ext cx="2218886" cy="2401539"/>
          </a:xfrm>
          <a:prstGeom prst="rect">
            <a:avLst/>
          </a:prstGeom>
        </p:spPr>
      </p:pic>
    </p:spTree>
    <p:extLst>
      <p:ext uri="{BB962C8B-B14F-4D97-AF65-F5344CB8AC3E}">
        <p14:creationId xmlns:p14="http://schemas.microsoft.com/office/powerpoint/2010/main" val="1933035107"/>
      </p:ext>
    </p:extLst>
  </p:cSld>
  <p:clrMapOvr>
    <a:masterClrMapping/>
  </p:clrMapOvr>
</p:sld>
</file>

<file path=ppt/theme/theme1.xml><?xml version="1.0" encoding="utf-8"?>
<a:theme xmlns:a="http://schemas.openxmlformats.org/drawingml/2006/main" name="1_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B07E6DE5-7229-4B9C-803A-7642B92886DA}" vid="{0CF777B9-399C-4369-A56B-F958EF0420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6089</TotalTime>
  <Words>790</Words>
  <Application>Microsoft Office PowerPoint</Application>
  <PresentationFormat>Widescreen</PresentationFormat>
  <Paragraphs>90</Paragraphs>
  <Slides>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Arial</vt:lpstr>
      <vt:lpstr>Arial Black</vt:lpstr>
      <vt:lpstr>Calibri</vt:lpstr>
      <vt:lpstr>Courier New</vt:lpstr>
      <vt:lpstr>Franklin Gothic Medium Cond</vt:lpstr>
      <vt:lpstr>1_Office Theme</vt:lpstr>
      <vt:lpstr>OGC Testbed 21 – GIMI Standard Activity Overview </vt:lpstr>
      <vt:lpstr>What is 'GIMI"?</vt:lpstr>
      <vt:lpstr>PowerPoint Presentation</vt:lpstr>
      <vt:lpstr>Emerging Geospatial Imagery Standards</vt:lpstr>
      <vt:lpstr>Imagery Domain Ontologies</vt:lpstr>
      <vt:lpstr>OGC Testbed 21 – GIMI Focused Requirements &amp; Sprint Efforts</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 Stufflebeam</dc:creator>
  <cp:lastModifiedBy>Joe Stufflebeam</cp:lastModifiedBy>
  <cp:revision>16</cp:revision>
  <dcterms:created xsi:type="dcterms:W3CDTF">2026-01-21T02:30:00Z</dcterms:created>
  <dcterms:modified xsi:type="dcterms:W3CDTF">2026-04-21T23:43:05Z</dcterms:modified>
</cp:coreProperties>
</file>