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16.svg" ContentType="image/svg"/>
  <Override PartName="/ppt/media/image27.png" ContentType="image/png"/>
  <Override PartName="/ppt/media/image14.svg" ContentType="image/svg"/>
  <Override PartName="/ppt/media/image7.jpeg" ContentType="image/jpeg"/>
  <Override PartName="/ppt/media/image13.png" ContentType="image/png"/>
  <Override PartName="/ppt/media/image12.jpeg" ContentType="image/jpeg"/>
  <Override PartName="/ppt/media/image8.png" ContentType="image/png"/>
  <Override PartName="/ppt/media/image30.svg" ContentType="image/svg"/>
  <Override PartName="/ppt/media/image28.svg" ContentType="image/svg"/>
  <Override PartName="/ppt/media/image32.jpeg" ContentType="image/jpeg"/>
  <Override PartName="/ppt/media/image11.svg" ContentType="image/svg"/>
  <Override PartName="/ppt/media/image5.jpeg" ContentType="image/jpeg"/>
  <Override PartName="/ppt/media/image31.jpeg" ContentType="image/jpeg"/>
  <Override PartName="/ppt/media/image33.jpeg" ContentType="image/jpeg"/>
  <Override PartName="/ppt/media/image34.jpeg" ContentType="image/jpeg"/>
  <Override PartName="/ppt/media/image18.png" ContentType="image/png"/>
  <Override PartName="/ppt/media/image6.jpeg" ContentType="image/jpeg"/>
  <Override PartName="/ppt/media/image4.jpeg" ContentType="image/jpeg"/>
  <Override PartName="/ppt/media/image25.png" ContentType="image/png"/>
  <Override PartName="/ppt/media/image2.png" ContentType="image/png"/>
  <Override PartName="/ppt/media/image3.svg" ContentType="image/svg"/>
  <Override PartName="/ppt/media/image10.png" ContentType="image/png"/>
  <Override PartName="/ppt/media/image1.jpeg" ContentType="image/jpeg"/>
  <Override PartName="/ppt/media/image22.gif" ContentType="image/gif"/>
  <Override PartName="/ppt/media/image15.png" ContentType="image/png"/>
  <Override PartName="/ppt/media/image26.svg" ContentType="image/svg"/>
  <Override PartName="/ppt/media/image19.png" ContentType="image/png"/>
  <Override PartName="/ppt/media/image23.gif" ContentType="image/gif"/>
  <Override PartName="/ppt/media/image24.gif" ContentType="image/gif"/>
  <Override PartName="/ppt/media/image17.png" ContentType="image/png"/>
  <Override PartName="/ppt/media/image9.svg" ContentType="image/svg"/>
  <Override PartName="/ppt/media/image20.jpeg" ContentType="image/jpeg"/>
  <Override PartName="/ppt/media/image21.gif" ContentType="image/gif"/>
  <Override PartName="/ppt/slideLayouts/slideLayout2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</p:sldMasterIdLst>
  <p:sldIdLst>
    <p:sldId id="256" r:id="rId40"/>
    <p:sldId id="257" r:id="rId41"/>
    <p:sldId id="258" r:id="rId42"/>
    <p:sldId id="259" r:id="rId43"/>
    <p:sldId id="260" r:id="rId44"/>
    <p:sldId id="261" r:id="rId45"/>
    <p:sldId id="262" r:id="rId46"/>
    <p:sldId id="263" r:id="rId47"/>
    <p:sldId id="264" r:id="rId48"/>
    <p:sldId id="265" r:id="rId49"/>
    <p:sldId id="266" r:id="rId50"/>
    <p:sldId id="267" r:id="rId51"/>
    <p:sldId id="268" r:id="rId52"/>
    <p:sldId id="269" r:id="rId53"/>
    <p:sldId id="270" r:id="rId54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" Target="slides/slide1.xml"/><Relationship Id="rId41" Type="http://schemas.openxmlformats.org/officeDocument/2006/relationships/slide" Target="slides/slide2.xml"/><Relationship Id="rId42" Type="http://schemas.openxmlformats.org/officeDocument/2006/relationships/slide" Target="slides/slide3.xml"/><Relationship Id="rId43" Type="http://schemas.openxmlformats.org/officeDocument/2006/relationships/slide" Target="slides/slide4.xml"/><Relationship Id="rId44" Type="http://schemas.openxmlformats.org/officeDocument/2006/relationships/slide" Target="slides/slide5.xml"/><Relationship Id="rId45" Type="http://schemas.openxmlformats.org/officeDocument/2006/relationships/slide" Target="slides/slide6.xml"/><Relationship Id="rId46" Type="http://schemas.openxmlformats.org/officeDocument/2006/relationships/slide" Target="slides/slide7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0.xml"/><Relationship Id="rId50" Type="http://schemas.openxmlformats.org/officeDocument/2006/relationships/slide" Target="slides/slide11.xml"/><Relationship Id="rId51" Type="http://schemas.openxmlformats.org/officeDocument/2006/relationships/slide" Target="slides/slide12.xml"/><Relationship Id="rId52" Type="http://schemas.openxmlformats.org/officeDocument/2006/relationships/slide" Target="slides/slide13.xml"/><Relationship Id="rId53" Type="http://schemas.openxmlformats.org/officeDocument/2006/relationships/slide" Target="slides/slide14.xml"/><Relationship Id="rId54" Type="http://schemas.openxmlformats.org/officeDocument/2006/relationships/slide" Target="slides/slide15.xml"/><Relationship Id="rId5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r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Lond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Singap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Melbou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Title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r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Column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3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 Column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GC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Bulleted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Bo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Bo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Bullets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Berl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Delh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ody copy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ullet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Bullets Paragraph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ody copy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ody copy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0.jpeg"/><Relationship Id="rId3" Type="http://schemas.openxmlformats.org/officeDocument/2006/relationships/image" Target="../media/image21.gif"/><Relationship Id="rId4" Type="http://schemas.openxmlformats.org/officeDocument/2006/relationships/image" Target="../media/image22.gif"/><Relationship Id="rId5" Type="http://schemas.openxmlformats.org/officeDocument/2006/relationships/image" Target="../media/image23.gif"/><Relationship Id="rId6" Type="http://schemas.openxmlformats.org/officeDocument/2006/relationships/image" Target="../media/image24.gif"/><Relationship Id="rId7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hyperlink" Target="https://www.linkedin.com/company/open-geospatial-consortium/" TargetMode="External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hyperlink" Target="https://www.youtube.com/@opengeospatial" TargetMode="External"/><Relationship Id="rId6" Type="http://schemas.openxmlformats.org/officeDocument/2006/relationships/image" Target="../media/image27.png"/><Relationship Id="rId7" Type="http://schemas.openxmlformats.org/officeDocument/2006/relationships/image" Target="../media/image28.svg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31.jpe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32.jpeg"/><Relationship Id="rId3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33.jpeg"/><Relationship Id="rId3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3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bbeff"/>
            </a:gs>
            <a:gs pos="35000">
              <a:srgbClr val="dee9ff"/>
            </a:gs>
            <a:gs pos="61000">
              <a:srgbClr val="eaf1ff"/>
            </a:gs>
            <a:gs pos="95000">
              <a:srgbClr val="dfec8c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9" descr=""/>
          <p:cNvPicPr/>
          <p:nvPr/>
        </p:nvPicPr>
        <p:blipFill>
          <a:blip r:embed="rId2"/>
          <a:stretch/>
        </p:blipFill>
        <p:spPr>
          <a:xfrm>
            <a:off x="0" y="-76680"/>
            <a:ext cx="18286200" cy="1043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Rectangle 6"/>
          <p:cNvSpPr/>
          <p:nvPr/>
        </p:nvSpPr>
        <p:spPr>
          <a:xfrm>
            <a:off x="0" y="-76680"/>
            <a:ext cx="10856880" cy="10438200"/>
          </a:xfrm>
          <a:prstGeom prst="rect">
            <a:avLst/>
          </a:prstGeom>
          <a:gradFill rotWithShape="0">
            <a:gsLst>
              <a:gs pos="41000">
                <a:srgbClr val="f0f1fc">
                  <a:alpha val="0"/>
                </a:srgbClr>
              </a:gs>
              <a:gs pos="73000">
                <a:srgbClr val="afcafe">
                  <a:alpha val="80000"/>
                </a:srgbClr>
              </a:gs>
              <a:gs pos="99000">
                <a:srgbClr val="9bbe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>
                  <a:shade val="67500"/>
                </a:schemeClr>
              </a:solidFill>
              <a:uFillTx/>
              <a:latin typeface="Calibri"/>
            </a:endParaRPr>
          </a:p>
        </p:txBody>
      </p:sp>
      <p:sp>
        <p:nvSpPr>
          <p:cNvPr id="2" name="Rectangle 11"/>
          <p:cNvSpPr/>
          <p:nvPr/>
        </p:nvSpPr>
        <p:spPr>
          <a:xfrm>
            <a:off x="762120" y="8344080"/>
            <a:ext cx="150480" cy="1217520"/>
          </a:xfrm>
          <a:prstGeom prst="rect">
            <a:avLst/>
          </a:prstGeom>
          <a:solidFill>
            <a:srgbClr val="aab5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3" name="Graphic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547200"/>
            <a:ext cx="1153080" cy="11530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440" cy="102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Rectangle 7"/>
          <p:cNvSpPr/>
          <p:nvPr/>
        </p:nvSpPr>
        <p:spPr>
          <a:xfrm>
            <a:off x="0" y="24120"/>
            <a:ext cx="18286200" cy="10274400"/>
          </a:xfrm>
          <a:prstGeom prst="rect">
            <a:avLst/>
          </a:prstGeom>
          <a:solidFill>
            <a:srgbClr val="1a2584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" name="Rectangle 11"/>
          <p:cNvSpPr/>
          <p:nvPr/>
        </p:nvSpPr>
        <p:spPr>
          <a:xfrm rot="5400000">
            <a:off x="9069480" y="3543120"/>
            <a:ext cx="150480" cy="121752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440" cy="102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angle 7"/>
          <p:cNvSpPr/>
          <p:nvPr/>
        </p:nvSpPr>
        <p:spPr>
          <a:xfrm>
            <a:off x="0" y="24120"/>
            <a:ext cx="18286200" cy="10274400"/>
          </a:xfrm>
          <a:prstGeom prst="rect">
            <a:avLst/>
          </a:prstGeom>
          <a:solidFill>
            <a:srgbClr val="1a2584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" name="Rectangle 11"/>
          <p:cNvSpPr/>
          <p:nvPr/>
        </p:nvSpPr>
        <p:spPr>
          <a:xfrm rot="5400000">
            <a:off x="9069480" y="3543120"/>
            <a:ext cx="150480" cy="121752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440" cy="102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Rectangle 7"/>
          <p:cNvSpPr/>
          <p:nvPr/>
        </p:nvSpPr>
        <p:spPr>
          <a:xfrm>
            <a:off x="0" y="5400"/>
            <a:ext cx="18286200" cy="10274400"/>
          </a:xfrm>
          <a:prstGeom prst="rect">
            <a:avLst/>
          </a:prstGeom>
          <a:solidFill>
            <a:srgbClr val="1a2584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 rot="5400000">
            <a:off x="9069480" y="3543120"/>
            <a:ext cx="150480" cy="121752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5" descr=""/>
          <p:cNvPicPr/>
          <p:nvPr/>
        </p:nvPicPr>
        <p:blipFill>
          <a:blip r:embed="rId2"/>
          <a:stretch/>
        </p:blipFill>
        <p:spPr>
          <a:xfrm>
            <a:off x="0" y="0"/>
            <a:ext cx="18279360" cy="102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Rectangle 8"/>
          <p:cNvSpPr/>
          <p:nvPr/>
        </p:nvSpPr>
        <p:spPr>
          <a:xfrm>
            <a:off x="0" y="2476440"/>
            <a:ext cx="13257000" cy="5239800"/>
          </a:xfrm>
          <a:prstGeom prst="rect">
            <a:avLst/>
          </a:prstGeom>
          <a:solidFill>
            <a:schemeClr val="accent2">
              <a:lumMod val="60000"/>
              <a:lumOff val="4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" name="Rectangle 9"/>
          <p:cNvSpPr/>
          <p:nvPr/>
        </p:nvSpPr>
        <p:spPr>
          <a:xfrm>
            <a:off x="13265640" y="7718040"/>
            <a:ext cx="5013720" cy="13698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6" name="Graphic 1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120" y="1830240"/>
            <a:ext cx="1563120" cy="156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raphic 1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0800000">
            <a:off x="11050560" y="6745320"/>
            <a:ext cx="1563120" cy="1563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7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Rectangle 4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ectangle 5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Rectangle 4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4" name="Rectangle 9"/>
          <p:cNvSpPr/>
          <p:nvPr/>
        </p:nvSpPr>
        <p:spPr>
          <a:xfrm>
            <a:off x="8830080" y="0"/>
            <a:ext cx="9456120" cy="9318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Rectangle 4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7" name="Rectangle 9"/>
          <p:cNvSpPr/>
          <p:nvPr/>
        </p:nvSpPr>
        <p:spPr>
          <a:xfrm>
            <a:off x="0" y="1903320"/>
            <a:ext cx="18286200" cy="7414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3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5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5" descr="A blue background with dots and lines&#10;&#10;Description automatically generated"/>
          <p:cNvPicPr/>
          <p:nvPr/>
        </p:nvPicPr>
        <p:blipFill>
          <a:blip r:embed="rId2"/>
          <a:stretch/>
        </p:blipFill>
        <p:spPr>
          <a:xfrm>
            <a:off x="0" y="0"/>
            <a:ext cx="18286200" cy="102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Rectangle 10"/>
          <p:cNvSpPr/>
          <p:nvPr/>
        </p:nvSpPr>
        <p:spPr>
          <a:xfrm>
            <a:off x="762120" y="8344080"/>
            <a:ext cx="150480" cy="121752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33" name="Graphic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26200" y="547200"/>
            <a:ext cx="1153080" cy="11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/>
          <p:cNvSpPr/>
          <p:nvPr/>
        </p:nvSpPr>
        <p:spPr>
          <a:xfrm>
            <a:off x="-9720" y="0"/>
            <a:ext cx="18295920" cy="10285200"/>
          </a:xfrm>
          <a:prstGeom prst="rect">
            <a:avLst/>
          </a:prstGeom>
          <a:solidFill>
            <a:srgbClr val="1a25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7" name="Freeform 2"/>
          <p:cNvSpPr/>
          <p:nvPr/>
        </p:nvSpPr>
        <p:spPr>
          <a:xfrm rot="16200000">
            <a:off x="1915560" y="3245760"/>
            <a:ext cx="1478160" cy="1724400"/>
          </a:xfrm>
          <a:custGeom>
            <a:avLst/>
            <a:gdLst>
              <a:gd name="textAreaLeft" fmla="*/ 0 w 1478160"/>
              <a:gd name="textAreaRight" fmla="*/ 1479960 w 1478160"/>
              <a:gd name="textAreaTop" fmla="*/ 0 h 1724400"/>
              <a:gd name="textAreaBottom" fmla="*/ 1726200 h 1724400"/>
            </a:gdLst>
            <a:ahLst/>
            <a:rect l="textAreaLeft" t="textAreaTop" r="textAreaRight" b="textAreaBottom"/>
            <a:pathLst>
              <a:path w="1480022" h="1726079">
                <a:moveTo>
                  <a:pt x="0" y="0"/>
                </a:moveTo>
                <a:lnTo>
                  <a:pt x="1480022" y="0"/>
                </a:lnTo>
                <a:lnTo>
                  <a:pt x="1480022" y="1726078"/>
                </a:lnTo>
                <a:lnTo>
                  <a:pt x="0" y="17260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Freeform 3"/>
          <p:cNvSpPr/>
          <p:nvPr/>
        </p:nvSpPr>
        <p:spPr>
          <a:xfrm rot="16200000">
            <a:off x="1993680" y="5057280"/>
            <a:ext cx="1321920" cy="1724400"/>
          </a:xfrm>
          <a:custGeom>
            <a:avLst/>
            <a:gdLst>
              <a:gd name="textAreaLeft" fmla="*/ 0 w 1321920"/>
              <a:gd name="textAreaRight" fmla="*/ 1323720 w 1321920"/>
              <a:gd name="textAreaTop" fmla="*/ 0 h 1724400"/>
              <a:gd name="textAreaBottom" fmla="*/ 1726200 h 1724400"/>
            </a:gdLst>
            <a:ahLst/>
            <a:rect l="textAreaLeft" t="textAreaTop" r="textAreaRight" b="textAreaBottom"/>
            <a:pathLst>
              <a:path w="1323677" h="1726079">
                <a:moveTo>
                  <a:pt x="0" y="0"/>
                </a:moveTo>
                <a:lnTo>
                  <a:pt x="1323678" y="0"/>
                </a:lnTo>
                <a:lnTo>
                  <a:pt x="1323678" y="1726079"/>
                </a:lnTo>
                <a:lnTo>
                  <a:pt x="0" y="1726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39" name="Group 4"/>
          <p:cNvGrpSpPr/>
          <p:nvPr/>
        </p:nvGrpSpPr>
        <p:grpSpPr>
          <a:xfrm>
            <a:off x="3927600" y="3373560"/>
            <a:ext cx="1688400" cy="25200"/>
            <a:chOff x="3927600" y="3373560"/>
            <a:chExt cx="1688400" cy="25200"/>
          </a:xfrm>
        </p:grpSpPr>
        <p:sp>
          <p:nvSpPr>
            <p:cNvPr id="40" name="Freeform 5"/>
            <p:cNvSpPr/>
            <p:nvPr/>
          </p:nvSpPr>
          <p:spPr>
            <a:xfrm>
              <a:off x="3927600" y="3373560"/>
              <a:ext cx="1688400" cy="25200"/>
            </a:xfrm>
            <a:custGeom>
              <a:avLst/>
              <a:gdLst>
                <a:gd name="textAreaLeft" fmla="*/ 0 w 1688400"/>
                <a:gd name="textAreaRight" fmla="*/ 1690200 w 1688400"/>
                <a:gd name="textAreaTop" fmla="*/ 0 h 25200"/>
                <a:gd name="textAreaBottom" fmla="*/ 27000 h 25200"/>
              </a:gdLst>
              <a:ahLst/>
              <a:rect l="textAreaLeft" t="textAreaTop" r="textAreaRight" b="textAreaBottom"/>
              <a:pathLst>
                <a:path w="2391156" h="38100">
                  <a:moveTo>
                    <a:pt x="0" y="0"/>
                  </a:moveTo>
                  <a:lnTo>
                    <a:pt x="2391156" y="0"/>
                  </a:lnTo>
                  <a:lnTo>
                    <a:pt x="239115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1" name="Group 6"/>
          <p:cNvGrpSpPr/>
          <p:nvPr/>
        </p:nvGrpSpPr>
        <p:grpSpPr>
          <a:xfrm>
            <a:off x="6185520" y="3373560"/>
            <a:ext cx="1742040" cy="25200"/>
            <a:chOff x="6185520" y="3373560"/>
            <a:chExt cx="1742040" cy="25200"/>
          </a:xfrm>
        </p:grpSpPr>
        <p:sp>
          <p:nvSpPr>
            <p:cNvPr id="42" name="Freeform 7"/>
            <p:cNvSpPr/>
            <p:nvPr/>
          </p:nvSpPr>
          <p:spPr>
            <a:xfrm>
              <a:off x="6185520" y="3373560"/>
              <a:ext cx="1742040" cy="25200"/>
            </a:xfrm>
            <a:custGeom>
              <a:avLst/>
              <a:gdLst>
                <a:gd name="textAreaLeft" fmla="*/ 0 w 1742040"/>
                <a:gd name="textAreaRight" fmla="*/ 1743840 w 1742040"/>
                <a:gd name="textAreaTop" fmla="*/ 0 h 25200"/>
                <a:gd name="textAreaBottom" fmla="*/ 27000 h 25200"/>
              </a:gdLst>
              <a:ahLst/>
              <a:rect l="textAreaLeft" t="textAreaTop" r="textAreaRight" b="textAreaBottom"/>
              <a:pathLst>
                <a:path w="2467102" h="38100">
                  <a:moveTo>
                    <a:pt x="0" y="0"/>
                  </a:moveTo>
                  <a:lnTo>
                    <a:pt x="2467102" y="0"/>
                  </a:lnTo>
                  <a:lnTo>
                    <a:pt x="246710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3" name="Group 8"/>
          <p:cNvGrpSpPr/>
          <p:nvPr/>
        </p:nvGrpSpPr>
        <p:grpSpPr>
          <a:xfrm>
            <a:off x="8479800" y="3373560"/>
            <a:ext cx="1615320" cy="25200"/>
            <a:chOff x="8479800" y="3373560"/>
            <a:chExt cx="1615320" cy="25200"/>
          </a:xfrm>
        </p:grpSpPr>
        <p:sp>
          <p:nvSpPr>
            <p:cNvPr id="44" name="Freeform 9"/>
            <p:cNvSpPr/>
            <p:nvPr/>
          </p:nvSpPr>
          <p:spPr>
            <a:xfrm>
              <a:off x="8479800" y="3373560"/>
              <a:ext cx="1615320" cy="25200"/>
            </a:xfrm>
            <a:custGeom>
              <a:avLst/>
              <a:gdLst>
                <a:gd name="textAreaLeft" fmla="*/ 0 w 1615320"/>
                <a:gd name="textAreaRight" fmla="*/ 1617120 w 1615320"/>
                <a:gd name="textAreaTop" fmla="*/ 0 h 25200"/>
                <a:gd name="textAreaBottom" fmla="*/ 27000 h 25200"/>
              </a:gdLst>
              <a:ahLst/>
              <a:rect l="textAreaLeft" t="textAreaTop" r="textAreaRight" b="textAreaBottom"/>
              <a:pathLst>
                <a:path w="2287778" h="38100">
                  <a:moveTo>
                    <a:pt x="0" y="0"/>
                  </a:moveTo>
                  <a:lnTo>
                    <a:pt x="2287778" y="0"/>
                  </a:lnTo>
                  <a:lnTo>
                    <a:pt x="228777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5" name="Group 10"/>
          <p:cNvGrpSpPr/>
          <p:nvPr/>
        </p:nvGrpSpPr>
        <p:grpSpPr>
          <a:xfrm>
            <a:off x="10664640" y="3373560"/>
            <a:ext cx="1556640" cy="25200"/>
            <a:chOff x="10664640" y="3373560"/>
            <a:chExt cx="1556640" cy="25200"/>
          </a:xfrm>
        </p:grpSpPr>
        <p:sp>
          <p:nvSpPr>
            <p:cNvPr id="46" name="Freeform 11"/>
            <p:cNvSpPr/>
            <p:nvPr/>
          </p:nvSpPr>
          <p:spPr>
            <a:xfrm>
              <a:off x="10664640" y="3373560"/>
              <a:ext cx="1556640" cy="25200"/>
            </a:xfrm>
            <a:custGeom>
              <a:avLst/>
              <a:gdLst>
                <a:gd name="textAreaLeft" fmla="*/ 0 w 1556640"/>
                <a:gd name="textAreaRight" fmla="*/ 1558440 w 1556640"/>
                <a:gd name="textAreaTop" fmla="*/ 0 h 25200"/>
                <a:gd name="textAreaBottom" fmla="*/ 27000 h 25200"/>
              </a:gdLst>
              <a:ahLst/>
              <a:rect l="textAreaLeft" t="textAreaTop" r="textAreaRight" b="textAreaBottom"/>
              <a:pathLst>
                <a:path w="2204593" h="38100">
                  <a:moveTo>
                    <a:pt x="0" y="0"/>
                  </a:moveTo>
                  <a:lnTo>
                    <a:pt x="2204593" y="0"/>
                  </a:lnTo>
                  <a:lnTo>
                    <a:pt x="220459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7" name="Group 12"/>
          <p:cNvGrpSpPr/>
          <p:nvPr/>
        </p:nvGrpSpPr>
        <p:grpSpPr>
          <a:xfrm>
            <a:off x="12756240" y="3373560"/>
            <a:ext cx="1539720" cy="25200"/>
            <a:chOff x="12756240" y="3373560"/>
            <a:chExt cx="1539720" cy="25200"/>
          </a:xfrm>
        </p:grpSpPr>
        <p:sp>
          <p:nvSpPr>
            <p:cNvPr id="48" name="Freeform 13"/>
            <p:cNvSpPr/>
            <p:nvPr/>
          </p:nvSpPr>
          <p:spPr>
            <a:xfrm>
              <a:off x="12756240" y="3373560"/>
              <a:ext cx="1539720" cy="25200"/>
            </a:xfrm>
            <a:custGeom>
              <a:avLst/>
              <a:gdLst>
                <a:gd name="textAreaLeft" fmla="*/ 0 w 1539720"/>
                <a:gd name="textAreaRight" fmla="*/ 1541520 w 1539720"/>
                <a:gd name="textAreaTop" fmla="*/ 0 h 25200"/>
                <a:gd name="textAreaBottom" fmla="*/ 27000 h 25200"/>
              </a:gdLst>
              <a:ahLst/>
              <a:rect l="textAreaLeft" t="textAreaTop" r="textAreaRight" b="textAreaBottom"/>
              <a:pathLst>
                <a:path w="2180844" h="38100">
                  <a:moveTo>
                    <a:pt x="0" y="0"/>
                  </a:moveTo>
                  <a:lnTo>
                    <a:pt x="2180844" y="0"/>
                  </a:lnTo>
                  <a:lnTo>
                    <a:pt x="218084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9" name="Group 14"/>
          <p:cNvGrpSpPr/>
          <p:nvPr/>
        </p:nvGrpSpPr>
        <p:grpSpPr>
          <a:xfrm>
            <a:off x="14881680" y="3373560"/>
            <a:ext cx="1522080" cy="25200"/>
            <a:chOff x="14881680" y="3373560"/>
            <a:chExt cx="1522080" cy="25200"/>
          </a:xfrm>
        </p:grpSpPr>
        <p:sp>
          <p:nvSpPr>
            <p:cNvPr id="50" name="Freeform 15"/>
            <p:cNvSpPr/>
            <p:nvPr/>
          </p:nvSpPr>
          <p:spPr>
            <a:xfrm>
              <a:off x="14881680" y="3373560"/>
              <a:ext cx="1522080" cy="25200"/>
            </a:xfrm>
            <a:custGeom>
              <a:avLst/>
              <a:gdLst>
                <a:gd name="textAreaLeft" fmla="*/ 0 w 1522080"/>
                <a:gd name="textAreaRight" fmla="*/ 1523880 w 1522080"/>
                <a:gd name="textAreaTop" fmla="*/ 0 h 25200"/>
                <a:gd name="textAreaBottom" fmla="*/ 27000 h 25200"/>
              </a:gdLst>
              <a:ahLst/>
              <a:rect l="textAreaLeft" t="textAreaTop" r="textAreaRight" b="textAreaBottom"/>
              <a:pathLst>
                <a:path w="2156079" h="38100">
                  <a:moveTo>
                    <a:pt x="0" y="0"/>
                  </a:moveTo>
                  <a:lnTo>
                    <a:pt x="2156079" y="0"/>
                  </a:lnTo>
                  <a:lnTo>
                    <a:pt x="215607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1" name="Group 16"/>
          <p:cNvGrpSpPr/>
          <p:nvPr/>
        </p:nvGrpSpPr>
        <p:grpSpPr>
          <a:xfrm>
            <a:off x="16948080" y="6566760"/>
            <a:ext cx="699120" cy="25200"/>
            <a:chOff x="16948080" y="6566760"/>
            <a:chExt cx="699120" cy="25200"/>
          </a:xfrm>
        </p:grpSpPr>
        <p:sp>
          <p:nvSpPr>
            <p:cNvPr id="52" name="Freeform 17"/>
            <p:cNvSpPr/>
            <p:nvPr/>
          </p:nvSpPr>
          <p:spPr>
            <a:xfrm>
              <a:off x="16948080" y="6566760"/>
              <a:ext cx="699120" cy="25200"/>
            </a:xfrm>
            <a:custGeom>
              <a:avLst/>
              <a:gdLst>
                <a:gd name="textAreaLeft" fmla="*/ 0 w 699120"/>
                <a:gd name="textAreaRight" fmla="*/ 700920 w 699120"/>
                <a:gd name="textAreaTop" fmla="*/ 0 h 25200"/>
                <a:gd name="textAreaBottom" fmla="*/ 27000 h 25200"/>
              </a:gdLst>
              <a:ahLst/>
              <a:rect l="textAreaLeft" t="textAreaTop" r="textAreaRight" b="textAreaBottom"/>
              <a:pathLst>
                <a:path w="991870" h="38100">
                  <a:moveTo>
                    <a:pt x="0" y="0"/>
                  </a:moveTo>
                  <a:lnTo>
                    <a:pt x="991870" y="0"/>
                  </a:lnTo>
                  <a:lnTo>
                    <a:pt x="99187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3" name="AutoShape 63"/>
          <p:cNvSpPr/>
          <p:nvPr/>
        </p:nvSpPr>
        <p:spPr>
          <a:xfrm>
            <a:off x="3959640" y="6580800"/>
            <a:ext cx="212148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AutoShape 64"/>
          <p:cNvSpPr/>
          <p:nvPr/>
        </p:nvSpPr>
        <p:spPr>
          <a:xfrm>
            <a:off x="6653520" y="6580800"/>
            <a:ext cx="143352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5" name="AutoShape 65"/>
          <p:cNvSpPr/>
          <p:nvPr/>
        </p:nvSpPr>
        <p:spPr>
          <a:xfrm>
            <a:off x="8541720" y="6580800"/>
            <a:ext cx="103608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AutoShape 66"/>
          <p:cNvSpPr/>
          <p:nvPr/>
        </p:nvSpPr>
        <p:spPr>
          <a:xfrm>
            <a:off x="10051560" y="6580800"/>
            <a:ext cx="186012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AutoShape 67"/>
          <p:cNvSpPr/>
          <p:nvPr/>
        </p:nvSpPr>
        <p:spPr>
          <a:xfrm>
            <a:off x="12474360" y="6580800"/>
            <a:ext cx="156348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AutoShape 68"/>
          <p:cNvSpPr/>
          <p:nvPr/>
        </p:nvSpPr>
        <p:spPr>
          <a:xfrm>
            <a:off x="14513760" y="6580800"/>
            <a:ext cx="189180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Oval 104"/>
          <p:cNvSpPr/>
          <p:nvPr/>
        </p:nvSpPr>
        <p:spPr>
          <a:xfrm>
            <a:off x="1804680" y="491292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0" name="Oval 105"/>
          <p:cNvSpPr/>
          <p:nvPr/>
        </p:nvSpPr>
        <p:spPr>
          <a:xfrm>
            <a:off x="3633480" y="646308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1" name="Oval 106"/>
          <p:cNvSpPr/>
          <p:nvPr/>
        </p:nvSpPr>
        <p:spPr>
          <a:xfrm>
            <a:off x="6250680" y="646308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2" name="Oval 107"/>
          <p:cNvSpPr/>
          <p:nvPr/>
        </p:nvSpPr>
        <p:spPr>
          <a:xfrm>
            <a:off x="8186760" y="646308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3" name="Oval 108"/>
          <p:cNvSpPr/>
          <p:nvPr/>
        </p:nvSpPr>
        <p:spPr>
          <a:xfrm>
            <a:off x="9696600" y="646308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4" name="Oval 109"/>
          <p:cNvSpPr/>
          <p:nvPr/>
        </p:nvSpPr>
        <p:spPr>
          <a:xfrm>
            <a:off x="12078720" y="646308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5" name="Oval 110"/>
          <p:cNvSpPr/>
          <p:nvPr/>
        </p:nvSpPr>
        <p:spPr>
          <a:xfrm>
            <a:off x="14155920" y="646308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6" name="Oval 111"/>
          <p:cNvSpPr/>
          <p:nvPr/>
        </p:nvSpPr>
        <p:spPr>
          <a:xfrm>
            <a:off x="16519320" y="646308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7" name="Oval 112"/>
          <p:cNvSpPr/>
          <p:nvPr/>
        </p:nvSpPr>
        <p:spPr>
          <a:xfrm>
            <a:off x="16561800" y="327564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8" name="Oval 113"/>
          <p:cNvSpPr/>
          <p:nvPr/>
        </p:nvSpPr>
        <p:spPr>
          <a:xfrm>
            <a:off x="14479920" y="327564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9" name="Oval 114"/>
          <p:cNvSpPr/>
          <p:nvPr/>
        </p:nvSpPr>
        <p:spPr>
          <a:xfrm>
            <a:off x="12379320" y="327564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0" name="Oval 115"/>
          <p:cNvSpPr/>
          <p:nvPr/>
        </p:nvSpPr>
        <p:spPr>
          <a:xfrm>
            <a:off x="10259640" y="327564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1" name="Oval 116"/>
          <p:cNvSpPr/>
          <p:nvPr/>
        </p:nvSpPr>
        <p:spPr>
          <a:xfrm>
            <a:off x="8079120" y="327564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2" name="Oval 117"/>
          <p:cNvSpPr/>
          <p:nvPr/>
        </p:nvSpPr>
        <p:spPr>
          <a:xfrm>
            <a:off x="5781600" y="327564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Oval 118"/>
          <p:cNvSpPr/>
          <p:nvPr/>
        </p:nvSpPr>
        <p:spPr>
          <a:xfrm>
            <a:off x="3602880" y="3275640"/>
            <a:ext cx="236520" cy="236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74" name="Graphic 34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6743600" y="482760"/>
            <a:ext cx="1009080" cy="10090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5"/>
          <p:cNvSpPr/>
          <p:nvPr/>
        </p:nvSpPr>
        <p:spPr>
          <a:xfrm>
            <a:off x="0" y="-4320"/>
            <a:ext cx="18286200" cy="10285200"/>
          </a:xfrm>
          <a:prstGeom prst="rect">
            <a:avLst/>
          </a:prstGeom>
          <a:gradFill rotWithShape="0">
            <a:gsLst>
              <a:gs pos="8000">
                <a:srgbClr val="263bd3"/>
              </a:gs>
              <a:gs pos="80000">
                <a:srgbClr val="1a2584"/>
              </a:gs>
            </a:gsLst>
            <a:lin ang="135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76" name="Picture 8" descr="A green globe with blue and yellow lines&#10;&#10;Description automatically generated"/>
          <p:cNvPicPr/>
          <p:nvPr/>
        </p:nvPicPr>
        <p:blipFill>
          <a:blip r:embed="rId2"/>
          <a:stretch/>
        </p:blipFill>
        <p:spPr>
          <a:xfrm>
            <a:off x="6713640" y="3225240"/>
            <a:ext cx="11599560" cy="70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743600" y="482760"/>
            <a:ext cx="1009080" cy="10090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5"/>
          <p:cNvSpPr/>
          <p:nvPr/>
        </p:nvSpPr>
        <p:spPr>
          <a:xfrm>
            <a:off x="0" y="-4320"/>
            <a:ext cx="18286200" cy="10285200"/>
          </a:xfrm>
          <a:prstGeom prst="rect">
            <a:avLst/>
          </a:prstGeom>
          <a:gradFill rotWithShape="0">
            <a:gsLst>
              <a:gs pos="8000">
                <a:srgbClr val="263bd3"/>
              </a:gs>
              <a:gs pos="80000">
                <a:srgbClr val="1a2584"/>
              </a:gs>
            </a:gsLst>
            <a:lin ang="189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79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743600" y="482760"/>
            <a:ext cx="1009080" cy="10090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1"/>
          <p:cNvSpPr/>
          <p:nvPr/>
        </p:nvSpPr>
        <p:spPr>
          <a:xfrm>
            <a:off x="13951080" y="0"/>
            <a:ext cx="4345560" cy="10285200"/>
          </a:xfrm>
          <a:prstGeom prst="rect">
            <a:avLst/>
          </a:prstGeom>
          <a:gradFill rotWithShape="0">
            <a:gsLst>
              <a:gs pos="24000">
                <a:srgbClr val="ffffff"/>
              </a:gs>
              <a:gs pos="55000">
                <a:srgbClr val="d3e4ff"/>
              </a:gs>
              <a:gs pos="100000">
                <a:srgbClr val="bad3ff"/>
              </a:gs>
            </a:gsLst>
            <a:lin ang="8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13951080" y="-20880"/>
            <a:ext cx="722160" cy="392256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82" name="Picture 3" descr="A blue earth with lines and dots around it&#10;&#10;Description automatically generated"/>
          <p:cNvPicPr/>
          <p:nvPr/>
        </p:nvPicPr>
        <p:blipFill>
          <a:blip r:embed="rId2"/>
          <a:stretch/>
        </p:blipFill>
        <p:spPr>
          <a:xfrm>
            <a:off x="10446840" y="1976040"/>
            <a:ext cx="7730280" cy="61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743600" y="482760"/>
            <a:ext cx="1009080" cy="100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Rectangle 5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5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3"/>
          <p:cNvSpPr/>
          <p:nvPr/>
        </p:nvSpPr>
        <p:spPr>
          <a:xfrm>
            <a:off x="12115800" y="3717360"/>
            <a:ext cx="6170400" cy="6567840"/>
          </a:xfrm>
          <a:prstGeom prst="rect">
            <a:avLst/>
          </a:prstGeom>
          <a:solidFill>
            <a:srgbClr val="92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0" y="3717360"/>
            <a:ext cx="6036120" cy="6567840"/>
          </a:xfrm>
          <a:prstGeom prst="rect">
            <a:avLst/>
          </a:prstGeom>
          <a:solidFill>
            <a:srgbClr val="d7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6019920" y="3703320"/>
            <a:ext cx="6144120" cy="656784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88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743600" y="482760"/>
            <a:ext cx="1009080" cy="100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ectangle 11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743600" y="482760"/>
            <a:ext cx="1009080" cy="100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Rectangle 11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2" name="Rectangle 5"/>
          <p:cNvSpPr/>
          <p:nvPr/>
        </p:nvSpPr>
        <p:spPr>
          <a:xfrm>
            <a:off x="9296280" y="3314880"/>
            <a:ext cx="4222080" cy="5113800"/>
          </a:xfrm>
          <a:prstGeom prst="rect">
            <a:avLst/>
          </a:prstGeom>
          <a:solidFill>
            <a:srgbClr val="b3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3" name="Rectangle 6"/>
          <p:cNvSpPr/>
          <p:nvPr/>
        </p:nvSpPr>
        <p:spPr>
          <a:xfrm>
            <a:off x="321480" y="3314880"/>
            <a:ext cx="4221000" cy="5113800"/>
          </a:xfrm>
          <a:prstGeom prst="rect">
            <a:avLst/>
          </a:prstGeom>
          <a:solidFill>
            <a:srgbClr val="d7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4" name="Rectangle 7"/>
          <p:cNvSpPr/>
          <p:nvPr/>
        </p:nvSpPr>
        <p:spPr>
          <a:xfrm>
            <a:off x="4814280" y="3709800"/>
            <a:ext cx="4204080" cy="511380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13736520" y="3699720"/>
            <a:ext cx="4282920" cy="5113800"/>
          </a:xfrm>
          <a:prstGeom prst="rect">
            <a:avLst/>
          </a:prstGeom>
          <a:solidFill>
            <a:srgbClr val="1a25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raphic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Rectangle 8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Rectangle 7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raphic 1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12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raphic 2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Rectangle 5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5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A person using a cell phone&#10;&#10;Description automatically generated"/>
          <p:cNvPicPr/>
          <p:nvPr/>
        </p:nvPicPr>
        <p:blipFill>
          <a:blip r:embed="rId2"/>
          <a:stretch/>
        </p:blipFill>
        <p:spPr>
          <a:xfrm>
            <a:off x="-1440" y="-17640"/>
            <a:ext cx="18287640" cy="1030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4" descr="A white line drawing of people climbing up stairs&#10;&#10;Description automatically generated"/>
          <p:cNvPicPr/>
          <p:nvPr/>
        </p:nvPicPr>
        <p:blipFill>
          <a:blip r:embed="rId3"/>
          <a:stretch/>
        </p:blipFill>
        <p:spPr>
          <a:xfrm>
            <a:off x="13248360" y="5431680"/>
            <a:ext cx="1733040" cy="173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8" descr="A white outline of a satellite&#10;&#10;Description automatically generated"/>
          <p:cNvPicPr/>
          <p:nvPr/>
        </p:nvPicPr>
        <p:blipFill>
          <a:blip r:embed="rId4"/>
          <a:stretch/>
        </p:blipFill>
        <p:spPr>
          <a:xfrm>
            <a:off x="2591280" y="2263320"/>
            <a:ext cx="1787040" cy="178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11" descr="A white outline of a shield with a green check mark in the center of hands&#10;&#10;Description automatically generated"/>
          <p:cNvPicPr/>
          <p:nvPr/>
        </p:nvPicPr>
        <p:blipFill>
          <a:blip r:embed="rId5"/>
          <a:stretch/>
        </p:blipFill>
        <p:spPr>
          <a:xfrm>
            <a:off x="2256480" y="5250600"/>
            <a:ext cx="1787040" cy="178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2" descr="A white circle with green lines and a black background&#10;&#10;AI-generated content may be incorrect."/>
          <p:cNvPicPr/>
          <p:nvPr/>
        </p:nvPicPr>
        <p:blipFill>
          <a:blip r:embed="rId6"/>
          <a:stretch/>
        </p:blipFill>
        <p:spPr>
          <a:xfrm>
            <a:off x="8571600" y="2263320"/>
            <a:ext cx="1787040" cy="17870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ctangle 6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Rectangle 3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4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4"/>
          <p:cNvSpPr/>
          <p:nvPr/>
        </p:nvSpPr>
        <p:spPr>
          <a:xfrm>
            <a:off x="0" y="-4320"/>
            <a:ext cx="18264600" cy="10285200"/>
          </a:xfrm>
          <a:prstGeom prst="rect">
            <a:avLst/>
          </a:prstGeom>
          <a:gradFill rotWithShape="0">
            <a:gsLst>
              <a:gs pos="24000">
                <a:srgbClr val="ffffff"/>
              </a:gs>
              <a:gs pos="77000">
                <a:srgbClr val="d3e4ff"/>
              </a:gs>
              <a:gs pos="100000">
                <a:srgbClr val="a3c3ff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17527320" y="8420040"/>
            <a:ext cx="737640" cy="186084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5" name="Rectangle 7"/>
          <p:cNvSpPr/>
          <p:nvPr/>
        </p:nvSpPr>
        <p:spPr>
          <a:xfrm>
            <a:off x="21600" y="8420040"/>
            <a:ext cx="9120600" cy="192024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16" name="Graphic 22" descr="">
            <a:hlinkClick r:id="rId2"/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63440" y="9115920"/>
            <a:ext cx="442440" cy="43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Graphic 24" descr="">
            <a:hlinkClick r:id="rId5"/>
          </p:cNvPr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682040" y="9132840"/>
            <a:ext cx="608400" cy="433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8" name="Straight Connector 26"/>
          <p:cNvCxnSpPr/>
          <p:nvPr/>
        </p:nvCxnSpPr>
        <p:spPr>
          <a:xfrm>
            <a:off x="7288560" y="9041040"/>
            <a:ext cx="1800" cy="625320"/>
          </a:xfrm>
          <a:prstGeom prst="straightConnector1">
            <a:avLst/>
          </a:prstGeom>
          <a:ln w="19050">
            <a:solidFill>
              <a:srgbClr val="7faeff"/>
            </a:solidFill>
            <a:round/>
          </a:ln>
        </p:spPr>
      </p:cxnSp>
      <p:pic>
        <p:nvPicPr>
          <p:cNvPr id="119" name="Graphic 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45560" y="591480"/>
            <a:ext cx="1153080" cy="11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0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8"/>
          <p:cNvSpPr/>
          <p:nvPr/>
        </p:nvSpPr>
        <p:spPr>
          <a:xfrm>
            <a:off x="21600" y="0"/>
            <a:ext cx="18264600" cy="10285200"/>
          </a:xfrm>
          <a:prstGeom prst="rect">
            <a:avLst/>
          </a:prstGeom>
          <a:gradFill rotWithShape="0">
            <a:gsLst>
              <a:gs pos="62000">
                <a:srgbClr val="ffffff"/>
              </a:gs>
              <a:gs pos="100000">
                <a:srgbClr val="f3ffbb"/>
              </a:gs>
            </a:gsLst>
            <a:lin ang="189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5269400" y="495360"/>
            <a:ext cx="25596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Rectangle 11"/>
          <p:cNvSpPr/>
          <p:nvPr/>
        </p:nvSpPr>
        <p:spPr>
          <a:xfrm rot="16200000">
            <a:off x="-90360" y="557280"/>
            <a:ext cx="91440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5" name="Rectangle 1"/>
          <p:cNvSpPr/>
          <p:nvPr/>
        </p:nvSpPr>
        <p:spPr>
          <a:xfrm rot="16200000">
            <a:off x="11357640" y="9789840"/>
            <a:ext cx="455400" cy="15804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4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2"/>
          <p:cNvSpPr/>
          <p:nvPr/>
        </p:nvSpPr>
        <p:spPr>
          <a:xfrm>
            <a:off x="9982080" y="9601200"/>
            <a:ext cx="8304120" cy="68400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7" name="Rectangle 5"/>
          <p:cNvSpPr/>
          <p:nvPr/>
        </p:nvSpPr>
        <p:spPr>
          <a:xfrm rot="16200000">
            <a:off x="9825840" y="9753480"/>
            <a:ext cx="689760" cy="37728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8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525880" y="9678240"/>
            <a:ext cx="538200" cy="53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7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4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7"/>
          <p:cNvSpPr/>
          <p:nvPr/>
        </p:nvSpPr>
        <p:spPr>
          <a:xfrm>
            <a:off x="7808760" y="-38160"/>
            <a:ext cx="10470960" cy="3303000"/>
          </a:xfrm>
          <a:prstGeom prst="rect">
            <a:avLst/>
          </a:prstGeom>
          <a:solidFill>
            <a:srgbClr val="d7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7815240" y="3266640"/>
            <a:ext cx="10470960" cy="7056720"/>
          </a:xfrm>
          <a:prstGeom prst="rect">
            <a:avLst/>
          </a:prstGeom>
          <a:solidFill>
            <a:srgbClr val="6b8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2" name="Rectangle 5"/>
          <p:cNvSpPr/>
          <p:nvPr/>
        </p:nvSpPr>
        <p:spPr>
          <a:xfrm rot="16200000">
            <a:off x="7792920" y="1412280"/>
            <a:ext cx="1488240" cy="37728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3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80600" y="876240"/>
            <a:ext cx="1446120" cy="1446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4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2"/>
          <p:cNvSpPr/>
          <p:nvPr/>
        </p:nvSpPr>
        <p:spPr>
          <a:xfrm>
            <a:off x="9982080" y="9601200"/>
            <a:ext cx="8304120" cy="68400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5" name="Rectangle 5"/>
          <p:cNvSpPr/>
          <p:nvPr/>
        </p:nvSpPr>
        <p:spPr>
          <a:xfrm rot="16200000">
            <a:off x="9825840" y="9753480"/>
            <a:ext cx="689760" cy="37728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6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525880" y="9678240"/>
            <a:ext cx="538200" cy="53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9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4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6" descr=""/>
          <p:cNvPicPr/>
          <p:nvPr/>
        </p:nvPicPr>
        <p:blipFill>
          <a:blip r:embed="rId2"/>
          <a:stretch/>
        </p:blipFill>
        <p:spPr>
          <a:xfrm>
            <a:off x="5760" y="0"/>
            <a:ext cx="18294480" cy="1027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ectangle 7"/>
          <p:cNvSpPr/>
          <p:nvPr/>
        </p:nvSpPr>
        <p:spPr>
          <a:xfrm>
            <a:off x="0" y="10800"/>
            <a:ext cx="18286200" cy="10274400"/>
          </a:xfrm>
          <a:prstGeom prst="rect">
            <a:avLst/>
          </a:prstGeom>
          <a:solidFill>
            <a:srgbClr val="1a258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2" name="Rectangle 11"/>
          <p:cNvSpPr/>
          <p:nvPr/>
        </p:nvSpPr>
        <p:spPr>
          <a:xfrm rot="5400000">
            <a:off x="9069480" y="3543120"/>
            <a:ext cx="150480" cy="121752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440" cy="102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Rectangle 7"/>
          <p:cNvSpPr/>
          <p:nvPr/>
        </p:nvSpPr>
        <p:spPr>
          <a:xfrm>
            <a:off x="0" y="0"/>
            <a:ext cx="18286200" cy="10274400"/>
          </a:xfrm>
          <a:prstGeom prst="rect">
            <a:avLst/>
          </a:prstGeom>
          <a:solidFill>
            <a:srgbClr val="1a258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5" name="Rectangle 11"/>
          <p:cNvSpPr/>
          <p:nvPr/>
        </p:nvSpPr>
        <p:spPr>
          <a:xfrm rot="5400000">
            <a:off x="9069480" y="3543120"/>
            <a:ext cx="150480" cy="121752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440" cy="102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7"/>
          <p:cNvSpPr/>
          <p:nvPr/>
        </p:nvSpPr>
        <p:spPr>
          <a:xfrm>
            <a:off x="0" y="46800"/>
            <a:ext cx="18286200" cy="10274400"/>
          </a:xfrm>
          <a:prstGeom prst="rect">
            <a:avLst/>
          </a:prstGeom>
          <a:solidFill>
            <a:srgbClr val="1a258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8" name="Rectangle 11"/>
          <p:cNvSpPr/>
          <p:nvPr/>
        </p:nvSpPr>
        <p:spPr>
          <a:xfrm rot="5400000">
            <a:off x="9069480" y="3543120"/>
            <a:ext cx="150480" cy="121752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Rectangle 4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4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Rectangle 5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4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2"/>
          <p:cNvSpPr/>
          <p:nvPr/>
        </p:nvSpPr>
        <p:spPr>
          <a:xfrm>
            <a:off x="9982080" y="9601200"/>
            <a:ext cx="8304120" cy="68400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6" name="Rectangle 5"/>
          <p:cNvSpPr/>
          <p:nvPr/>
        </p:nvSpPr>
        <p:spPr>
          <a:xfrm rot="16200000">
            <a:off x="9825840" y="9753480"/>
            <a:ext cx="689760" cy="37728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57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525880" y="9678240"/>
            <a:ext cx="538200" cy="53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Rectangle 9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4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4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4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000" cy="62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Rectangle 4"/>
          <p:cNvSpPr/>
          <p:nvPr/>
        </p:nvSpPr>
        <p:spPr>
          <a:xfrm rot="16200000">
            <a:off x="-176760" y="573840"/>
            <a:ext cx="1147320" cy="79056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docs.ogc.org/DRAFTS/20-002r1.html" TargetMode="External"/><Relationship Id="rId2" Type="http://schemas.openxmlformats.org/officeDocument/2006/relationships/hyperlink" Target="http://www.opengis.net/spec/ogcapi-records-3/1.0/records" TargetMode="External"/><Relationship Id="rId3" Type="http://schemas.openxmlformats.org/officeDocument/2006/relationships/hyperlink" Target="http://www.opengis.net/spec/ogcapi-records-3/1.0/harvest" TargetMode="External"/><Relationship Id="rId4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/>
          </p:nvPr>
        </p:nvSpPr>
        <p:spPr>
          <a:xfrm>
            <a:off x="781920" y="4229280"/>
            <a:ext cx="15237360" cy="220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7339"/>
              </a:lnSpc>
              <a:spcBef>
                <a:spcPts val="1500"/>
              </a:spcBef>
              <a:buNone/>
              <a:tabLst>
                <a:tab algn="l" pos="0"/>
              </a:tabLst>
            </a:pPr>
            <a:r>
              <a:rPr b="0" lang="en-US" sz="75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Introduction to the</a:t>
            </a:r>
            <a:br>
              <a:rPr sz="7500"/>
            </a:br>
            <a:r>
              <a:rPr b="0" lang="en-US" sz="75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OGC API –  Records Standard</a:t>
            </a:r>
            <a:endParaRPr b="0" lang="en-CA" sz="7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781920" y="3055320"/>
            <a:ext cx="4532040" cy="95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7339"/>
              </a:lnSpc>
              <a:spcBef>
                <a:spcPts val="2659"/>
              </a:spcBef>
              <a:buNone/>
              <a:tabLst>
                <a:tab algn="l" pos="0"/>
              </a:tabLst>
            </a:pPr>
            <a:r>
              <a:rPr b="1" lang="en-US" sz="133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OGC</a:t>
            </a:r>
            <a:endParaRPr b="0" lang="en-CA" sz="1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title"/>
          </p:nvPr>
        </p:nvSpPr>
        <p:spPr>
          <a:xfrm>
            <a:off x="1079280" y="7920000"/>
            <a:ext cx="10800000" cy="183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ts val="3699"/>
              </a:lnSpc>
              <a:buNone/>
              <a:tabLst>
                <a:tab algn="l" pos="0"/>
              </a:tabLst>
            </a:pPr>
            <a:r>
              <a:rPr b="0" lang="en-GB" sz="2500" strike="noStrike" u="none">
                <a:solidFill>
                  <a:schemeClr val="lt1"/>
                </a:solidFill>
                <a:uFillTx/>
                <a:latin typeface="Aptos"/>
              </a:rPr>
              <a:t>Panagiotis (Peter) A. Vretanos (CubeWerx)</a:t>
            </a:r>
            <a:br>
              <a:rPr sz="2500"/>
            </a:br>
            <a:r>
              <a:rPr b="0" lang="en-GB" sz="2500" strike="noStrike" u="none">
                <a:solidFill>
                  <a:schemeClr val="lt1"/>
                </a:solidFill>
                <a:uFillTx/>
                <a:latin typeface="Aptos"/>
              </a:rPr>
              <a:t>Tom Kralidis (Meteorological Service of Canada)</a:t>
            </a:r>
            <a:br>
              <a:rPr sz="2500"/>
            </a:br>
            <a:r>
              <a:rPr b="0" lang="en-GB" sz="2500" strike="noStrike" u="none">
                <a:solidFill>
                  <a:schemeClr val="lt1"/>
                </a:solidFill>
                <a:uFillTx/>
                <a:latin typeface="Aptos"/>
              </a:rPr>
              <a:t>Angelos Tzotsos (Open Source Geospatial Foundation)</a:t>
            </a:r>
            <a:br>
              <a:rPr sz="2500"/>
            </a:br>
            <a:r>
              <a:rPr b="0" lang="en-GB" sz="2500" strike="noStrike" u="none">
                <a:solidFill>
                  <a:schemeClr val="lt1"/>
                </a:solidFill>
                <a:uFillTx/>
                <a:latin typeface="Aptos"/>
              </a:rPr>
              <a:t>Charles Heazel (Heazel Technologies)</a:t>
            </a:r>
            <a:br>
              <a:rPr sz="2500"/>
            </a:br>
            <a:r>
              <a:rPr b="0" lang="en-GB" sz="2500" strike="noStrike" u="none">
                <a:solidFill>
                  <a:schemeClr val="lt1"/>
                </a:solidFill>
                <a:uFillTx/>
                <a:latin typeface="Aptos"/>
              </a:rPr>
              <a:t>09-OCT-2025</a:t>
            </a:r>
            <a:endParaRPr b="0" lang="en-CA" sz="2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/>
          </p:nvPr>
        </p:nvSpPr>
        <p:spPr>
          <a:xfrm>
            <a:off x="580680" y="2322360"/>
            <a:ext cx="17598600" cy="54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Introduction to OGC API – Records – Part 2: Facets</a:t>
            </a:r>
            <a:endParaRPr b="0" lang="en-CA" sz="3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Introduction to OGC API – Records – Part 3: Create, Replace, Update, Delete, Harvest</a:t>
            </a:r>
            <a:endParaRPr b="0" lang="en-CA" sz="3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Code sprint goals</a:t>
            </a:r>
            <a:endParaRPr b="0" lang="en-CA" sz="3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850788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5500" strike="noStrike" u="none">
                <a:solidFill>
                  <a:srgbClr val="263bd3"/>
                </a:solidFill>
                <a:uFillTx/>
                <a:latin typeface="Aptos"/>
              </a:rPr>
              <a:t>Agenda</a:t>
            </a:r>
            <a:endParaRPr b="0" lang="en-CA" sz="5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401000" y="4685760"/>
            <a:ext cx="948528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OGC API – Records – Part 2: Facets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965360" cy="83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 facet refers to a high-level piece of information that is computed over a set of records in a given collection. 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facet differs from a search; it is used as a means to provide a better understanding of the composition of search results, and aids the users to refine and narrow their search.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useful function of facets is to allow users to "drill-down" on the values they report, thus offering an easy way to refine a search request and narrow down results. 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This is done by advertising to the client which property was used to compute the facet; by combining the property and desired value, a new search filter can be produced by the client.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Three types of facets are described in the standard: Term facet, Histogram facet, Filter facet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Overview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965360" cy="83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Term Facets: 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Can be applied to any text property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 term facet is simply a list of unique values for a specific property across all records as well as a count of each enumerated value.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Example: property = “country of origin”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Canada” (36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Greece” (24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Germany” (12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England” (5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Overview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965360" cy="83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Histogram facet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Can be applied to any temporal or numeric property to indicate the distribution of unique values over ranges or intervals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Example: property = “date-created”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2020-01-01 to 2020-02-01” (18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2020-02-01 to 2020-03-01” (22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2020-03-01 to 2020-04-01” (43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Overview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965360" cy="83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Filter facet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Produces a count of matching records based on one or more predefined queries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Enables subsequent queries against a catalog of records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Example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Query 1: “Download Service” – returns the number of records which has at least 1 distribution of a download type (e.g. CSV, Excel, etc.)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Query 2: “Visualization Service” – returns the number of records which have at least 1 distribution of a map service (e.g. WMS, WMTS, etc.)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Download service” (300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Visualization service” (243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...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Overview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965360" cy="83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Simple Facets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Defines the Facets resource for discovering a list of resource properties onto which facets are applicable and may be computed on.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GET /collection/{catalogID}/facets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Response is a JSON document describing each facet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Description includes its type (term, histogram or filter), the property the facet applies to, sort criteria, bucket type, etc…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Servers may extent the queryables response to indicate whether facets can be applied to a given queryables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Facet overviews can be included in query responses from the /collections/{collectionID}/items endpoint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Requirements classes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965360" cy="83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Advanced Facets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The simple facets requirements class allows clients to discover the set of predefined facets that an API offers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This conformance class defines the “facets” query parameter and allows a client to request that the specified facets be computed on-the-fly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Example: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GET /collections/wis2-discovery-metadata/items?facets=keywords:20:value_asc,organization:10,theme::count_desc, ...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Requirements classes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3294000" y="4685760"/>
            <a:ext cx="1169928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OGC API – Records – Part 2: </a:t>
            </a:r>
            <a:br>
              <a:rPr sz="4200"/>
            </a:b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Create, Replace, Update, Delete, Harvest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965360" cy="83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The transaction API is based on 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  <a:hlinkClick r:id="rId1"/>
              </a:rPr>
              <a:t>OGC API – Feature – Part 4: Create, Replace, Update and Delete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”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OAFeat Part 4 defines the following relevant requirements classes: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Create/Replace/Delete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Update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Optimistic Locking using Timesptamps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Optimistic Locking using Etags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OAFeat Part 4 also defines the use of the OPTIONS method 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OARec Part 3 inherits these requirements classes and adds the following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Records (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  <a:hlinkClick r:id="rId2"/>
              </a:rPr>
              <a:t>http://www.opengis.net/spec/ogcapi-records-3/1.0/records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Binds the resources defined in records to OAFeat Part 4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Harvest (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  <a:hlinkClick r:id="rId3"/>
              </a:rPr>
              <a:t>http://www.opengis.net/spec/ogcapi-records-3/1.0/harvest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Define the harvesting API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Overview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Transaction API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89" name="Table 9"/>
          <p:cNvGraphicFramePr/>
          <p:nvPr/>
        </p:nvGraphicFramePr>
        <p:xfrm>
          <a:off x="912600" y="1651320"/>
          <a:ext cx="16449480" cy="2730960"/>
        </p:xfrm>
        <a:graphic>
          <a:graphicData uri="http://schemas.openxmlformats.org/drawingml/2006/table">
            <a:tbl>
              <a:tblPr/>
              <a:tblGrid>
                <a:gridCol w="7352280"/>
                <a:gridCol w="1960920"/>
                <a:gridCol w="2367360"/>
                <a:gridCol w="2437200"/>
                <a:gridCol w="2332080"/>
              </a:tblGrid>
              <a:tr h="543240"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32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Resource endpoint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32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HTTP method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CA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CA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CA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lIns="123120" rIns="123120" anchor="ctr">
                      <a:noAutofit/>
                    </a:bodyPr>
                    <a:p>
                      <a:endParaRPr b="0" lang="en-CA" sz="2400" strike="noStrike" u="none">
                        <a:solidFill>
                          <a:srgbClr val="ffffff"/>
                        </a:solidFill>
                        <a:uFillTx/>
                        <a:latin typeface="Times New Roman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GB" sz="3200" strike="noStrike" u="none">
                          <a:solidFill>
                            <a:schemeClr val="lt1"/>
                          </a:solidFill>
                          <a:uFillTx/>
                          <a:latin typeface="Calibri"/>
                        </a:rPr>
                        <a:t>POST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32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PUT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32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PATCH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32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DELETE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49800">
                <a:tc>
                  <a:txBody>
                    <a:bodyPr lIns="123120" rIns="123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3200" strike="noStrike" u="none">
                          <a:solidFill>
                            <a:schemeClr val="lt1"/>
                          </a:solidFill>
                          <a:uFillTx/>
                          <a:latin typeface="Calibri"/>
                        </a:rPr>
                        <a:t>/collections/{catalogID}/items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GB" sz="3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</a:rPr>
                        <a:t>CREATE</a:t>
                      </a:r>
                      <a:endParaRPr b="0" lang="en-CA" sz="3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3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n/a</a:t>
                      </a:r>
                      <a:endParaRPr b="0" lang="en-CA" sz="3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3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n/a</a:t>
                      </a:r>
                      <a:endParaRPr b="0" lang="en-CA" sz="3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3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n/a</a:t>
                      </a:r>
                      <a:endParaRPr b="0" lang="en-CA" sz="3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49800">
                <a:tc>
                  <a:txBody>
                    <a:bodyPr lIns="123120" rIns="123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3200" strike="noStrike" u="none">
                          <a:solidFill>
                            <a:schemeClr val="lt1"/>
                          </a:solidFill>
                          <a:uFillTx/>
                          <a:latin typeface="Calibri"/>
                        </a:rPr>
                        <a:t>/collections/{catalogID}/items/{recordID}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GB" sz="3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</a:rPr>
                        <a:t>n/a</a:t>
                      </a:r>
                      <a:endParaRPr b="0" lang="en-CA" sz="3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3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REPLACE</a:t>
                      </a:r>
                      <a:br>
                        <a:rPr sz="3200"/>
                      </a:br>
                      <a:r>
                        <a:rPr b="0" lang="en-CA" sz="3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CREATE</a:t>
                      </a:r>
                      <a:endParaRPr b="0" lang="en-CA" sz="3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3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UPDATE</a:t>
                      </a:r>
                      <a:endParaRPr b="0" lang="en-CA" sz="3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32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DELETE</a:t>
                      </a:r>
                      <a:endParaRPr b="0" lang="en-CA" sz="3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0" name="PlaceHolder 4"/>
          <p:cNvSpPr/>
          <p:nvPr/>
        </p:nvSpPr>
        <p:spPr>
          <a:xfrm>
            <a:off x="853920" y="4632120"/>
            <a:ext cx="16965360" cy="52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POST used to create new records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Body is a representation of the record (e.g. GeoJSON)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PUT used to replace existing records (optionally create new records)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Body is a representation of the record (e.g. GeoJSON)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PATCH used to update parts of a record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Body contains of the description to be made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Standard defines a requirements class for JSON Merge Patch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DELETE used to remove existing records 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Harvest API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92" name="Table 10"/>
          <p:cNvGraphicFramePr/>
          <p:nvPr/>
        </p:nvGraphicFramePr>
        <p:xfrm>
          <a:off x="720000" y="1656000"/>
          <a:ext cx="16828560" cy="2306880"/>
        </p:xfrm>
        <a:graphic>
          <a:graphicData uri="http://schemas.openxmlformats.org/drawingml/2006/table">
            <a:tbl>
              <a:tblPr/>
              <a:tblGrid>
                <a:gridCol w="6827760"/>
                <a:gridCol w="2699640"/>
                <a:gridCol w="2421720"/>
                <a:gridCol w="2493360"/>
                <a:gridCol w="2386440"/>
              </a:tblGrid>
              <a:tr h="777960"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32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Resource endpoint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32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HTTP method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CA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CA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CA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31000">
                <a:tc>
                  <a:txBody>
                    <a:bodyPr lIns="123120" rIns="123120" anchor="ctr">
                      <a:noAutofit/>
                    </a:bodyPr>
                    <a:p>
                      <a:endParaRPr b="0" lang="en-CA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chemeClr val="lt1"/>
                          </a:solidFill>
                          <a:uFillTx/>
                          <a:latin typeface="Calibri"/>
                        </a:rPr>
                        <a:t>POST</a:t>
                      </a:r>
                      <a:endParaRPr b="0" lang="en-CA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18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PUT</a:t>
                      </a:r>
                      <a:endParaRPr b="0" lang="en-CA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18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DELETE</a:t>
                      </a:r>
                      <a:endParaRPr b="0" lang="en-CA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CA" sz="18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GET</a:t>
                      </a:r>
                      <a:endParaRPr b="0" lang="en-CA" sz="1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98960">
                <a:tc>
                  <a:txBody>
                    <a:bodyPr lIns="123120" rIns="123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3200" strike="noStrike" u="none">
                          <a:solidFill>
                            <a:schemeClr val="lt1"/>
                          </a:solidFill>
                          <a:uFillTx/>
                          <a:latin typeface="Calibri"/>
                        </a:rPr>
                        <a:t>/collections/{catalogID}/harvest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GB" sz="24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</a:rPr>
                        <a:t>CREATE</a:t>
                      </a:r>
                      <a:endParaRPr b="0" lang="en-CA" sz="2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n/a</a:t>
                      </a:r>
                      <a:endParaRPr b="0" lang="en-CA" sz="2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n/a</a:t>
                      </a:r>
                      <a:endParaRPr b="0" lang="en-CA" sz="2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QUERY</a:t>
                      </a:r>
                      <a:endParaRPr b="0" lang="en-CA" sz="2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98960">
                <a:tc>
                  <a:txBody>
                    <a:bodyPr lIns="123120" rIns="123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3200" strike="noStrike" u="none">
                          <a:solidFill>
                            <a:schemeClr val="lt1"/>
                          </a:solidFill>
                          <a:uFillTx/>
                          <a:latin typeface="Calibri"/>
                        </a:rPr>
                        <a:t>/collections/{catalogID}/harvest/{hID}</a:t>
                      </a:r>
                      <a:endParaRPr b="0" lang="en-CA" sz="3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GB" sz="24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</a:rPr>
                        <a:t>n/a</a:t>
                      </a:r>
                      <a:endParaRPr b="0" lang="en-CA" sz="2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UPDATE</a:t>
                      </a:r>
                      <a:endParaRPr b="0" lang="en-CA" sz="2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DELETE</a:t>
                      </a:r>
                      <a:endParaRPr b="0" lang="en-CA" sz="2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3120" rIns="1231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CA" sz="24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QUERY</a:t>
                      </a:r>
                      <a:endParaRPr b="0" lang="en-CA" sz="2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3120" marR="123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3" name="PlaceHolder 5"/>
          <p:cNvSpPr/>
          <p:nvPr/>
        </p:nvSpPr>
        <p:spPr>
          <a:xfrm>
            <a:off x="623880" y="4154040"/>
            <a:ext cx="17267400" cy="58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POST used to execute a harvest operation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Body contains a list of resources to harvest &amp; harvest parameters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Resources are inspected by the server and one or more records are created in the catalog to make those resources discoverable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PUT used to update the harvest request; add more sources, change params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Body contains a revised harvest request; may trigger a re-harvest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DELETE is used to execute an unharvest operation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All records created by the harvest op and the harvest resource are deleted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GET is used to query harvest resources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Can query a list of harvest resource or details of a particular harvest resource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965360" cy="83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Exercise Part 2: Facets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Simple facets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Advanced facets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Test the transaction API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Create, replace, update &amp; delete GeoJSON encoded records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Perhaps test transactions using other metadata schemas 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e.g. POSTing ISO19115-4 metadata to the items endpoint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Test the Harvest API proposal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Gather additional requirements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Ponder alternatives … (e.g. used the /jobs API to create harvest jobs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360" cy="9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Code sprint goal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/>
          </p:nvPr>
        </p:nvSpPr>
        <p:spPr>
          <a:xfrm>
            <a:off x="745560" y="9105840"/>
            <a:ext cx="303372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accent3">
                    <a:lumMod val="60000"/>
                    <a:lumOff val="40000"/>
                  </a:schemeClr>
                </a:solidFill>
                <a:uFillTx/>
                <a:latin typeface="Aptos SemiBold"/>
                <a:ea typeface="Noto Sans Medium"/>
              </a:rPr>
              <a:t>www.ogc.org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title"/>
          </p:nvPr>
        </p:nvSpPr>
        <p:spPr>
          <a:xfrm>
            <a:off x="671760" y="3490560"/>
            <a:ext cx="6108120" cy="330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9799"/>
              </a:lnSpc>
              <a:buNone/>
              <a:tabLst>
                <a:tab algn="l" pos="0"/>
              </a:tabLst>
            </a:pPr>
            <a:r>
              <a:rPr b="0" lang="en-US" sz="12300" strike="noStrike" u="none">
                <a:solidFill>
                  <a:schemeClr val="accent1">
                    <a:lumMod val="75000"/>
                  </a:schemeClr>
                </a:solidFill>
                <a:uFillTx/>
                <a:latin typeface="Aptos"/>
              </a:rPr>
              <a:t>THANK YOU</a:t>
            </a:r>
            <a:endParaRPr b="0" lang="en-CA" sz="1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8" name="Picture Placeholder 13" descr=""/>
          <p:cNvPicPr/>
          <p:nvPr/>
        </p:nvPicPr>
        <p:blipFill>
          <a:blip r:embed="rId1"/>
          <a:stretch/>
        </p:blipFill>
        <p:spPr>
          <a:xfrm>
            <a:off x="9144000" y="4680"/>
            <a:ext cx="8381880" cy="84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Box 2"/>
          <p:cNvSpPr/>
          <p:nvPr/>
        </p:nvSpPr>
        <p:spPr>
          <a:xfrm>
            <a:off x="284400" y="7504200"/>
            <a:ext cx="926424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500" strike="noStrike" u="none">
                <a:solidFill>
                  <a:schemeClr val="dk1"/>
                </a:solidFill>
                <a:uFillTx/>
                <a:latin typeface="Aptos"/>
              </a:rPr>
              <a:t>2300, Wilson Blvd. Suite 700-1026, Arlington, VA 22201, USA</a:t>
            </a:r>
            <a:endParaRPr b="0" lang="en-CA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4" ma:contentTypeDescription="Create a new document." ma:contentTypeScope="" ma:versionID="e4b5dc9f4aebc277fe3b426360c93a7d">
  <xsd:schema xmlns:xsd="http://www.w3.org/2001/XMLSchema" xmlns:xs="http://www.w3.org/2001/XMLSchema" xmlns:p="http://schemas.microsoft.com/office/2006/metadata/properties" xmlns:ns2="d6fbc86c-d850-4140-ac77-9d31bd829bdd" targetNamespace="http://schemas.microsoft.com/office/2006/metadata/properties" ma:root="true" ma:fieldsID="acabf0ea01dfb4799bb317306b1f4385" ns2:_="">
    <xsd:import namespace="d6fbc86c-d850-4140-ac77-9d31bd829b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d6fbc86c-d850-4140-ac77-9d31bd829bdd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04DF60-C5EB-45DF-A684-24F4C6701E18}">
  <ds:schemaRefs>
    <ds:schemaRef ds:uri="d6fbc86c-d850-4140-ac77-9d31bd829b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Application>LibreOffice/24.8.7.2$Linux_X86_64 LibreOffice_project/480$Build-2</Application>
  <AppVersion>15.0000</AppVersion>
  <Words>1248</Words>
  <Paragraphs>295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2025-03-08T17:25:36Z</dcterms:created>
  <dc:creator>Deepti Kala</dc:creator>
  <dc:description/>
  <dc:identifier>DAGYbemYEzg</dc:identifier>
  <dc:language>en-CA</dc:language>
  <cp:lastModifiedBy>Panagiotis Vretanos</cp:lastModifiedBy>
  <dcterms:modified xsi:type="dcterms:W3CDTF">2025-10-08T23:35:40Z</dcterms:modified>
  <cp:revision>88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  <property fmtid="{D5CDD505-2E9C-101B-9397-08002B2CF9AE}" pid="4" name="PresentationFormat">
    <vt:lpwstr>Custom</vt:lpwstr>
  </property>
  <property fmtid="{D5CDD505-2E9C-101B-9397-08002B2CF9AE}" pid="5" name="Slides">
    <vt:i4>23</vt:i4>
  </property>
</Properties>
</file>