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10.svg" ContentType="image/svg"/>
  <Override PartName="/ppt/media/image9.png" ContentType="image/png"/>
  <Override PartName="/ppt/media/image18.png" ContentType="image/png"/>
  <Override PartName="/ppt/media/image17.png" ContentType="image/png"/>
  <Override PartName="/ppt/media/image14.png" ContentType="image/png"/>
  <Override PartName="/ppt/media/image1.jpeg" ContentType="image/jpeg"/>
  <Override PartName="/ppt/media/image12.svg" ContentType="image/svg"/>
  <Override PartName="/ppt/media/image19.jpeg" ContentType="image/jpeg"/>
  <Override PartName="/ppt/media/image3.svg" ContentType="image/svg"/>
  <Override PartName="/ppt/media/image6.png" ContentType="image/png"/>
  <Override PartName="/ppt/media/image15.png" ContentType="image/png"/>
  <Override PartName="/ppt/media/image8.svg" ContentType="image/svg"/>
  <Override PartName="/ppt/media/image5.svg" ContentType="image/sv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tr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Bullets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hyperlink" Target="https://www.linkedin.com/company/open-geospatial-consortium/" TargetMode="External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hyperlink" Target="https://www.youtube.com/@opengeospatial" TargetMode="External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1.png"/><Relationship Id="rId9" Type="http://schemas.openxmlformats.org/officeDocument/2006/relationships/image" Target="../media/image12.svg"/><Relationship Id="rId10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5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5" descr=""/>
          <p:cNvPicPr/>
          <p:nvPr/>
        </p:nvPicPr>
        <p:blipFill>
          <a:blip r:embed="rId2"/>
          <a:stretch/>
        </p:blipFill>
        <p:spPr>
          <a:xfrm>
            <a:off x="-73080" y="0"/>
            <a:ext cx="18360720" cy="1028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Rectangle 10"/>
          <p:cNvSpPr/>
          <p:nvPr/>
        </p:nvSpPr>
        <p:spPr>
          <a:xfrm>
            <a:off x="762120" y="8344080"/>
            <a:ext cx="151920" cy="121896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781920" y="4229280"/>
            <a:ext cx="9524520" cy="220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7339"/>
              </a:lnSpc>
              <a:spcBef>
                <a:spcPts val="1500"/>
              </a:spcBef>
              <a:buNone/>
              <a:tabLst>
                <a:tab algn="l" pos="0"/>
              </a:tabLst>
            </a:pPr>
            <a:r>
              <a:rPr b="0" lang="en-GB" sz="7500" strike="noStrike" u="none">
                <a:solidFill>
                  <a:schemeClr val="lt1"/>
                </a:solidFill>
                <a:uFillTx/>
                <a:latin typeface="Aptos"/>
                <a:ea typeface="Noto Sans Medium"/>
              </a:rPr>
              <a:t>OPEN GEOSPATIAL CONSORTIUM</a:t>
            </a:r>
            <a:endParaRPr b="0" lang="en-US" sz="75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81920" y="3253680"/>
            <a:ext cx="4533480" cy="95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ts val="7339"/>
              </a:lnSpc>
              <a:spcBef>
                <a:spcPts val="2659"/>
              </a:spcBef>
              <a:buNone/>
              <a:tabLst>
                <a:tab algn="l" pos="0"/>
              </a:tabLst>
            </a:pPr>
            <a:r>
              <a:rPr b="1" lang="en-GB" sz="13300" strike="noStrike" u="none">
                <a:solidFill>
                  <a:schemeClr val="lt1"/>
                </a:solidFill>
                <a:uFillTx/>
                <a:latin typeface="Aptos"/>
                <a:ea typeface="Noto Sans Medium"/>
              </a:rPr>
              <a:t>OGC</a:t>
            </a:r>
            <a:endParaRPr b="0" lang="en-US" sz="133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title"/>
          </p:nvPr>
        </p:nvSpPr>
        <p:spPr>
          <a:xfrm>
            <a:off x="990720" y="8479800"/>
            <a:ext cx="5486040" cy="94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ts val="3699"/>
              </a:lnSpc>
              <a:buNone/>
            </a:pPr>
            <a:r>
              <a:rPr b="0" lang="en-US" sz="2500" strike="noStrike" u="none">
                <a:solidFill>
                  <a:schemeClr val="lt1"/>
                </a:solidFill>
                <a:uFillTx/>
                <a:latin typeface="Aptos"/>
              </a:rPr>
              <a:t>NAME OF PERSON</a:t>
            </a:r>
            <a:br>
              <a:rPr sz="2500"/>
            </a:br>
            <a:r>
              <a:rPr b="0" lang="en-US" sz="2500" strike="noStrike" u="none">
                <a:solidFill>
                  <a:schemeClr val="lt1"/>
                </a:solidFill>
                <a:uFillTx/>
                <a:latin typeface="Aptos"/>
              </a:rPr>
              <a:t>YYYY/MM/DD</a:t>
            </a:r>
            <a:endParaRPr b="0" lang="en-US" sz="25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5" name="Graphic 2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26200" y="547200"/>
            <a:ext cx="1154520" cy="11545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2440" cy="62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body"/>
          </p:nvPr>
        </p:nvSpPr>
        <p:spPr>
          <a:xfrm>
            <a:off x="838080" y="2322360"/>
            <a:ext cx="16597800" cy="685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</a:rPr>
              <a:t>Click to edit the outline text format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</a:rPr>
              <a:t>Second Outline Level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</a:rPr>
              <a:t>Third Outline Level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</a:rPr>
              <a:t>Fourth Outline Level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</a:rPr>
              <a:t>Fifth Outline Level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</a:rPr>
              <a:t>Sixth Outline Level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</a:rPr>
              <a:t>Seventh Outline Level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572960" cy="9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US" sz="4200" strike="noStrike" u="none">
                <a:solidFill>
                  <a:schemeClr val="dk1"/>
                </a:solidFill>
                <a:uFillTx/>
                <a:latin typeface="Calibri"/>
              </a:rPr>
              <a:t>Click to edit the title text format</a:t>
            </a:r>
            <a:endParaRPr b="0" lang="en-US" sz="4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" name="Rectangle 5"/>
          <p:cNvSpPr/>
          <p:nvPr/>
        </p:nvSpPr>
        <p:spPr>
          <a:xfrm rot="16200000">
            <a:off x="-178200" y="572400"/>
            <a:ext cx="1148760" cy="79200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/>
          <p:cNvSpPr/>
          <p:nvPr/>
        </p:nvSpPr>
        <p:spPr>
          <a:xfrm>
            <a:off x="0" y="-4320"/>
            <a:ext cx="18287640" cy="10286640"/>
          </a:xfrm>
          <a:prstGeom prst="rect">
            <a:avLst/>
          </a:prstGeom>
          <a:gradFill rotWithShape="0">
            <a:gsLst>
              <a:gs pos="8000">
                <a:srgbClr val="263bd3"/>
              </a:gs>
              <a:gs pos="80000">
                <a:srgbClr val="1a2584"/>
              </a:gs>
            </a:gsLst>
            <a:lin ang="135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05240" y="5981760"/>
            <a:ext cx="10866960" cy="330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ts val="8419"/>
              </a:lnSpc>
              <a:buNone/>
            </a:pPr>
            <a:r>
              <a:rPr b="0" lang="en-US" sz="9800" strike="noStrike" u="none">
                <a:solidFill>
                  <a:srgbClr val="ffffff"/>
                </a:solidFill>
                <a:uFillTx/>
                <a:latin typeface="Aptos"/>
              </a:rPr>
              <a:t>Main Subject Headline Click To Add Content</a:t>
            </a:r>
            <a:endParaRPr b="0" lang="en-US" sz="9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12" name="Picture 8" descr="A green globe with blue and yellow lines&#10;&#10;Description automatically generated"/>
          <p:cNvPicPr/>
          <p:nvPr/>
        </p:nvPicPr>
        <p:blipFill>
          <a:blip r:embed="rId2"/>
          <a:stretch/>
        </p:blipFill>
        <p:spPr>
          <a:xfrm>
            <a:off x="6713640" y="3225240"/>
            <a:ext cx="11601000" cy="706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Graphic 1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6743600" y="482760"/>
            <a:ext cx="1010520" cy="10105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1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/>
          <p:cNvSpPr/>
          <p:nvPr/>
        </p:nvSpPr>
        <p:spPr>
          <a:xfrm>
            <a:off x="0" y="-4320"/>
            <a:ext cx="18266040" cy="10286640"/>
          </a:xfrm>
          <a:prstGeom prst="rect">
            <a:avLst/>
          </a:prstGeom>
          <a:gradFill rotWithShape="0">
            <a:gsLst>
              <a:gs pos="24000">
                <a:srgbClr val="ffffff"/>
              </a:gs>
              <a:gs pos="77000">
                <a:srgbClr val="d3e4ff"/>
              </a:gs>
              <a:gs pos="100000">
                <a:srgbClr val="a3c3ff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5" name="Rectangle 2"/>
          <p:cNvSpPr/>
          <p:nvPr/>
        </p:nvSpPr>
        <p:spPr>
          <a:xfrm>
            <a:off x="17527320" y="8420040"/>
            <a:ext cx="739080" cy="186228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6" name="Rectangle 7"/>
          <p:cNvSpPr/>
          <p:nvPr/>
        </p:nvSpPr>
        <p:spPr>
          <a:xfrm>
            <a:off x="21600" y="8420040"/>
            <a:ext cx="9122040" cy="1921680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body"/>
          </p:nvPr>
        </p:nvSpPr>
        <p:spPr>
          <a:xfrm>
            <a:off x="745560" y="9105840"/>
            <a:ext cx="2592720" cy="54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lt1"/>
                </a:solidFill>
                <a:uFillTx/>
                <a:latin typeface="Aptos"/>
                <a:ea typeface="Noto Sans Medium"/>
              </a:rPr>
              <a:t>www.ogc.org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title"/>
          </p:nvPr>
        </p:nvSpPr>
        <p:spPr>
          <a:xfrm>
            <a:off x="658440" y="3486240"/>
            <a:ext cx="7633800" cy="24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ts val="9901"/>
              </a:lnSpc>
              <a:buNone/>
            </a:pPr>
            <a:r>
              <a:rPr b="0" lang="en-US" sz="12300" strike="noStrike" u="none">
                <a:solidFill>
                  <a:schemeClr val="accent1">
                    <a:lumMod val="75000"/>
                  </a:schemeClr>
                </a:solidFill>
                <a:uFillTx/>
                <a:latin typeface="Aptos Display"/>
              </a:rPr>
              <a:t>THANK</a:t>
            </a:r>
            <a:br>
              <a:rPr sz="12300"/>
            </a:br>
            <a:r>
              <a:rPr b="0" lang="en-US" sz="12300" strike="noStrike" u="none">
                <a:solidFill>
                  <a:schemeClr val="accent1">
                    <a:lumMod val="75000"/>
                  </a:schemeClr>
                </a:solidFill>
                <a:uFillTx/>
                <a:latin typeface="Aptos Display"/>
              </a:rPr>
              <a:t>YOU</a:t>
            </a:r>
            <a:endParaRPr b="0" lang="en-US" sz="123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19" name="Graphic 22" descr="">
            <a:hlinkClick r:id="rId2"/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463440" y="9115920"/>
            <a:ext cx="443880" cy="434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Graphic 24" descr="">
            <a:hlinkClick r:id="rId5"/>
          </p:cNvPr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682040" y="9132840"/>
            <a:ext cx="609840" cy="4345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1" name="Straight Connector 26"/>
          <p:cNvCxnSpPr/>
          <p:nvPr/>
        </p:nvCxnSpPr>
        <p:spPr>
          <a:xfrm>
            <a:off x="7288560" y="9041040"/>
            <a:ext cx="360" cy="623880"/>
          </a:xfrm>
          <a:prstGeom prst="straightConnector1">
            <a:avLst/>
          </a:prstGeom>
          <a:ln w="19050">
            <a:solidFill>
              <a:srgbClr val="7faeff"/>
            </a:solidFill>
            <a:round/>
          </a:ln>
        </p:spPr>
      </p:cxnSp>
      <p:pic>
        <p:nvPicPr>
          <p:cNvPr id="22" name="Graphic 1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745560" y="591480"/>
            <a:ext cx="1154520" cy="115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9144000" y="4680"/>
            <a:ext cx="8383320" cy="84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Click icon to add picture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0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2440" cy="62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body"/>
          </p:nvPr>
        </p:nvSpPr>
        <p:spPr>
          <a:xfrm>
            <a:off x="838080" y="2322360"/>
            <a:ext cx="16597800" cy="685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</a:rPr>
              <a:t>Click to edit the outline text format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</a:rPr>
              <a:t>Second Outline Level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</a:rPr>
              <a:t>Third Outline Level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</a:rPr>
              <a:t>Fourth Outline Level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</a:rPr>
              <a:t>Fifth Outline Level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</a:rPr>
              <a:t>Sixth Outline Level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</a:rPr>
              <a:t>Seventh Outline Level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572960" cy="9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US" sz="4200" strike="noStrike" u="none">
                <a:solidFill>
                  <a:schemeClr val="dk1"/>
                </a:solidFill>
                <a:uFillTx/>
                <a:latin typeface="Calibri"/>
              </a:rPr>
              <a:t>Click to edit the title text format</a:t>
            </a:r>
            <a:endParaRPr b="0" lang="en-US" sz="4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7" name="Rectangle 5"/>
          <p:cNvSpPr/>
          <p:nvPr/>
        </p:nvSpPr>
        <p:spPr>
          <a:xfrm rot="16200000">
            <a:off x="-178200" y="572400"/>
            <a:ext cx="1148760" cy="79200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990720" y="8695800"/>
            <a:ext cx="8369280" cy="94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ts val="3699"/>
              </a:lnSpc>
              <a:buNone/>
            </a:pPr>
            <a:r>
              <a:rPr b="0" lang="en-US" sz="2500" strike="noStrike" u="none">
                <a:solidFill>
                  <a:schemeClr val="lt1"/>
                </a:solidFill>
                <a:uFillTx/>
                <a:latin typeface="Aptos"/>
              </a:rPr>
              <a:t>Clemens Portele | interactive instruments</a:t>
            </a:r>
            <a:br>
              <a:rPr sz="2500"/>
            </a:br>
            <a:r>
              <a:rPr b="0" lang="en-US" sz="2500" strike="noStrike" u="none">
                <a:solidFill>
                  <a:schemeClr val="lt1"/>
                </a:solidFill>
                <a:uFillTx/>
                <a:latin typeface="Aptos"/>
              </a:rPr>
              <a:t>Panagiotis (Peter) A. Vretanos | CubeWerx Inc.</a:t>
            </a:r>
            <a:br>
              <a:rPr sz="2500"/>
            </a:br>
            <a:r>
              <a:rPr b="0" lang="en-US" sz="2500" strike="noStrike" u="none">
                <a:solidFill>
                  <a:schemeClr val="lt1"/>
                </a:solidFill>
                <a:uFillTx/>
                <a:latin typeface="Aptos"/>
              </a:rPr>
              <a:t>09-OCT-2025</a:t>
            </a:r>
            <a:endParaRPr b="0" lang="en-US" sz="25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85800" y="1409760"/>
            <a:ext cx="13944240" cy="297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7339"/>
              </a:lnSpc>
              <a:spcBef>
                <a:spcPts val="1500"/>
              </a:spcBef>
              <a:buNone/>
              <a:tabLst>
                <a:tab algn="l" pos="0"/>
              </a:tabLst>
            </a:pPr>
            <a:r>
              <a:rPr b="0" lang="en-US" sz="7500" strike="noStrike" u="none">
                <a:solidFill>
                  <a:schemeClr val="lt1"/>
                </a:solidFill>
                <a:uFillTx/>
                <a:latin typeface="Aptos"/>
                <a:ea typeface="Noto Sans Medium"/>
              </a:rPr>
              <a:t>OGC Features and Geometries JSON (JSON-FG)</a:t>
            </a:r>
            <a:endParaRPr b="0" lang="en-US" sz="75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/>
          </p:nvPr>
        </p:nvSpPr>
        <p:spPr>
          <a:xfrm>
            <a:off x="838080" y="2322360"/>
            <a:ext cx="16597800" cy="685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Intentional limitations exist in GeoJSON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Restricted to WGS 84 (longitude/latitude) as Coordinate Reference System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Points, line strings and polygons – no support for 3D, non-linear interpolation or measures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Supports spatial, but not time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No feature type concept, no information about the schema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</a:pP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JSON-FG specifies GeoJSON extensions to address these constraints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Avoid edge cases, focus on capabilities that are useful for many spatial experts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Specify as a superset of GeoJSON: Valid JSON-FG is also valid GeoJSON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Extensions: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002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Additional JSON members in feature collections, features and geometries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002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Additional geometry types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JSON Schema is used to formally specify the JSON-FG syntax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572960" cy="9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About JSON-FG</a:t>
            </a:r>
            <a:endParaRPr b="0" lang="en-US" sz="4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/>
          </p:nvPr>
        </p:nvSpPr>
        <p:spPr>
          <a:xfrm>
            <a:off x="838080" y="2322360"/>
            <a:ext cx="16597800" cy="685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Mandatory extensions (Core):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Coordinate Reference Systems other than WGS 84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The ability to encode temporal characteristics of a feature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A statement to which JSON-FG conformance classes a JSON-FG feature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collection, feature, or geometry conforms to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</a:pP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Optional extensions specified in additional requirements classes: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Support for polyhedra as geometry types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Support for prisms (extruded geometries) as geometry types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Support for circular arcs, compound curves, and curve polygons as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geometry types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Support for measure values in coordinates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The ability to declare the type and the schema of a feature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</a:pP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572960" cy="9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Requirements class overview</a:t>
            </a:r>
            <a:endParaRPr b="0" lang="en-US" sz="4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/>
          </p:nvPr>
        </p:nvSpPr>
        <p:spPr>
          <a:xfrm>
            <a:off x="838080" y="1314360"/>
            <a:ext cx="8305560" cy="685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“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conformsTo”: 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declaration of the supported conformance classes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“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place”: 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a primary feature geometry that is not a Simple Feature geometry or not in WGS 84 longitude/latitude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“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coordRefSys”: 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Coordinate reference system of the geometry in “place”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“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geometry” (from GeoJSON):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a primary feature geometry that is a Simple Feature geometry and in WGS 84 longitude/latitude (optional, if “place” is provided)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“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geometryDimension”: 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hint about the geometry types used (0 = points) </a:t>
            </a:r>
            <a:endParaRPr b="0" lang="en-US" sz="2600" strike="noStrike" u="none">
              <a:solidFill>
                <a:schemeClr val="dk1"/>
              </a:solidFill>
              <a:uFillTx/>
              <a:latin typeface="Apto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“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featureType”, “featureSchema”: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Information about the type of a feature and the logical schema of the features of that type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100000"/>
              </a:lnSpc>
              <a:spcBef>
                <a:spcPts val="519"/>
              </a:spcBef>
              <a:buNone/>
            </a:pPr>
            <a:endParaRPr b="0" lang="en-US" sz="2600" strike="noStrike" u="non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572960" cy="9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An example - three airports in the UK</a:t>
            </a:r>
            <a:endParaRPr b="0" lang="en-US" sz="4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36" name="Grafik 4" descr=""/>
          <p:cNvPicPr/>
          <p:nvPr/>
        </p:nvPicPr>
        <p:blipFill>
          <a:blip r:embed="rId1"/>
          <a:stretch/>
        </p:blipFill>
        <p:spPr>
          <a:xfrm>
            <a:off x="9829800" y="1937160"/>
            <a:ext cx="7772040" cy="762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Pfeil nach rechts 5"/>
          <p:cNvSpPr/>
          <p:nvPr/>
        </p:nvSpPr>
        <p:spPr>
          <a:xfrm>
            <a:off x="9601200" y="2400480"/>
            <a:ext cx="45684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d5e6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8" name="Pfeil nach rechts 6"/>
          <p:cNvSpPr/>
          <p:nvPr/>
        </p:nvSpPr>
        <p:spPr>
          <a:xfrm>
            <a:off x="9601200" y="3314880"/>
            <a:ext cx="45684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d5e6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9" name="Pfeil nach rechts 7"/>
          <p:cNvSpPr/>
          <p:nvPr/>
        </p:nvSpPr>
        <p:spPr>
          <a:xfrm>
            <a:off x="9601200" y="3538440"/>
            <a:ext cx="45684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d5e6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0" name="Pfeil nach rechts 8"/>
          <p:cNvSpPr/>
          <p:nvPr/>
        </p:nvSpPr>
        <p:spPr>
          <a:xfrm>
            <a:off x="9601200" y="3762000"/>
            <a:ext cx="45684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d5e6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1" name="Pfeil nach rechts 9"/>
          <p:cNvSpPr/>
          <p:nvPr/>
        </p:nvSpPr>
        <p:spPr>
          <a:xfrm>
            <a:off x="9601200" y="3985920"/>
            <a:ext cx="45684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d5e6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2" name="Pfeil nach rechts 10"/>
          <p:cNvSpPr/>
          <p:nvPr/>
        </p:nvSpPr>
        <p:spPr>
          <a:xfrm>
            <a:off x="9574200" y="5524560"/>
            <a:ext cx="45684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d5e6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3" name="Pfeil nach rechts 3"/>
          <p:cNvSpPr/>
          <p:nvPr/>
        </p:nvSpPr>
        <p:spPr>
          <a:xfrm>
            <a:off x="9574200" y="7081200"/>
            <a:ext cx="45684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d5e6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4" name="Pfeil nach rechts 11"/>
          <p:cNvSpPr/>
          <p:nvPr/>
        </p:nvSpPr>
        <p:spPr>
          <a:xfrm>
            <a:off x="9601200" y="8637480"/>
            <a:ext cx="45684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d5e6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/>
          </p:nvPr>
        </p:nvSpPr>
        <p:spPr>
          <a:xfrm>
            <a:off x="838080" y="2322360"/>
            <a:ext cx="8305560" cy="685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“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time”: 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a primary temporal information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572960" cy="9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Another example – a road accident in Germany</a:t>
            </a:r>
            <a:endParaRPr b="0" lang="en-US" sz="4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47" name="Grafik 4" descr=""/>
          <p:cNvPicPr/>
          <p:nvPr/>
        </p:nvPicPr>
        <p:blipFill>
          <a:blip r:embed="rId1"/>
          <a:stretch/>
        </p:blipFill>
        <p:spPr>
          <a:xfrm>
            <a:off x="10095840" y="1937160"/>
            <a:ext cx="7240320" cy="762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feil nach rechts 10"/>
          <p:cNvSpPr/>
          <p:nvPr/>
        </p:nvSpPr>
        <p:spPr>
          <a:xfrm>
            <a:off x="9574200" y="5600880"/>
            <a:ext cx="45684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d5e6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/>
          </p:nvPr>
        </p:nvSpPr>
        <p:spPr>
          <a:xfrm>
            <a:off x="838080" y="2322360"/>
            <a:ext cx="16597800" cy="685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Improvements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Use “application/geo+json” as the media type, do not register a JSON-FG media type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002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Supports GeoJSON clients that access JSON-FG documents over HTTP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002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Specification of three GeoJSON profiles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Geometries are also first class JSON-FG objects, not just features and feature collections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002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Allows, for example, reuse of the geometries in future versions of CQL2-JSON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Updated JSON Schemas to test more requirements through JSON Schema validation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New capabilities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Added support for circular arcs – plus curves and surfaces with arcs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Added support for measure (M) coordinates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Removed from scope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The permission to use non-Euclidean metrics, in particular ellipsoidal metrics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002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This would break GeoJSON, which requires Euclidean metrics for GeoJSON geometry types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002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GeodesicString has been added as an example of a geometry extension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Support for CURIEs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002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CURIEs add overhead to parsers, but are not an advantage to writers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572960" cy="9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Technical changes since the Public Comment Period </a:t>
            </a:r>
            <a:endParaRPr b="0" lang="en-US" sz="4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/>
          </p:nvPr>
        </p:nvSpPr>
        <p:spPr>
          <a:xfrm>
            <a:off x="838080" y="2322360"/>
            <a:ext cx="8305560" cy="685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New geometry types CircularString, CompoundCurve,  CurvePolygon, MultiCurve, MultiSurface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JSON representation based on WKT of the geometry types with the same name from SQL/MM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Following the same conventions as GeoJSON – the use of “coordinate” arrays, a “type” member and a “geometries” array for collections of geometries </a:t>
            </a:r>
            <a:endParaRPr b="0" lang="en-US" sz="2200" strike="noStrike" u="none">
              <a:solidFill>
                <a:schemeClr val="dk1"/>
              </a:solidFill>
              <a:uFillTx/>
              <a:latin typeface="Apto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Widely implemented in spatial databases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Multiple requests for support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572960" cy="9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Circular arcs</a:t>
            </a:r>
            <a:endParaRPr b="0" lang="en-US" sz="4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53" name="Grafik 4" descr=""/>
          <p:cNvPicPr/>
          <p:nvPr/>
        </p:nvPicPr>
        <p:blipFill>
          <a:blip r:embed="rId1"/>
          <a:stretch/>
        </p:blipFill>
        <p:spPr>
          <a:xfrm>
            <a:off x="11074680" y="1937160"/>
            <a:ext cx="5282640" cy="762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Pfeil nach rechts 10"/>
          <p:cNvSpPr/>
          <p:nvPr/>
        </p:nvSpPr>
        <p:spPr>
          <a:xfrm>
            <a:off x="10744200" y="3086280"/>
            <a:ext cx="45684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d5e6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5" name="Pfeil nach rechts 3"/>
          <p:cNvSpPr/>
          <p:nvPr/>
        </p:nvSpPr>
        <p:spPr>
          <a:xfrm>
            <a:off x="10744200" y="4991040"/>
            <a:ext cx="45684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d5e6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6" name="Pfeil nach rechts 5"/>
          <p:cNvSpPr/>
          <p:nvPr/>
        </p:nvSpPr>
        <p:spPr>
          <a:xfrm>
            <a:off x="10744200" y="7810560"/>
            <a:ext cx="45684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d5e6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7" name="Pfeil nach rechts 6"/>
          <p:cNvSpPr/>
          <p:nvPr/>
        </p:nvSpPr>
        <p:spPr>
          <a:xfrm>
            <a:off x="10744200" y="2481840"/>
            <a:ext cx="45684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d5e6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/>
          </p:nvPr>
        </p:nvSpPr>
        <p:spPr>
          <a:xfrm>
            <a:off x="838080" y="2322360"/>
            <a:ext cx="8305560" cy="685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GeoJSON supports more than three coordinates in a position, but discourages non-spatial coordinates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Multiple requests for support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M coordinates are supported in WKT and widely supported in spatial databases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“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measures”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Used to declare the use of M coordinates in geometries</a:t>
            </a:r>
            <a:endParaRPr b="0" lang="en-US" sz="22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The meaning of the X/Y or X/Y/Z coordinates is declared through the “coordRefSys” member</a:t>
            </a:r>
            <a:endParaRPr b="0" lang="en-US" sz="22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“</a:t>
            </a:r>
            <a:r>
              <a:rPr b="0" lang="en-US" sz="2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unit” and “description” provide metadata (optional)</a:t>
            </a:r>
            <a:endParaRPr b="0" lang="en-US" sz="2200" strike="noStrike" u="none">
              <a:solidFill>
                <a:schemeClr val="dk1"/>
              </a:solidFill>
              <a:uFillTx/>
              <a:latin typeface="Apto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Only in “place”, not in “geometry”</a:t>
            </a:r>
            <a:endParaRPr b="0" lang="en-US" sz="2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572960" cy="9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Measure (M) coordinates</a:t>
            </a:r>
            <a:endParaRPr b="0" lang="en-US" sz="4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60" name="Grafik 4" descr=""/>
          <p:cNvPicPr/>
          <p:nvPr/>
        </p:nvPicPr>
        <p:blipFill>
          <a:blip r:embed="rId1"/>
          <a:stretch/>
        </p:blipFill>
        <p:spPr>
          <a:xfrm>
            <a:off x="10389240" y="1937160"/>
            <a:ext cx="6652800" cy="762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Pfeil nach rechts 10"/>
          <p:cNvSpPr/>
          <p:nvPr/>
        </p:nvSpPr>
        <p:spPr>
          <a:xfrm>
            <a:off x="10058400" y="3772080"/>
            <a:ext cx="45684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d5e6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2" name="Pfeil nach rechts 3"/>
          <p:cNvSpPr/>
          <p:nvPr/>
        </p:nvSpPr>
        <p:spPr>
          <a:xfrm>
            <a:off x="10058400" y="3077280"/>
            <a:ext cx="45684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d5e6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3" name="Pfeil nach rechts 5"/>
          <p:cNvSpPr/>
          <p:nvPr/>
        </p:nvSpPr>
        <p:spPr>
          <a:xfrm rot="5400000">
            <a:off x="13373280" y="5634720"/>
            <a:ext cx="45684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d5e6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/>
          </p:nvPr>
        </p:nvSpPr>
        <p:spPr>
          <a:xfrm>
            <a:off x="838080" y="2322360"/>
            <a:ext cx="16597800" cy="685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A GeoJSON document should use the “application/geo+json” media type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A profile specifies “additional semantics (constraints, conventions, extensions) that are associated with a resource representation, in addition to those defined by the media type” [RFC 6906]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JSON-FG specifies three profiles for use in Web APIs such as those implementing OGC API Features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RFC 7946 ("rfc7946"): GeoJSON as specified in RFC 7946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JSON-FG ("jsonfg"): JSON-FG as specified in this Standard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JSON-FG with improved support for GeoJSON readers ("jsonfg-plus"): JSON-FG with a geometry in the "geometry" member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Profiles are requested via a ”profile” query parameter (one or more profiles)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Example: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ourier New"/>
                <a:ea typeface="Noto Sans Medium"/>
              </a:rPr>
              <a:t>...&amp;profile=jsonfg-plus,rel-as-uri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</a:pP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</a:pP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572960" cy="9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GeoJSON profiles</a:t>
            </a:r>
            <a:endParaRPr b="0" lang="en-US" sz="4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572960" cy="9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HTTP-Response with Profile “rfc7946”</a:t>
            </a:r>
            <a:endParaRPr b="0" lang="en-US" sz="4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67" name="Grafik 4" descr=""/>
          <p:cNvPicPr/>
          <p:nvPr/>
        </p:nvPicPr>
        <p:blipFill>
          <a:blip r:embed="rId1"/>
          <a:stretch/>
        </p:blipFill>
        <p:spPr>
          <a:xfrm>
            <a:off x="2362320" y="1978560"/>
            <a:ext cx="13563360" cy="632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Pfeil nach rechts 5"/>
          <p:cNvSpPr/>
          <p:nvPr/>
        </p:nvSpPr>
        <p:spPr>
          <a:xfrm>
            <a:off x="1752480" y="4533840"/>
            <a:ext cx="45684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d5e6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9" name="Pfeil nach rechts 7"/>
          <p:cNvSpPr/>
          <p:nvPr/>
        </p:nvSpPr>
        <p:spPr>
          <a:xfrm>
            <a:off x="1752480" y="5829480"/>
            <a:ext cx="45684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d5e6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572960" cy="9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HTTP-Response with Profile ”jsonfg-plus”</a:t>
            </a:r>
            <a:endParaRPr b="0" lang="en-US" sz="4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71" name="Grafik 4" descr=""/>
          <p:cNvPicPr/>
          <p:nvPr/>
        </p:nvPicPr>
        <p:blipFill>
          <a:blip r:embed="rId1"/>
          <a:stretch/>
        </p:blipFill>
        <p:spPr>
          <a:xfrm>
            <a:off x="2461320" y="1943280"/>
            <a:ext cx="12298320" cy="739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Pfeil nach rechts 1"/>
          <p:cNvSpPr/>
          <p:nvPr/>
        </p:nvSpPr>
        <p:spPr>
          <a:xfrm>
            <a:off x="1828800" y="4152960"/>
            <a:ext cx="45684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d5e6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3" name="Pfeil nach rechts 3"/>
          <p:cNvSpPr/>
          <p:nvPr/>
        </p:nvSpPr>
        <p:spPr>
          <a:xfrm>
            <a:off x="1828800" y="5295960"/>
            <a:ext cx="45684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d5e6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/>
          </p:nvPr>
        </p:nvSpPr>
        <p:spPr>
          <a:xfrm>
            <a:off x="838080" y="2322360"/>
            <a:ext cx="16597800" cy="685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Multiple implementations of the previous draft (v0.2)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Servers/APIs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Map clients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Converters (including GDAL)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Validators (including the OGC Checker by Geonovum)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Tested and used in multiple code sprints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Changes since v0.2 that may affect current implementations (ignoring new capabilities):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Use of “application/geo+json” as the media type, use of GeoJSON profiles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Removal of CURIEs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New version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Wingdings"/>
                <a:ea typeface="Noto Sans Medium"/>
              </a:rPr>
              <a:t>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 new Conformance Class URIs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At least two implementations will be upgraded, including support for the new capabilities, in parallel to the approval process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572960" cy="9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Implementations</a:t>
            </a:r>
            <a:endParaRPr b="0" lang="en-US" sz="4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/>
          </p:nvPr>
        </p:nvSpPr>
        <p:spPr>
          <a:xfrm>
            <a:off x="838080" y="2322360"/>
            <a:ext cx="16597800" cy="685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Outreach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Make people in the “geo” space aware of this standard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All the nice things about GeoJSON with added “spice” to handle more advanced </a:t>
            </a: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use cases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marL="343080" indent="-343080" defTabSz="914400"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Test the new things we added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Circular arcs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Measure coordinates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Profile support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572960" cy="9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Sprint goals</a:t>
            </a:r>
            <a:endParaRPr b="0" lang="en-US" sz="4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/>
          </p:nvPr>
        </p:nvSpPr>
        <p:spPr>
          <a:xfrm>
            <a:off x="838080" y="2322360"/>
            <a:ext cx="16597800" cy="685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Schemas referenced by a “featureSchema” member are logical schemas that conform to OGC API – Features – Part 5: Schemas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Part 5 is currently still a draft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Close to finalization, should be submitted to the TC in a few weeks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Delay JSON-FG publication until the vote of Part 5 has passed?</a:t>
            </a:r>
            <a:endParaRPr b="0" lang="en-US" sz="3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572960" cy="9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Dependency on OGC API – Features – Part 5: Schemas</a:t>
            </a:r>
            <a:endParaRPr b="0" lang="en-US" sz="4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/>
          </p:nvPr>
        </p:nvSpPr>
        <p:spPr>
          <a:xfrm>
            <a:off x="745560" y="9105840"/>
            <a:ext cx="3034440" cy="54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accent3">
                    <a:lumMod val="60000"/>
                    <a:lumOff val="40000"/>
                  </a:schemeClr>
                </a:solidFill>
                <a:uFillTx/>
                <a:latin typeface="Aptos SemiBold"/>
                <a:ea typeface="Noto Sans Medium"/>
              </a:rPr>
              <a:t>www.ogc.org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title"/>
          </p:nvPr>
        </p:nvSpPr>
        <p:spPr>
          <a:xfrm>
            <a:off x="671760" y="3490560"/>
            <a:ext cx="6109560" cy="330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ts val="9799"/>
              </a:lnSpc>
              <a:buNone/>
            </a:pPr>
            <a:r>
              <a:rPr b="0" lang="en-US" sz="12300" strike="noStrike" u="none">
                <a:solidFill>
                  <a:schemeClr val="accent1">
                    <a:lumMod val="75000"/>
                  </a:schemeClr>
                </a:solidFill>
                <a:uFillTx/>
                <a:latin typeface="Aptos"/>
              </a:rPr>
              <a:t>THANK YOU</a:t>
            </a:r>
            <a:endParaRPr b="0" lang="en-US" sz="123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82" name="Picture Placeholder 13" descr=""/>
          <p:cNvPicPr/>
          <p:nvPr/>
        </p:nvPicPr>
        <p:blipFill>
          <a:blip r:embed="rId1"/>
          <a:stretch/>
        </p:blipFill>
        <p:spPr>
          <a:xfrm>
            <a:off x="9144000" y="4680"/>
            <a:ext cx="8383320" cy="8415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9E3310CD124948B4E279413993BB0E" ma:contentTypeVersion="13" ma:contentTypeDescription="Create a new document." ma:contentTypeScope="" ma:versionID="0a4033e78b75580e944694f4110b9443">
  <xsd:schema xmlns:xsd="http://www.w3.org/2001/XMLSchema" xmlns:xs="http://www.w3.org/2001/XMLSchema" xmlns:p="http://schemas.microsoft.com/office/2006/metadata/properties" xmlns:ns2="d6fbc86c-d850-4140-ac77-9d31bd829bdd" xmlns:ns3="9d591f4a-b750-44ad-8ebf-06d36ba90675" targetNamespace="http://schemas.microsoft.com/office/2006/metadata/properties" ma:root="true" ma:fieldsID="efd5ec2613c3be04dd453b3842ae1d37" ns2:_="" ns3:_="">
    <xsd:import namespace="d6fbc86c-d850-4140-ac77-9d31bd829bdd"/>
    <xsd:import namespace="9d591f4a-b750-44ad-8ebf-06d36ba906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fbc86c-d850-4140-ac77-9d31bd829b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2e216777-a1e1-495c-93e8-2566215d52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591f4a-b750-44ad-8ebf-06d36ba9067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77d112-1c04-4fa5-a3ca-824683e69c49}" ma:internalName="TaxCatchAll" ma:showField="CatchAllData" ma:web="9d591f4a-b750-44ad-8ebf-06d36ba906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d591f4a-b750-44ad-8ebf-06d36ba90675" xsi:nil="true"/>
    <lcf76f155ced4ddcb4097134ff3c332f xmlns="d6fbc86c-d850-4140-ac77-9d31bd829bd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11F3D4D-EBA0-40F5-94E2-7634A01ED3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fbc86c-d850-4140-ac77-9d31bd829bdd"/>
    <ds:schemaRef ds:uri="9d591f4a-b750-44ad-8ebf-06d36ba906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B83FC41-384C-4416-9A4E-6653321403C3}">
  <ds:schemaRefs>
    <ds:schemaRef ds:uri="http://schemas.microsoft.com/office/2006/metadata/properties"/>
    <ds:schemaRef ds:uri="http://schemas.microsoft.com/office/infopath/2007/PartnerControls"/>
    <ds:schemaRef ds:uri="9d591f4a-b750-44ad-8ebf-06d36ba90675"/>
    <ds:schemaRef ds:uri="d6fbc86c-d850-4140-ac77-9d31bd829bdd"/>
  </ds:schemaRefs>
</ds:datastoreItem>
</file>

<file path=customXml/itemProps3.xml><?xml version="1.0" encoding="utf-8"?>
<ds:datastoreItem xmlns:ds="http://schemas.openxmlformats.org/officeDocument/2006/customXml" ds:itemID="{A028D80A-D8F1-4E9F-96FE-EDED6B38411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Application>LibreOffice/24.8.7.2$Linux_X86_64 LibreOffice_project/480$Build-2</Application>
  <AppVersion>15.0000</AppVersion>
  <Words>1110</Words>
  <Paragraphs>117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2025-04-29T18:14:43Z</dcterms:created>
  <dc:creator>Scott Simmons</dc:creator>
  <dc:description/>
  <dc:identifier>DAGYbemYEzg</dc:identifier>
  <dc:language>en-CA</dc:language>
  <cp:lastModifiedBy>Panagiotis Vretanos</cp:lastModifiedBy>
  <dcterms:modified xsi:type="dcterms:W3CDTF">2025-10-08T20:34:07Z</dcterms:modified>
  <cp:revision>25</cp:revision>
  <dc:subject/>
  <dc:title>Clemens Portele | interactive instruments 12 June 2025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0x0101002E9E3310CD124948B4E279413993BB0E</vt:lpwstr>
  </property>
  <property fmtid="{D5CDD505-2E9C-101B-9397-08002B2CF9AE}" pid="3" name="MediaServiceImageTags">
    <vt:lpwstr/>
  </property>
  <property fmtid="{D5CDD505-2E9C-101B-9397-08002B2CF9AE}" pid="4" name="PresentationFormat">
    <vt:lpwstr>Benutzerdefiniert</vt:lpwstr>
  </property>
  <property fmtid="{D5CDD505-2E9C-101B-9397-08002B2CF9AE}" pid="5" name="Slides">
    <vt:i4>17</vt:i4>
  </property>
</Properties>
</file>